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</p:sldIdLst>
  <p:sldSz cx="9144000" cy="6858000" type="screen4x3"/>
  <p:notesSz cx="9939338" cy="6807200"/>
  <p:embeddedFontLst>
    <p:embeddedFont>
      <p:font typeface="Cambria Math" panose="02040503050406030204" pitchFamily="18" charset="0"/>
      <p:regular r:id="rId64"/>
    </p:embeddedFont>
    <p:embeddedFont>
      <p:font typeface="Helvetica Neue" panose="02010600030101010101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277113-00BE-44F3-BF51-A666FCEA6D80}">
  <a:tblStyle styleId="{7D277113-00BE-44F3-BF51-A666FCEA6D80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4A294E1-A398-467A-B2FF-0632FF50819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8E7"/>
          </a:solidFill>
        </a:fill>
      </a:tcStyle>
    </a:wholeTbl>
    <a:band1H>
      <a:tcTxStyle/>
      <a:tcStyle>
        <a:tcBdr/>
        <a:fill>
          <a:solidFill>
            <a:srgbClr val="F6CE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6CE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D525B72-3256-44CC-B9A3-D62408063D57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5DD4C4-DBC2-47FA-AB15-5AE42B9B8831}" styleName="Table_3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9992" y="0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2ee94d285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09588"/>
            <a:ext cx="3405188" cy="2554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2ee94d2859_0_1:notes"/>
          <p:cNvSpPr txBox="1">
            <a:spLocks noGrp="1"/>
          </p:cNvSpPr>
          <p:nvPr>
            <p:ph type="body" idx="1"/>
          </p:nvPr>
        </p:nvSpPr>
        <p:spPr>
          <a:xfrm>
            <a:off x="993935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12ee94d2859_0_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309a2040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300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309a2040f2_0_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1309a2040f2_0_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/>
          </a:p>
        </p:txBody>
      </p:sp>
      <p:sp>
        <p:nvSpPr>
          <p:cNvPr id="167" name="Google Shape;167;p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Example: To ignore the </a:t>
            </a:r>
            <a:r>
              <a:rPr lang="en-US" sz="1200" i="1"/>
              <a:t>dept_name</a:t>
            </a:r>
            <a:r>
              <a:rPr lang="en-US" sz="1200"/>
              <a:t> attribute of </a:t>
            </a:r>
            <a:r>
              <a:rPr lang="en-US" sz="1200" i="1"/>
              <a:t>instructor. </a:t>
            </a:r>
            <a:br>
              <a:rPr lang="en-US" sz="1200" i="1"/>
            </a:br>
            <a:r>
              <a:rPr lang="en-US" sz="1200" i="1"/>
              <a:t>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Π_(</a:t>
            </a:r>
            <a:r>
              <a:rPr lang="en-US" sz="1200" b="0" i="0">
                <a:latin typeface="Cambria Math"/>
                <a:ea typeface="Cambria Math"/>
                <a:cs typeface="Cambria Math"/>
                <a:sym typeface="Cambria Math"/>
              </a:rPr>
              <a:t>𝐼𝐷,𝑛𝑎𝑚𝑒,𝑠𝑎𝑙𝑎𝑟𝑦)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lang="en-US" sz="1200" b="0" i="0">
                <a:latin typeface="Cambria Math"/>
                <a:ea typeface="Cambria Math"/>
                <a:cs typeface="Cambria Math"/>
                <a:sym typeface="Cambria Math"/>
              </a:rPr>
              <a:t>𝑖𝑛𝑠𝑡𝑟𝑢𝑐𝑡𝑜𝑟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Remove duplication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Because Single set (keys enforce that)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2f71954dc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2f71954dca_2_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12f71954dca_2_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31dca6721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31dca6721f_0_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131dca6721f_0_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31dca6721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300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31dca6721f_0_1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131dca6721f_0_1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1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8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2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1807cf7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31807cf7d6_0_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31807cf7d6_0_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2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31807cf7d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g131807cf7d6_0_1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131807cf7d6_0_1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2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31807cf7d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g131807cf7d6_0_2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g131807cf7d6_0_2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2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2701fe68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g22701fe685e_0_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22701fe685e_0_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2f71954dca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1" name="Google Shape;501;g12f71954dca_2_3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Remember the domain? Definition of a relation schema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if they have same variable name?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FF"/>
                </a:solidFill>
              </a:rPr>
              <a:t>If attributes of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𝑟(𝑅)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𝑠(𝑆)</a:t>
            </a:r>
            <a:r>
              <a:rPr lang="en-US" sz="1200">
                <a:solidFill>
                  <a:srgbClr val="0000FF"/>
                </a:solidFill>
              </a:rPr>
              <a:t> are not disjoint, then </a:t>
            </a:r>
            <a:r>
              <a:rPr lang="en-US" sz="1200" i="1" u="sng">
                <a:solidFill>
                  <a:srgbClr val="0000FF"/>
                </a:solidFill>
              </a:rPr>
              <a:t>renaming</a:t>
            </a:r>
            <a:r>
              <a:rPr lang="en-US" sz="1200">
                <a:solidFill>
                  <a:srgbClr val="0000FF"/>
                </a:solidFill>
              </a:rPr>
              <a:t> must be used. Since it happens, we devise a naming schema to distinguish between the attribute names if they are the same in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𝑟(𝐴, 𝐵)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𝑠(𝐴,𝐶)</a:t>
            </a:r>
            <a:r>
              <a:rPr lang="en-US" sz="1200">
                <a:solidFill>
                  <a:srgbClr val="0000FF"/>
                </a:solidFill>
              </a:rPr>
              <a:t>, by attaching the relation name,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𝑟.𝐴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𝑠.𝐴</a:t>
            </a:r>
            <a:r>
              <a:rPr lang="en-US" sz="1200">
                <a:solidFill>
                  <a:srgbClr val="0000FF"/>
                </a:solidFill>
              </a:rPr>
              <a:t> (known as </a:t>
            </a:r>
            <a:r>
              <a:rPr lang="en-US" sz="1200">
                <a:solidFill>
                  <a:srgbClr val="C00000"/>
                </a:solidFill>
              </a:rPr>
              <a:t>dot-notation</a:t>
            </a:r>
            <a:r>
              <a:rPr lang="en-US" sz="1200">
                <a:solidFill>
                  <a:srgbClr val="0000FF"/>
                </a:solidFill>
              </a:rPr>
              <a:t>).</a:t>
            </a:r>
            <a:endParaRPr sz="120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12f71954dca_2_3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31807cf7d6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131807cf7d6_0_8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131807cf7d6_0_8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2f71954dca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12f71954dca_2_4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simplify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page for an example please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if they have same variable name?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FF"/>
                </a:solidFill>
              </a:rPr>
              <a:t>If attributes of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𝑟(𝑅)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𝑠(𝑆)</a:t>
            </a:r>
            <a:r>
              <a:rPr lang="en-US" sz="1200">
                <a:solidFill>
                  <a:srgbClr val="0000FF"/>
                </a:solidFill>
              </a:rPr>
              <a:t> are not disjoint, then </a:t>
            </a:r>
            <a:r>
              <a:rPr lang="en-US" sz="1200" i="1" u="sng">
                <a:solidFill>
                  <a:srgbClr val="0000FF"/>
                </a:solidFill>
              </a:rPr>
              <a:t>renaming</a:t>
            </a:r>
            <a:r>
              <a:rPr lang="en-US" sz="1200">
                <a:solidFill>
                  <a:srgbClr val="0000FF"/>
                </a:solidFill>
              </a:rPr>
              <a:t> must be used. Since it happens, we devise a naming schema to distinguish between the attribute names if they are the same in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𝑟(𝐴, 𝐵)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𝑠(𝐴,𝐶)</a:t>
            </a:r>
            <a:r>
              <a:rPr lang="en-US" sz="1200">
                <a:solidFill>
                  <a:srgbClr val="0000FF"/>
                </a:solidFill>
              </a:rPr>
              <a:t>, by attaching the relation name,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𝑟.𝐴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𝑠.𝐴</a:t>
            </a:r>
            <a:r>
              <a:rPr lang="en-US" sz="1200">
                <a:solidFill>
                  <a:srgbClr val="0000FF"/>
                </a:solidFill>
              </a:rPr>
              <a:t> (known as </a:t>
            </a:r>
            <a:r>
              <a:rPr lang="en-US" sz="1200">
                <a:solidFill>
                  <a:srgbClr val="C00000"/>
                </a:solidFill>
              </a:rPr>
              <a:t>dot-notation</a:t>
            </a:r>
            <a:r>
              <a:rPr lang="en-US" sz="1200">
                <a:solidFill>
                  <a:srgbClr val="0000FF"/>
                </a:solidFill>
              </a:rPr>
              <a:t>).</a:t>
            </a:r>
            <a:endParaRPr sz="120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12f71954dca_2_4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2f71954dca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Google Shape;542;g12f71954dca_2_4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do we get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Isn’t this a join then?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Char char="●"/>
            </a:pP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𝑤(𝑊)</a:t>
            </a:r>
            <a:r>
              <a:rPr lang="en-US" sz="1200">
                <a:solidFill>
                  <a:srgbClr val="0000FF"/>
                </a:solidFill>
              </a:rPr>
              <a:t> implies that a relation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lang="en-US" sz="1200">
                <a:solidFill>
                  <a:srgbClr val="0000FF"/>
                </a:solidFill>
              </a:rPr>
              <a:t> following the schema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𝑊</a:t>
            </a:r>
            <a:r>
              <a:rPr lang="en-US" sz="1200">
                <a:solidFill>
                  <a:srgbClr val="0000FF"/>
                </a:solidFill>
              </a:rPr>
              <a:t>.</a:t>
            </a:r>
            <a:endParaRPr sz="1200">
              <a:solidFill>
                <a:srgbClr val="0000FF"/>
              </a:solidFill>
            </a:endParaRPr>
          </a:p>
          <a:p>
            <a:pPr marL="3429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Char char="●"/>
            </a:pPr>
            <a:r>
              <a:rPr lang="en-US" sz="1200">
                <a:solidFill>
                  <a:srgbClr val="0000FF"/>
                </a:solidFill>
              </a:rPr>
              <a:t>If attributes of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𝑟(𝑅)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𝑠(𝑆)</a:t>
            </a:r>
            <a:r>
              <a:rPr lang="en-US" sz="1200">
                <a:solidFill>
                  <a:srgbClr val="0000FF"/>
                </a:solidFill>
              </a:rPr>
              <a:t> are not disjoint, then </a:t>
            </a:r>
            <a:r>
              <a:rPr lang="en-US" sz="1200" i="1" u="sng">
                <a:solidFill>
                  <a:srgbClr val="0000FF"/>
                </a:solidFill>
              </a:rPr>
              <a:t>renaming</a:t>
            </a:r>
            <a:r>
              <a:rPr lang="en-US" sz="1200">
                <a:solidFill>
                  <a:srgbClr val="0000FF"/>
                </a:solidFill>
              </a:rPr>
              <a:t> must be used. Since it happens, we devise a naming schema to distinguish between the attribute names if they are the same in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𝑟(𝐴, 𝐵)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𝑠(𝐴,𝐶)</a:t>
            </a:r>
            <a:r>
              <a:rPr lang="en-US" sz="1200">
                <a:solidFill>
                  <a:srgbClr val="0000FF"/>
                </a:solidFill>
              </a:rPr>
              <a:t>, by attaching the relation name,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𝑟.𝐴</a:t>
            </a:r>
            <a:r>
              <a:rPr lang="en-US" sz="1200">
                <a:solidFill>
                  <a:srgbClr val="0000FF"/>
                </a:solidFill>
              </a:rPr>
              <a:t> and </a:t>
            </a:r>
            <a:r>
              <a:rPr lang="en-US" sz="1200" i="0">
                <a:solidFill>
                  <a:srgbClr val="0000FF"/>
                </a:solidFill>
                <a:latin typeface="Cambria Math"/>
                <a:ea typeface="Cambria Math"/>
                <a:cs typeface="Cambria Math"/>
                <a:sym typeface="Cambria Math"/>
              </a:rPr>
              <a:t>𝑠.𝐴</a:t>
            </a:r>
            <a:r>
              <a:rPr lang="en-US" sz="1200">
                <a:solidFill>
                  <a:srgbClr val="0000FF"/>
                </a:solidFill>
              </a:rPr>
              <a:t> (known as </a:t>
            </a:r>
            <a:r>
              <a:rPr lang="en-US" sz="1200">
                <a:solidFill>
                  <a:srgbClr val="C00000"/>
                </a:solidFill>
              </a:rPr>
              <a:t>dot-notation</a:t>
            </a:r>
            <a:r>
              <a:rPr lang="en-US" sz="1200">
                <a:solidFill>
                  <a:srgbClr val="0000FF"/>
                </a:solidFill>
              </a:rPr>
              <a:t>).</a:t>
            </a:r>
            <a:endParaRPr sz="120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g12f71954dca_2_4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2f71954dca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g12f71954dca_2_6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12f71954dca_2_6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p2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Theta Join allows you to merge two tables based on the condition represented by theta</a:t>
            </a:r>
            <a:r>
              <a:rPr lang="en-US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 general join condition could also be: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          &lt;condition&gt; </a:t>
            </a: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 &lt;condition&gt; </a:t>
            </a: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… </a:t>
            </a: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&lt;condition&gt;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attributes in common?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 Math"/>
              <a:buNone/>
            </a:pP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𝐸𝑁𝑅𝑂𝐿𝑀𝐸𝑁𝑇⋈_((</a:t>
            </a:r>
            <a:r>
              <a:rPr lang="en-US" sz="1200" b="0" i="0">
                <a:latin typeface="Cambria Math"/>
                <a:ea typeface="Cambria Math"/>
                <a:cs typeface="Cambria Math"/>
                <a:sym typeface="Cambria Math"/>
              </a:rPr>
              <a:t>𝑎𝑔𝑒&gt;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=𝑃𝑒𝑟𝑠𝑜𝑛#)) 𝑅𝐸𝑆𝐸𝐴𝑅𝐶𝐻𝐸𝑅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5" name="Google Shape;575;p2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p2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8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2f71954dca_2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2f71954dca_2_28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g12f71954dca_2_28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0" name="Google Shape;600;p2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45d6bd72bc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8" name="Google Shape;608;g245d6bd72bc_0_47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9" name="Google Shape;609;g245d6bd72bc_0_47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45d6bd72bc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4" name="Google Shape;624;g245d6bd72bc_0_52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5" name="Google Shape;625;g245d6bd72bc_0_52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45d6bd72bc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g245d6bd72bc_0_540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2" name="Google Shape;642;g245d6bd72bc_0_540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45d6bd72bc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g245d6bd72bc_0_62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0" name="Google Shape;660;g245d6bd72bc_0_62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2701fe685e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6" name="Google Shape;676;g22701fe685e_1_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7" name="Google Shape;677;g22701fe685e_1_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45d6bd72bc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g245d6bd72bc_0_68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5" name="Google Shape;695;g245d6bd72bc_0_689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2f71954dca_2_128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g12f71954dca_2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45d6bd72bc_0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8" name="Google Shape;718;g245d6bd72bc_0_73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g245d6bd72bc_0_73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45d6bd72bc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8" name="Google Shape;728;g245d6bd72bc_0_64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9" name="Google Shape;729;g245d6bd72bc_0_64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2f71954dca_2_13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g12f71954dca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12f71954dca_2_16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g12f71954dca_2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2f71954dca_2_179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g12f71954dca_2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2" name="Google Shape;782;p46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Allow us to name, and therefore to refer to, the results of relational algebra expressions.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Allow us to refer to a relation by more than one name.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Example: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𝜌_</a:t>
            </a:r>
            <a:r>
              <a:rPr lang="en-US" sz="1200" b="0" i="0">
                <a:latin typeface="Cambria Math"/>
                <a:ea typeface="Cambria Math"/>
                <a:cs typeface="Cambria Math"/>
                <a:sym typeface="Cambria Math"/>
              </a:rPr>
              <a:t>𝑋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(𝐸)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/>
              <a:t>	returns the expression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𝐸</a:t>
            </a:r>
            <a:r>
              <a:rPr lang="en-US" sz="1200"/>
              <a:t> under the name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𝑋</a:t>
            </a:r>
            <a:r>
              <a:rPr lang="en-US" sz="1200" i="1"/>
              <a:t>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a relational-algebra expression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𝐸</a:t>
            </a:r>
            <a:r>
              <a:rPr lang="en-US" sz="1200"/>
              <a:t> has arity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r>
              <a:rPr lang="en-US" sz="1200"/>
              <a:t>, then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              </a:t>
            </a:r>
            <a:r>
              <a:rPr lang="en-US" sz="1800" i="0">
                <a:latin typeface="Cambria Math"/>
                <a:ea typeface="Cambria Math"/>
                <a:cs typeface="Cambria Math"/>
                <a:sym typeface="Cambria Math"/>
              </a:rPr>
              <a:t>𝜌_(</a:t>
            </a:r>
            <a:r>
              <a:rPr lang="en-US" sz="1800" b="0" i="0">
                <a:latin typeface="Cambria Math"/>
                <a:ea typeface="Cambria Math"/>
                <a:cs typeface="Cambria Math"/>
                <a:sym typeface="Cambria Math"/>
              </a:rPr>
              <a:t>𝑋(</a:t>
            </a:r>
            <a:r>
              <a:rPr lang="en-US" sz="1800" i="0">
                <a:latin typeface="Cambria Math"/>
                <a:ea typeface="Cambria Math"/>
                <a:cs typeface="Cambria Math"/>
                <a:sym typeface="Cambria Math"/>
              </a:rPr>
              <a:t>𝐴</a:t>
            </a:r>
            <a:r>
              <a:rPr lang="en-US" sz="1800" i="0" baseline="-25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 i="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lang="en-US" sz="1800" b="0" i="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1800" i="0">
                <a:latin typeface="Cambria Math"/>
                <a:ea typeface="Cambria Math"/>
                <a:cs typeface="Cambria Math"/>
                <a:sym typeface="Cambria Math"/>
              </a:rPr>
              <a:t>𝐴</a:t>
            </a:r>
            <a:r>
              <a:rPr lang="en-US" sz="1800" i="0" baseline="-25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 i="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lang="en-US" sz="1800" b="0" i="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1800" i="0">
                <a:latin typeface="Cambria Math"/>
                <a:ea typeface="Cambria Math"/>
                <a:cs typeface="Cambria Math"/>
                <a:sym typeface="Cambria Math"/>
              </a:rPr>
              <a:t>…,</a:t>
            </a:r>
            <a:r>
              <a:rPr lang="en-US" sz="1800" b="0" i="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lang="en-US" sz="1800" i="0">
                <a:latin typeface="Cambria Math"/>
                <a:ea typeface="Cambria Math"/>
                <a:cs typeface="Cambria Math"/>
                <a:sym typeface="Cambria Math"/>
              </a:rPr>
              <a:t>𝐴</a:t>
            </a:r>
            <a:r>
              <a:rPr lang="en-US" sz="1800" b="0" i="0" baseline="-25000"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r>
              <a:rPr lang="en-US" sz="1800" b="0" i="0">
                <a:latin typeface="Cambria Math"/>
                <a:ea typeface="Cambria Math"/>
                <a:cs typeface="Cambria Math"/>
                <a:sym typeface="Cambria Math"/>
              </a:rPr>
              <a:t>)) (𝐸)</a:t>
            </a:r>
            <a:r>
              <a:rPr lang="en-US" sz="1800"/>
              <a:t>   </a:t>
            </a:r>
            <a:r>
              <a:rPr lang="en-US" sz="1200"/>
              <a:t>                       </a:t>
            </a:r>
            <a:br>
              <a:rPr lang="en-US" sz="1200"/>
            </a:br>
            <a:br>
              <a:rPr lang="en-US" sz="1200"/>
            </a:br>
            <a:r>
              <a:rPr lang="en-US" sz="1200"/>
              <a:t>returns the result of expression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𝐸</a:t>
            </a:r>
            <a:r>
              <a:rPr lang="en-US" sz="1200"/>
              <a:t> under the name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𝑋</a:t>
            </a:r>
            <a:r>
              <a:rPr lang="en-US" sz="1200"/>
              <a:t> with the attributes renamed to 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𝐴</a:t>
            </a:r>
            <a:r>
              <a:rPr lang="en-US" sz="1200" i="0" baseline="-25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, 𝐴</a:t>
            </a:r>
            <a:r>
              <a:rPr lang="en-US" sz="1200" i="0" baseline="-25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200" i="0">
                <a:latin typeface="Cambria Math"/>
                <a:ea typeface="Cambria Math"/>
                <a:cs typeface="Cambria Math"/>
                <a:sym typeface="Cambria Math"/>
              </a:rPr>
              <a:t>, …,𝐴</a:t>
            </a:r>
            <a:r>
              <a:rPr lang="en-US" sz="1200" b="0" i="0" baseline="-25000"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r>
              <a:rPr lang="en-US" sz="1200"/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give the schema a new name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We don’t say</a:t>
            </a:r>
            <a:r>
              <a:rPr lang="en-US" sz="1200"/>
              <a:t>It changes the </a:t>
            </a:r>
            <a:r>
              <a:rPr lang="en-US" sz="1200">
                <a:solidFill>
                  <a:srgbClr val="C00000"/>
                </a:solidFill>
              </a:rPr>
              <a:t>schema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Change schema is a little excessive (change domain)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renaming operation!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e.g. change name of scheam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e.g. change name of attribugte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Rename into a temporaru relation yay</a:t>
            </a:r>
            <a:endParaRPr/>
          </a:p>
        </p:txBody>
      </p:sp>
      <p:sp>
        <p:nvSpPr>
          <p:cNvPr id="783" name="Google Shape;783;p46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2f71954dca_2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12f71954dca_2_297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500" cy="30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g12f71954dca_2_297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100" cy="34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1" name="Google Shape;821;p41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41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1" name="Google Shape;831;p42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2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0" name="Google Shape;840;p43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43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4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44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7" name="Google Shape;857;p45:notes"/>
          <p:cNvSpPr txBox="1">
            <a:spLocks noGrp="1"/>
          </p:cNvSpPr>
          <p:nvPr>
            <p:ph type="body" idx="1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45:notes"/>
          <p:cNvSpPr txBox="1">
            <a:spLocks noGrp="1"/>
          </p:cNvSpPr>
          <p:nvPr>
            <p:ph type="sldNum" idx="12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2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4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4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4663440" y="1845735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3600450" y="731520"/>
            <a:ext cx="486918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>
            <a:spLocks noGrp="1"/>
          </p:cNvSpPr>
          <p:nvPr>
            <p:ph type="pic" idx="2"/>
          </p:nvPr>
        </p:nvSpPr>
        <p:spPr>
          <a:xfrm>
            <a:off x="12" y="0"/>
            <a:ext cx="9143989" cy="4915076"/>
          </a:xfrm>
          <a:prstGeom prst="rect">
            <a:avLst/>
          </a:prstGeom>
          <a:solidFill>
            <a:srgbClr val="DDD9C3"/>
          </a:solidFill>
          <a:ln>
            <a:noFill/>
          </a:ln>
        </p:spPr>
      </p:sp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822960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 rot="5400000">
            <a:off x="2222684" y="-274981"/>
            <a:ext cx="474435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 rot="5400000">
            <a:off x="4649564" y="2306414"/>
            <a:ext cx="575989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1"/>
          </p:nvPr>
        </p:nvSpPr>
        <p:spPr>
          <a:xfrm rot="5400000">
            <a:off x="649064" y="391889"/>
            <a:ext cx="575989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Title and Content">
  <p:cSld name="2. 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468313" y="433388"/>
            <a:ext cx="820896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Times New Roman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1"/>
          </p:nvPr>
        </p:nvSpPr>
        <p:spPr>
          <a:xfrm>
            <a:off x="468313" y="1227139"/>
            <a:ext cx="8208962" cy="460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Char char=" "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89127" y="6343315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 1">
  <p:cSld name="标题和内容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  <a:defRPr sz="43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◦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◦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◦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◦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"/>
          <p:cNvCxnSpPr/>
          <p:nvPr/>
        </p:nvCxnSpPr>
        <p:spPr>
          <a:xfrm>
            <a:off x="827584" y="1052736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6.png"/><Relationship Id="rId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Times New Roman"/>
              <a:buNone/>
            </a:pPr>
            <a:r>
              <a:rPr lang="en-US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</a:t>
            </a:r>
            <a:r>
              <a:rPr lang="en-US" sz="6600">
                <a:solidFill>
                  <a:schemeClr val="dk2"/>
                </a:solidFill>
              </a:rPr>
              <a:t>Algebra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84048" lvl="1" indent="-18288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◦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We’ve seen what a relational model is?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84048" lvl="1" indent="-18288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◦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We needed a formal language to specify data (tuples) from the relational model.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84048" lvl="1" indent="-18288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Relational Algebra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(E.F. Codd (1970))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Relational Algebra?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0" cy="47445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It provides a formal foundation for relational model operations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It is used as a basis for implementing and optimizing queries in the query processing and optimization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Some of its concepts are incorporated into SQL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Relational Algebra</a:t>
            </a:r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683568" y="1124744"/>
            <a:ext cx="75438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Char char=" "/>
            </a:pPr>
            <a:r>
              <a:rPr lang="en-US" sz="2000" i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Algebra 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procedural data manipulation language (</a:t>
            </a:r>
            <a:r>
              <a:rPr lang="en-US" sz="2000" b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DML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specifies operations on relations to define </a:t>
            </a:r>
            <a:r>
              <a:rPr lang="en-US" sz="2000" u="sng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relations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</a:t>
            </a:r>
            <a:r>
              <a:rPr lang="en-US" sz="2000" b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Unary Relational Operations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   Select, Project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</a:t>
            </a:r>
            <a:r>
              <a:rPr lang="en-US" sz="2000" b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from Set Theory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    Union, Intersection, Difference, 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                                                   Cartesian Product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</a:t>
            </a:r>
            <a:r>
              <a:rPr lang="en-US" sz="2000" b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Relational Operations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  Join, Divide.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1 SELECT</a:t>
            </a:r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SELECT operation/predicate is used to select a subset of the tuples of a relation R, satisfying some condition.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Notation: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Intuition: Filters out all tuples that do not satisfy select condition; the result relation only keeps the relation that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0" name="Google Shape;150;p19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0978" y="1815929"/>
            <a:ext cx="2924764" cy="410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9"/>
          <p:cNvGrpSpPr/>
          <p:nvPr/>
        </p:nvGrpSpPr>
        <p:grpSpPr>
          <a:xfrm>
            <a:off x="1187624" y="3140968"/>
            <a:ext cx="5850669" cy="1092323"/>
            <a:chOff x="762000" y="3257634"/>
            <a:chExt cx="5850669" cy="1092323"/>
          </a:xfrm>
        </p:grpSpPr>
        <p:grpSp>
          <p:nvGrpSpPr>
            <p:cNvPr id="152" name="Google Shape;152;p19"/>
            <p:cNvGrpSpPr/>
            <p:nvPr/>
          </p:nvGrpSpPr>
          <p:grpSpPr>
            <a:xfrm>
              <a:off x="762000" y="3257634"/>
              <a:ext cx="5850669" cy="1092323"/>
              <a:chOff x="480" y="1896"/>
              <a:chExt cx="4139" cy="870"/>
            </a:xfrm>
          </p:grpSpPr>
          <p:grpSp>
            <p:nvGrpSpPr>
              <p:cNvPr id="153" name="Google Shape;153;p19"/>
              <p:cNvGrpSpPr/>
              <p:nvPr/>
            </p:nvGrpSpPr>
            <p:grpSpPr>
              <a:xfrm>
                <a:off x="480" y="1896"/>
                <a:ext cx="1056" cy="816"/>
                <a:chOff x="480" y="2184"/>
                <a:chExt cx="1056" cy="816"/>
              </a:xfrm>
            </p:grpSpPr>
            <p:sp>
              <p:nvSpPr>
                <p:cNvPr id="154" name="Google Shape;154;p19"/>
                <p:cNvSpPr/>
                <p:nvPr/>
              </p:nvSpPr>
              <p:spPr>
                <a:xfrm>
                  <a:off x="480" y="2325"/>
                  <a:ext cx="1056" cy="675"/>
                </a:xfrm>
                <a:prstGeom prst="rect">
                  <a:avLst/>
                </a:prstGeom>
                <a:solidFill>
                  <a:srgbClr val="FFFF99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" name="Google Shape;155;p19"/>
                <p:cNvSpPr/>
                <p:nvPr/>
              </p:nvSpPr>
              <p:spPr>
                <a:xfrm>
                  <a:off x="480" y="2184"/>
                  <a:ext cx="1056" cy="141"/>
                </a:xfrm>
                <a:prstGeom prst="rect">
                  <a:avLst/>
                </a:prstGeom>
                <a:solidFill>
                  <a:srgbClr val="FFCC66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6" name="Google Shape;156;p19"/>
              <p:cNvGrpSpPr/>
              <p:nvPr/>
            </p:nvGrpSpPr>
            <p:grpSpPr>
              <a:xfrm>
                <a:off x="2196" y="1950"/>
                <a:ext cx="2423" cy="816"/>
                <a:chOff x="2196" y="1950"/>
                <a:chExt cx="2423" cy="816"/>
              </a:xfrm>
            </p:grpSpPr>
            <p:grpSp>
              <p:nvGrpSpPr>
                <p:cNvPr id="157" name="Google Shape;157;p19"/>
                <p:cNvGrpSpPr/>
                <p:nvPr/>
              </p:nvGrpSpPr>
              <p:grpSpPr>
                <a:xfrm>
                  <a:off x="3563" y="1950"/>
                  <a:ext cx="1056" cy="816"/>
                  <a:chOff x="-37" y="2238"/>
                  <a:chExt cx="1056" cy="816"/>
                </a:xfrm>
              </p:grpSpPr>
              <p:sp>
                <p:nvSpPr>
                  <p:cNvPr id="158" name="Google Shape;158;p19"/>
                  <p:cNvSpPr/>
                  <p:nvPr/>
                </p:nvSpPr>
                <p:spPr>
                  <a:xfrm>
                    <a:off x="-37" y="2379"/>
                    <a:ext cx="1056" cy="675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" name="Google Shape;159;p19"/>
                  <p:cNvSpPr/>
                  <p:nvPr/>
                </p:nvSpPr>
                <p:spPr>
                  <a:xfrm>
                    <a:off x="-37" y="2238"/>
                    <a:ext cx="1056" cy="141"/>
                  </a:xfrm>
                  <a:prstGeom prst="rect">
                    <a:avLst/>
                  </a:prstGeom>
                  <a:solidFill>
                    <a:srgbClr val="FFCC66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0" name="Google Shape;160;p19"/>
                <p:cNvGrpSpPr/>
                <p:nvPr/>
              </p:nvGrpSpPr>
              <p:grpSpPr>
                <a:xfrm>
                  <a:off x="2196" y="2012"/>
                  <a:ext cx="1176" cy="386"/>
                  <a:chOff x="2196" y="2112"/>
                  <a:chExt cx="1176" cy="386"/>
                </a:xfrm>
              </p:grpSpPr>
              <p:cxnSp>
                <p:nvCxnSpPr>
                  <p:cNvPr id="161" name="Google Shape;161;p19"/>
                  <p:cNvCxnSpPr/>
                  <p:nvPr/>
                </p:nvCxnSpPr>
                <p:spPr>
                  <a:xfrm rot="-5400000">
                    <a:off x="2783" y="1969"/>
                    <a:ext cx="1" cy="1056"/>
                  </a:xfrm>
                  <a:prstGeom prst="straightConnector1">
                    <a:avLst/>
                  </a:prstGeom>
                  <a:noFill/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stealth" w="lg" len="lg"/>
                  </a:ln>
                </p:spPr>
              </p:cxnSp>
              <p:sp>
                <p:nvSpPr>
                  <p:cNvPr id="162" name="Google Shape;162;p19"/>
                  <p:cNvSpPr txBox="1"/>
                  <p:nvPr/>
                </p:nvSpPr>
                <p:spPr>
                  <a:xfrm>
                    <a:off x="2196" y="2112"/>
                    <a:ext cx="1176" cy="2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 b="1" i="0" u="none" strike="noStrike" cap="non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Selection</a:t>
                    </a:r>
                    <a:endParaRPr sz="1800" b="1" i="0" u="none" strike="noStrike" cap="non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163" name="Google Shape;163;p19"/>
            <p:cNvSpPr/>
            <p:nvPr/>
          </p:nvSpPr>
          <p:spPr>
            <a:xfrm>
              <a:off x="5155527" y="3801297"/>
              <a:ext cx="1421578" cy="318337"/>
            </a:xfrm>
            <a:prstGeom prst="rect">
              <a:avLst/>
            </a:prstGeom>
            <a:solidFill>
              <a:schemeClr val="accent1"/>
            </a:solidFill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Selection Condition</a:t>
            </a:r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condition is defined by a </a:t>
            </a:r>
            <a:r>
              <a:rPr lang="en-US" b="1" i="1">
                <a:latin typeface="Calibri"/>
                <a:ea typeface="Calibri"/>
                <a:cs typeface="Calibri"/>
                <a:sym typeface="Calibri"/>
              </a:rPr>
              <a:t>selection clause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&lt;attribute&gt;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operator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&lt;constant&gt;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 attribute &gt;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operator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&lt; attribute &gt;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operator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is one of =, &lt;, ≤, &gt;, ≥ or ≠ …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  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age ≤ 24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commission ≥ 24 000</a:t>
            </a:r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Selection Condition</a:t>
            </a:r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7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22"/>
          <p:cNvGraphicFramePr/>
          <p:nvPr/>
        </p:nvGraphicFramePr>
        <p:xfrm>
          <a:off x="615385" y="4385789"/>
          <a:ext cx="7776875" cy="1483400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155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Enrolment#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Supervisee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Supervisor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Department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Comp.Sci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Ph.D.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Comp.Sci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M.Sc.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/>
                        <a:t>Comp.Sci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M.Sc.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" name="Google Shape;186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8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673228" y="1126303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188" name="Google Shape;188;p22"/>
          <p:cNvGraphicFramePr/>
          <p:nvPr/>
        </p:nvGraphicFramePr>
        <p:xfrm>
          <a:off x="624309" y="1505421"/>
          <a:ext cx="7773625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5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9" name="Google Shape;189;p22"/>
          <p:cNvSpPr txBox="1"/>
          <p:nvPr/>
        </p:nvSpPr>
        <p:spPr>
          <a:xfrm>
            <a:off x="675115" y="452292"/>
            <a:ext cx="82664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Select the enrolment records for the students whose supervisor is Person 1</a:t>
            </a:r>
            <a:endParaRPr/>
          </a:p>
        </p:txBody>
      </p:sp>
      <p:pic>
        <p:nvPicPr>
          <p:cNvPr id="190" name="Google Shape;190;p22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971" y="3530308"/>
            <a:ext cx="3760847" cy="36536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616202" y="3956063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relation is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23"/>
          <p:cNvGraphicFramePr/>
          <p:nvPr/>
        </p:nvGraphicFramePr>
        <p:xfrm>
          <a:off x="602410" y="5004098"/>
          <a:ext cx="7776875" cy="1112550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155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Enrolment#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Supervisee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Department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b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Comp.Sci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Comp.Sci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8" name="Google Shape;198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9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686732" y="1120016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200" name="Google Shape;200;p23"/>
          <p:cNvGraphicFramePr/>
          <p:nvPr/>
        </p:nvGraphicFramePr>
        <p:xfrm>
          <a:off x="637813" y="1499134"/>
          <a:ext cx="7773625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5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Degree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1" name="Google Shape;201;p23"/>
          <p:cNvSpPr txBox="1"/>
          <p:nvPr/>
        </p:nvSpPr>
        <p:spPr>
          <a:xfrm>
            <a:off x="686732" y="488560"/>
            <a:ext cx="80301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Select the enrolment records for Person 1's non-Ph.D. students</a:t>
            </a:r>
            <a:endParaRPr/>
          </a:p>
        </p:txBody>
      </p:sp>
      <p:pic>
        <p:nvPicPr>
          <p:cNvPr id="202" name="Google Shape;202;p23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410" y="3449935"/>
            <a:ext cx="6273095" cy="412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 descr="A close up of a logo&#10;&#10;Description generated with very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24" y="4048288"/>
            <a:ext cx="6508868" cy="39358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554393" y="4567026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relation is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7258600" y="3538700"/>
            <a:ext cx="362400" cy="858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7684625" y="3690800"/>
            <a:ext cx="109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Same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Properties of Selection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Properties: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Consecutive selects </a:t>
            </a:r>
            <a:r>
              <a:rPr lang="en-US" b="1" i="1">
                <a:latin typeface="Calibri"/>
                <a:ea typeface="Calibri"/>
                <a:cs typeface="Calibri"/>
                <a:sym typeface="Calibri"/>
              </a:rPr>
              <a:t>can be combined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	σ &lt;cond1&gt; (σ &lt;cond2&gt; (R)) 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• Selection is a </a:t>
            </a:r>
            <a:r>
              <a:rPr lang="en-US" b="1" i="1">
                <a:latin typeface="Calibri"/>
                <a:ea typeface="Calibri"/>
                <a:cs typeface="Calibri"/>
                <a:sym typeface="Calibri"/>
              </a:rPr>
              <a:t>commutative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operation: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	σ &lt;cond1&gt; (σ &lt;cond2&gt; (R))  is the same as…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	σ &lt;cond2&gt; (σ &lt;cond1&gt; (R))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10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2 PROJECT</a:t>
            </a:r>
            <a:endParaRPr/>
          </a:p>
        </p:txBody>
      </p:sp>
      <p:sp>
        <p:nvSpPr>
          <p:cNvPr id="221" name="Google Shape;221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22" name="Google Shape;222;p25"/>
          <p:cNvSpPr txBox="1"/>
          <p:nvPr/>
        </p:nvSpPr>
        <p:spPr>
          <a:xfrm>
            <a:off x="827584" y="126876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operation is used to project a subset of the attributes (column) of a relation, denoted by: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form: 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-  schema: attribute list (A</a:t>
            </a:r>
            <a:r>
              <a:rPr lang="en-US" sz="20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,…,A</a:t>
            </a:r>
            <a:r>
              <a:rPr lang="en-US" sz="20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-  instance: the set of all subtuples t[A</a:t>
            </a:r>
            <a:r>
              <a:rPr lang="en-US" sz="20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,…,A</a:t>
            </a:r>
            <a:r>
              <a:rPr lang="en-US" sz="20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where t ∈ R</a:t>
            </a:r>
            <a:endParaRPr/>
          </a:p>
        </p:txBody>
      </p:sp>
      <p:pic>
        <p:nvPicPr>
          <p:cNvPr id="223" name="Google Shape;223;p25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9852" y="2204864"/>
            <a:ext cx="2678290" cy="4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12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1043608" y="1369524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230" name="Google Shape;230;p26"/>
          <p:cNvGraphicFramePr/>
          <p:nvPr/>
        </p:nvGraphicFramePr>
        <p:xfrm>
          <a:off x="1142426" y="1727224"/>
          <a:ext cx="6571125" cy="1545875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31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Enrolment#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Supervisee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Supervisor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Department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Degree</a:t>
                      </a:r>
                      <a:endParaRPr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500"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4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4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1" name="Google Shape;231;p26"/>
          <p:cNvSpPr txBox="1"/>
          <p:nvPr/>
        </p:nvSpPr>
        <p:spPr>
          <a:xfrm>
            <a:off x="755576" y="397612"/>
            <a:ext cx="80301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Find departments and degree requirements for the courses that students enrol.</a:t>
            </a:r>
            <a:endParaRPr/>
          </a:p>
        </p:txBody>
      </p:sp>
      <p:graphicFrame>
        <p:nvGraphicFramePr>
          <p:cNvPr id="232" name="Google Shape;232;p26"/>
          <p:cNvGraphicFramePr/>
          <p:nvPr/>
        </p:nvGraphicFramePr>
        <p:xfrm>
          <a:off x="1248736" y="4584878"/>
          <a:ext cx="3823550" cy="1213200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19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Department</a:t>
                      </a:r>
                      <a:endParaRPr sz="1500"/>
                    </a:p>
                  </a:txBody>
                  <a:tcPr marL="74700" marR="74700" marT="37350" marB="37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Degree</a:t>
                      </a:r>
                      <a:endParaRPr sz="1500"/>
                    </a:p>
                  </a:txBody>
                  <a:tcPr marL="74700" marR="74700" marT="37350" marB="37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500"/>
                    </a:p>
                  </a:txBody>
                  <a:tcPr marL="74700" marR="74700" marT="37350" marB="37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Ph.D.</a:t>
                      </a:r>
                      <a:endParaRPr sz="1500"/>
                    </a:p>
                  </a:txBody>
                  <a:tcPr marL="74700" marR="74700" marT="37350" marB="37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Comp.Sci</a:t>
                      </a:r>
                      <a:endParaRPr sz="1500"/>
                    </a:p>
                  </a:txBody>
                  <a:tcPr marL="74700" marR="74700" marT="37350" marB="37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Ph.D.</a:t>
                      </a:r>
                      <a:endParaRPr sz="1500"/>
                    </a:p>
                  </a:txBody>
                  <a:tcPr marL="74700" marR="74700" marT="37350" marB="37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Comp.Sci</a:t>
                      </a:r>
                      <a:endParaRPr sz="1500"/>
                    </a:p>
                  </a:txBody>
                  <a:tcPr marL="74700" marR="74700" marT="37350" marB="37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M.Sc.</a:t>
                      </a:r>
                      <a:endParaRPr sz="1500"/>
                    </a:p>
                  </a:txBody>
                  <a:tcPr marL="74700" marR="74700" marT="37350" marB="37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3" name="Google Shape;233;p26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9586" y="3549381"/>
            <a:ext cx="5219231" cy="43121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 txBox="1"/>
          <p:nvPr/>
        </p:nvSpPr>
        <p:spPr>
          <a:xfrm>
            <a:off x="1221263" y="4200126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relation is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Duplicates of PROJECT</a:t>
            </a:r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body" idx="1"/>
          </p:nvPr>
        </p:nvSpPr>
        <p:spPr>
          <a:xfrm>
            <a:off x="822950" y="3543298"/>
            <a:ext cx="7543800" cy="65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r>
              <a:rPr lang="en-US"/>
              <a:t>Question: What if we do PROJECTION on only department?</a:t>
            </a:r>
            <a:endParaRPr b="1">
              <a:solidFill>
                <a:schemeClr val="accent6"/>
              </a:solidFill>
            </a:endParaRPr>
          </a:p>
        </p:txBody>
      </p:sp>
      <p:sp>
        <p:nvSpPr>
          <p:cNvPr id="242" name="Google Shape;242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43" name="Google Shape;243;p27"/>
          <p:cNvSpPr txBox="1"/>
          <p:nvPr/>
        </p:nvSpPr>
        <p:spPr>
          <a:xfrm>
            <a:off x="1043608" y="1369524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244" name="Google Shape;244;p27"/>
          <p:cNvGraphicFramePr/>
          <p:nvPr/>
        </p:nvGraphicFramePr>
        <p:xfrm>
          <a:off x="1142426" y="1727224"/>
          <a:ext cx="6571125" cy="1545875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31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Enrolment#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Supervisee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Supervisor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Department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Degree</a:t>
                      </a:r>
                      <a:endParaRPr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500"/>
                    </a:p>
                  </a:txBody>
                  <a:tcPr marL="77300" marR="77300" marT="38650" marB="38650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4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4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5" name="Google Shape;245;p27"/>
          <p:cNvGraphicFramePr/>
          <p:nvPr/>
        </p:nvGraphicFramePr>
        <p:xfrm>
          <a:off x="3937726" y="4466899"/>
          <a:ext cx="1314225" cy="152950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31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Department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7300" marR="77300" marT="38650" marB="386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6" name="Google Shape;246;p27"/>
          <p:cNvSpPr txBox="1"/>
          <p:nvPr/>
        </p:nvSpPr>
        <p:spPr>
          <a:xfrm>
            <a:off x="5340625" y="4297600"/>
            <a:ext cx="10587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9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Duplicates of PROJECT</a:t>
            </a:r>
            <a:endParaRPr/>
          </a:p>
        </p:txBody>
      </p:sp>
      <p:sp>
        <p:nvSpPr>
          <p:cNvPr id="253" name="Google Shape;253;p28"/>
          <p:cNvSpPr txBox="1">
            <a:spLocks noGrp="1"/>
          </p:cNvSpPr>
          <p:nvPr>
            <p:ph type="body" idx="1"/>
          </p:nvPr>
        </p:nvSpPr>
        <p:spPr>
          <a:xfrm>
            <a:off x="822950" y="3543297"/>
            <a:ext cx="7543800" cy="23259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Question: What if we do PROJECTION on only department?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Answer: We will only get </a:t>
            </a:r>
            <a:r>
              <a:rPr lang="en-US" b="1" u="sng"/>
              <a:t>one</a:t>
            </a:r>
            <a:r>
              <a:rPr lang="en-US"/>
              <a:t> ‘Comp.Sci.’.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6"/>
                </a:solidFill>
              </a:rPr>
              <a:t>Relational Algebra is based on </a:t>
            </a:r>
            <a:r>
              <a:rPr lang="en-US" b="1" i="1">
                <a:solidFill>
                  <a:schemeClr val="accent6"/>
                </a:solidFill>
              </a:rPr>
              <a:t>sets</a:t>
            </a:r>
            <a:r>
              <a:rPr lang="en-US" b="1">
                <a:solidFill>
                  <a:schemeClr val="accent6"/>
                </a:solidFill>
              </a:rPr>
              <a:t>,</a:t>
            </a:r>
            <a:r>
              <a:rPr lang="en-US" b="1" i="1">
                <a:solidFill>
                  <a:schemeClr val="accent6"/>
                </a:solidFill>
              </a:rPr>
              <a:t> </a:t>
            </a:r>
            <a:r>
              <a:rPr lang="en-US" b="1">
                <a:solidFill>
                  <a:schemeClr val="accent6"/>
                </a:solidFill>
              </a:rPr>
              <a:t>so no duplicates are allowed.</a:t>
            </a:r>
            <a:endParaRPr b="1">
              <a:solidFill>
                <a:schemeClr val="accent6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The PROJECT operation </a:t>
            </a:r>
            <a:r>
              <a:rPr lang="en-US" i="1">
                <a:solidFill>
                  <a:schemeClr val="dk1"/>
                </a:solidFill>
              </a:rPr>
              <a:t>removes any duplicate tuples</a:t>
            </a:r>
            <a:r>
              <a:rPr lang="en-US">
                <a:solidFill>
                  <a:schemeClr val="dk1"/>
                </a:solidFill>
              </a:rPr>
              <a:t>, so the result of the PROJECT operation is a set of distinct tuples, and this is known as </a:t>
            </a:r>
            <a:r>
              <a:rPr lang="en-US" b="1">
                <a:solidFill>
                  <a:schemeClr val="dk1"/>
                </a:solidFill>
              </a:rPr>
              <a:t>duplicate elimination</a:t>
            </a:r>
            <a:r>
              <a:rPr lang="en-US">
                <a:solidFill>
                  <a:schemeClr val="dk1"/>
                </a:solidFill>
              </a:rPr>
              <a:t>.</a:t>
            </a:r>
            <a:endParaRPr b="1">
              <a:solidFill>
                <a:schemeClr val="accent6"/>
              </a:solidFill>
            </a:endParaRPr>
          </a:p>
        </p:txBody>
      </p:sp>
      <p:sp>
        <p:nvSpPr>
          <p:cNvPr id="254" name="Google Shape;254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55" name="Google Shape;255;p28"/>
          <p:cNvSpPr txBox="1"/>
          <p:nvPr/>
        </p:nvSpPr>
        <p:spPr>
          <a:xfrm>
            <a:off x="1043608" y="1369524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256" name="Google Shape;256;p28"/>
          <p:cNvGraphicFramePr/>
          <p:nvPr/>
        </p:nvGraphicFramePr>
        <p:xfrm>
          <a:off x="1142426" y="1727224"/>
          <a:ext cx="6571125" cy="1545875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31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Enrolment#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Supervisee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Supervisor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Department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Degree</a:t>
                      </a:r>
                      <a:endParaRPr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500"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4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4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</a:t>
                      </a:r>
                      <a:endParaRPr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500"/>
                    </a:p>
                  </a:txBody>
                  <a:tcPr marL="77300" marR="77300" marT="38650" marB="38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500"/>
                    </a:p>
                  </a:txBody>
                  <a:tcPr marL="77300" marR="77300" marT="38650" marB="38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Properties of PROJECT</a:t>
            </a:r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Consider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π 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2800" i="1" baseline="-25000">
                <a:latin typeface="Calibri"/>
                <a:ea typeface="Calibri"/>
                <a:cs typeface="Calibri"/>
                <a:sym typeface="Calibri"/>
              </a:rPr>
              <a:t>list1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(π 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2800" i="1" baseline="-25000">
                <a:latin typeface="Calibri"/>
                <a:ea typeface="Calibri"/>
                <a:cs typeface="Calibri"/>
                <a:sym typeface="Calibri"/>
              </a:rPr>
              <a:t>list2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i="1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&lt;list2&gt; contains all the attributes in &lt;list1&gt;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:  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π 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2800" i="1" baseline="-25000">
                <a:latin typeface="Calibri"/>
                <a:ea typeface="Calibri"/>
                <a:cs typeface="Calibri"/>
                <a:sym typeface="Calibri"/>
              </a:rPr>
              <a:t>list1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(π 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2800" i="1" baseline="-25000">
                <a:latin typeface="Calibri"/>
                <a:ea typeface="Calibri"/>
                <a:cs typeface="Calibri"/>
                <a:sym typeface="Calibri"/>
              </a:rPr>
              <a:t>list2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i="1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)) = π 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2800" i="1" baseline="-25000">
                <a:latin typeface="Calibri"/>
                <a:ea typeface="Calibri"/>
                <a:cs typeface="Calibri"/>
                <a:sym typeface="Calibri"/>
              </a:rPr>
              <a:t>list1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i="1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the operation is </a:t>
            </a:r>
            <a:r>
              <a:rPr lang="en-US" i="1" u="sng">
                <a:latin typeface="Calibri"/>
                <a:ea typeface="Calibri"/>
                <a:cs typeface="Calibri"/>
                <a:sym typeface="Calibri"/>
              </a:rPr>
              <a:t>not well defined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64" name="Google Shape;264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15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Project Predicate</a:t>
            </a:r>
            <a:endParaRPr/>
          </a:p>
        </p:txBody>
      </p:sp>
      <p:sp>
        <p:nvSpPr>
          <p:cNvPr id="271" name="Google Shape;271;p30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0" cy="47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Properties: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Question: is projection operator commutative with selection? </a:t>
            </a:r>
            <a:endParaRPr b="1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i.e., π</a:t>
            </a:r>
            <a:r>
              <a:rPr lang="en-US" baseline="-250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(σ</a:t>
            </a:r>
            <a:r>
              <a:rPr lang="en-US" baseline="-250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(R)) = σ</a:t>
            </a:r>
            <a:r>
              <a:rPr lang="en-US" baseline="-250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(π</a:t>
            </a:r>
            <a:r>
              <a:rPr lang="en-US" baseline="-250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(R))?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endParaRPr/>
          </a:p>
        </p:txBody>
      </p:sp>
      <p:sp>
        <p:nvSpPr>
          <p:cNvPr id="272" name="Google Shape;272;p3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Project Predicate</a:t>
            </a:r>
            <a:endParaRPr/>
          </a:p>
        </p:txBody>
      </p:sp>
      <p:sp>
        <p:nvSpPr>
          <p:cNvPr id="279" name="Google Shape;279;p31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Properties: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Question: is projection operator commutative with selection? </a:t>
            </a:r>
            <a:endParaRPr b="1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i.e., π</a:t>
            </a:r>
            <a:r>
              <a:rPr lang="en-US" baseline="-250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(σ</a:t>
            </a:r>
            <a:r>
              <a:rPr lang="en-US" baseline="-250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(R)) = σ</a:t>
            </a:r>
            <a:r>
              <a:rPr lang="en-US" baseline="-250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(π</a:t>
            </a:r>
            <a:r>
              <a:rPr lang="en-US" baseline="-250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(R))?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Consider the following:</a:t>
            </a:r>
            <a:endParaRPr/>
          </a:p>
        </p:txBody>
      </p:sp>
      <p:sp>
        <p:nvSpPr>
          <p:cNvPr id="280" name="Google Shape;280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281" name="Google Shape;281;p31"/>
          <p:cNvGraphicFramePr/>
          <p:nvPr/>
        </p:nvGraphicFramePr>
        <p:xfrm>
          <a:off x="6031755" y="2441673"/>
          <a:ext cx="2340250" cy="741700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23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Degree</a:t>
                      </a:r>
                      <a:endParaRPr sz="1800">
                        <a:solidFill>
                          <a:srgbClr val="00206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</a:t>
                      </a:r>
                      <a:endParaRPr sz="1800">
                        <a:solidFill>
                          <a:srgbClr val="00206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2" name="Google Shape;282;p31"/>
          <p:cNvSpPr txBox="1"/>
          <p:nvPr/>
        </p:nvSpPr>
        <p:spPr>
          <a:xfrm>
            <a:off x="5796136" y="4139428"/>
            <a:ext cx="35522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as SELECT cannot find Department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3" name="Google Shape;283;p31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608" y="3309976"/>
            <a:ext cx="6511957" cy="390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1" descr="A close up of a logo&#10;&#10;Description generated with very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608" y="3802979"/>
            <a:ext cx="6158277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1"/>
          <p:cNvSpPr txBox="1"/>
          <p:nvPr/>
        </p:nvSpPr>
        <p:spPr>
          <a:xfrm>
            <a:off x="801657" y="5005214"/>
            <a:ext cx="758640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attribute used in SELECT must a subset of the attribute list in PROJECT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US"/>
              <a:t>Intuition: Projection and Selection</a:t>
            </a:r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Selection performs a horizontal decomposition, and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projection performs a vertical decomposition</a:t>
            </a:r>
            <a:endParaRPr/>
          </a:p>
        </p:txBody>
      </p:sp>
      <p:grpSp>
        <p:nvGrpSpPr>
          <p:cNvPr id="293" name="Google Shape;293;p32"/>
          <p:cNvGrpSpPr/>
          <p:nvPr/>
        </p:nvGrpSpPr>
        <p:grpSpPr>
          <a:xfrm>
            <a:off x="1403648" y="2276872"/>
            <a:ext cx="5850669" cy="2652964"/>
            <a:chOff x="762000" y="3257634"/>
            <a:chExt cx="5850669" cy="2652964"/>
          </a:xfrm>
        </p:grpSpPr>
        <p:grpSp>
          <p:nvGrpSpPr>
            <p:cNvPr id="294" name="Google Shape;294;p32"/>
            <p:cNvGrpSpPr/>
            <p:nvPr/>
          </p:nvGrpSpPr>
          <p:grpSpPr>
            <a:xfrm>
              <a:off x="762000" y="3257634"/>
              <a:ext cx="5850669" cy="2652964"/>
              <a:chOff x="480" y="1896"/>
              <a:chExt cx="4139" cy="2113"/>
            </a:xfrm>
          </p:grpSpPr>
          <p:grpSp>
            <p:nvGrpSpPr>
              <p:cNvPr id="295" name="Google Shape;295;p32"/>
              <p:cNvGrpSpPr/>
              <p:nvPr/>
            </p:nvGrpSpPr>
            <p:grpSpPr>
              <a:xfrm>
                <a:off x="480" y="1896"/>
                <a:ext cx="1056" cy="816"/>
                <a:chOff x="480" y="2184"/>
                <a:chExt cx="1056" cy="816"/>
              </a:xfrm>
            </p:grpSpPr>
            <p:sp>
              <p:nvSpPr>
                <p:cNvPr id="296" name="Google Shape;296;p32"/>
                <p:cNvSpPr/>
                <p:nvPr/>
              </p:nvSpPr>
              <p:spPr>
                <a:xfrm>
                  <a:off x="480" y="2325"/>
                  <a:ext cx="1056" cy="675"/>
                </a:xfrm>
                <a:prstGeom prst="rect">
                  <a:avLst/>
                </a:prstGeom>
                <a:solidFill>
                  <a:srgbClr val="FFFF99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" name="Google Shape;297;p32"/>
                <p:cNvSpPr/>
                <p:nvPr/>
              </p:nvSpPr>
              <p:spPr>
                <a:xfrm>
                  <a:off x="480" y="2184"/>
                  <a:ext cx="1056" cy="141"/>
                </a:xfrm>
                <a:prstGeom prst="rect">
                  <a:avLst/>
                </a:prstGeom>
                <a:solidFill>
                  <a:srgbClr val="FFCC66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8" name="Google Shape;298;p32"/>
              <p:cNvGrpSpPr/>
              <p:nvPr/>
            </p:nvGrpSpPr>
            <p:grpSpPr>
              <a:xfrm>
                <a:off x="2196" y="1950"/>
                <a:ext cx="2423" cy="816"/>
                <a:chOff x="2196" y="1950"/>
                <a:chExt cx="2423" cy="816"/>
              </a:xfrm>
            </p:grpSpPr>
            <p:grpSp>
              <p:nvGrpSpPr>
                <p:cNvPr id="299" name="Google Shape;299;p32"/>
                <p:cNvGrpSpPr/>
                <p:nvPr/>
              </p:nvGrpSpPr>
              <p:grpSpPr>
                <a:xfrm>
                  <a:off x="3563" y="1950"/>
                  <a:ext cx="1056" cy="816"/>
                  <a:chOff x="-37" y="2238"/>
                  <a:chExt cx="1056" cy="816"/>
                </a:xfrm>
              </p:grpSpPr>
              <p:sp>
                <p:nvSpPr>
                  <p:cNvPr id="300" name="Google Shape;300;p32"/>
                  <p:cNvSpPr/>
                  <p:nvPr/>
                </p:nvSpPr>
                <p:spPr>
                  <a:xfrm>
                    <a:off x="-37" y="2379"/>
                    <a:ext cx="1056" cy="675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" name="Google Shape;301;p32"/>
                  <p:cNvSpPr/>
                  <p:nvPr/>
                </p:nvSpPr>
                <p:spPr>
                  <a:xfrm>
                    <a:off x="-37" y="2238"/>
                    <a:ext cx="1056" cy="141"/>
                  </a:xfrm>
                  <a:prstGeom prst="rect">
                    <a:avLst/>
                  </a:prstGeom>
                  <a:solidFill>
                    <a:srgbClr val="FFCC66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02" name="Google Shape;302;p32"/>
                <p:cNvGrpSpPr/>
                <p:nvPr/>
              </p:nvGrpSpPr>
              <p:grpSpPr>
                <a:xfrm>
                  <a:off x="2196" y="2012"/>
                  <a:ext cx="1176" cy="386"/>
                  <a:chOff x="2196" y="2112"/>
                  <a:chExt cx="1176" cy="386"/>
                </a:xfrm>
              </p:grpSpPr>
              <p:cxnSp>
                <p:nvCxnSpPr>
                  <p:cNvPr id="303" name="Google Shape;303;p32"/>
                  <p:cNvCxnSpPr/>
                  <p:nvPr/>
                </p:nvCxnSpPr>
                <p:spPr>
                  <a:xfrm rot="-5400000">
                    <a:off x="2783" y="1969"/>
                    <a:ext cx="1" cy="1056"/>
                  </a:xfrm>
                  <a:prstGeom prst="straightConnector1">
                    <a:avLst/>
                  </a:prstGeom>
                  <a:noFill/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stealth" w="lg" len="lg"/>
                  </a:ln>
                </p:spPr>
              </p:cxnSp>
              <p:sp>
                <p:nvSpPr>
                  <p:cNvPr id="304" name="Google Shape;304;p32"/>
                  <p:cNvSpPr txBox="1"/>
                  <p:nvPr/>
                </p:nvSpPr>
                <p:spPr>
                  <a:xfrm>
                    <a:off x="2196" y="2112"/>
                    <a:ext cx="1176" cy="2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 b="1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Selection</a:t>
                    </a:r>
                    <a:endParaRPr sz="1800" b="1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05" name="Google Shape;305;p32"/>
              <p:cNvGrpSpPr/>
              <p:nvPr/>
            </p:nvGrpSpPr>
            <p:grpSpPr>
              <a:xfrm>
                <a:off x="480" y="2766"/>
                <a:ext cx="1656" cy="1243"/>
                <a:chOff x="480" y="2766"/>
                <a:chExt cx="1656" cy="1243"/>
              </a:xfrm>
            </p:grpSpPr>
            <p:grpSp>
              <p:nvGrpSpPr>
                <p:cNvPr id="306" name="Google Shape;306;p32"/>
                <p:cNvGrpSpPr/>
                <p:nvPr/>
              </p:nvGrpSpPr>
              <p:grpSpPr>
                <a:xfrm>
                  <a:off x="480" y="3193"/>
                  <a:ext cx="1056" cy="816"/>
                  <a:chOff x="480" y="2256"/>
                  <a:chExt cx="1056" cy="816"/>
                </a:xfrm>
              </p:grpSpPr>
              <p:sp>
                <p:nvSpPr>
                  <p:cNvPr id="307" name="Google Shape;307;p32"/>
                  <p:cNvSpPr/>
                  <p:nvPr/>
                </p:nvSpPr>
                <p:spPr>
                  <a:xfrm>
                    <a:off x="480" y="2397"/>
                    <a:ext cx="1056" cy="675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8" name="Google Shape;308;p32"/>
                  <p:cNvSpPr/>
                  <p:nvPr/>
                </p:nvSpPr>
                <p:spPr>
                  <a:xfrm>
                    <a:off x="480" y="2256"/>
                    <a:ext cx="1056" cy="141"/>
                  </a:xfrm>
                  <a:prstGeom prst="rect">
                    <a:avLst/>
                  </a:prstGeom>
                  <a:solidFill>
                    <a:srgbClr val="FFCC66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09" name="Google Shape;309;p32"/>
                <p:cNvGrpSpPr/>
                <p:nvPr/>
              </p:nvGrpSpPr>
              <p:grpSpPr>
                <a:xfrm>
                  <a:off x="1013" y="2766"/>
                  <a:ext cx="1123" cy="416"/>
                  <a:chOff x="1013" y="2766"/>
                  <a:chExt cx="1123" cy="416"/>
                </a:xfrm>
              </p:grpSpPr>
              <p:sp>
                <p:nvSpPr>
                  <p:cNvPr id="310" name="Google Shape;310;p32"/>
                  <p:cNvSpPr txBox="1"/>
                  <p:nvPr/>
                </p:nvSpPr>
                <p:spPr>
                  <a:xfrm>
                    <a:off x="1150" y="2766"/>
                    <a:ext cx="986" cy="2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 b="1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Projection</a:t>
                    </a:r>
                    <a:endParaRPr sz="1800" b="1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11" name="Google Shape;311;p32"/>
                  <p:cNvCxnSpPr/>
                  <p:nvPr/>
                </p:nvCxnSpPr>
                <p:spPr>
                  <a:xfrm>
                    <a:off x="1013" y="2801"/>
                    <a:ext cx="0" cy="381"/>
                  </a:xfrm>
                  <a:prstGeom prst="straightConnector1">
                    <a:avLst/>
                  </a:prstGeom>
                  <a:noFill/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stealth" w="lg" len="lg"/>
                  </a:ln>
                </p:spPr>
              </p:cxnSp>
            </p:grpSp>
          </p:grpSp>
        </p:grpSp>
        <p:sp>
          <p:nvSpPr>
            <p:cNvPr id="312" name="Google Shape;312;p32"/>
            <p:cNvSpPr/>
            <p:nvPr/>
          </p:nvSpPr>
          <p:spPr>
            <a:xfrm>
              <a:off x="1894787" y="5119197"/>
              <a:ext cx="282805" cy="722768"/>
            </a:xfrm>
            <a:prstGeom prst="rect">
              <a:avLst/>
            </a:prstGeom>
            <a:solidFill>
              <a:schemeClr val="accent1"/>
            </a:solidFill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" name="Google Shape;313;p32"/>
            <p:cNvSpPr/>
            <p:nvPr/>
          </p:nvSpPr>
          <p:spPr>
            <a:xfrm>
              <a:off x="5155527" y="3801297"/>
              <a:ext cx="1421578" cy="318337"/>
            </a:xfrm>
            <a:prstGeom prst="rect">
              <a:avLst/>
            </a:prstGeom>
            <a:solidFill>
              <a:schemeClr val="accent1"/>
            </a:solidFill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1027698" y="5119197"/>
              <a:ext cx="282805" cy="722768"/>
            </a:xfrm>
            <a:prstGeom prst="rect">
              <a:avLst/>
            </a:prstGeom>
            <a:solidFill>
              <a:schemeClr val="accent1"/>
            </a:solidFill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5" name="Google Shape;315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3 SET UNION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23" name="Google Shape;323;p33"/>
          <p:cNvSpPr txBox="1"/>
          <p:nvPr/>
        </p:nvSpPr>
        <p:spPr>
          <a:xfrm>
            <a:off x="909814" y="1274150"/>
            <a:ext cx="7456200" cy="4832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19" t="-629" r="-1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324" name="Google Shape;324;p33" descr="A close up of a logo&#10;&#10;Description generated with very high confidenc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691680" y="1844824"/>
            <a:ext cx="5047036" cy="517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31" name="Google Shape;331;p34"/>
          <p:cNvSpPr txBox="1">
            <a:spLocks noGrp="1"/>
          </p:cNvSpPr>
          <p:nvPr>
            <p:ph type="body" idx="1"/>
          </p:nvPr>
        </p:nvSpPr>
        <p:spPr>
          <a:xfrm>
            <a:off x="822959" y="1412776"/>
            <a:ext cx="7543801" cy="445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∪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RESEARCHER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=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Calibri"/>
              <a:buNone/>
            </a:pP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20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4"/>
          <p:cNvSpPr txBox="1"/>
          <p:nvPr/>
        </p:nvSpPr>
        <p:spPr>
          <a:xfrm>
            <a:off x="539552" y="1268760"/>
            <a:ext cx="8229600" cy="5112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34"/>
          <p:cNvGraphicFramePr/>
          <p:nvPr/>
        </p:nvGraphicFramePr>
        <p:xfrm>
          <a:off x="804174" y="4180869"/>
          <a:ext cx="3243075" cy="1914966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130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Ms J.Gledhill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5" name="Google Shape;335;p34"/>
          <p:cNvGraphicFramePr/>
          <p:nvPr/>
        </p:nvGraphicFramePr>
        <p:xfrm>
          <a:off x="4617366" y="1588963"/>
          <a:ext cx="3477700" cy="194420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73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6" name="Google Shape;336;p34"/>
          <p:cNvGraphicFramePr/>
          <p:nvPr/>
        </p:nvGraphicFramePr>
        <p:xfrm>
          <a:off x="821455" y="1611506"/>
          <a:ext cx="3162550" cy="19216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9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7" name="Google Shape;337;p34"/>
          <p:cNvSpPr txBox="1"/>
          <p:nvPr/>
        </p:nvSpPr>
        <p:spPr>
          <a:xfrm>
            <a:off x="955041" y="1166538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4"/>
          <p:cNvSpPr txBox="1"/>
          <p:nvPr/>
        </p:nvSpPr>
        <p:spPr>
          <a:xfrm>
            <a:off x="4696009" y="1145985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4 SET INTERSECTION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5" name="Google Shape;345;p35" descr="A close up of a logo&#10;&#10;Description generated with very high confidenc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4602032"/>
            <a:ext cx="1466027" cy="31832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aphicFrame>
        <p:nvGraphicFramePr>
          <p:cNvPr id="347" name="Google Shape;347;p35"/>
          <p:cNvGraphicFramePr/>
          <p:nvPr/>
        </p:nvGraphicFramePr>
        <p:xfrm>
          <a:off x="897617" y="5112083"/>
          <a:ext cx="7560875" cy="679211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151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Enrolment#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Supervisee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Department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Comp.Sci.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Ph.D.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8" name="Google Shape;348;p35"/>
          <p:cNvSpPr txBox="1"/>
          <p:nvPr/>
        </p:nvSpPr>
        <p:spPr>
          <a:xfrm>
            <a:off x="650994" y="1464734"/>
            <a:ext cx="7559792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INTERSECTION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operation that includes all tuples that are in present both relations, denoted by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Condition: R and S must also be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union compatible!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35" descr="A close up of a logo&#10;&#10;Description generated with very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7994" y="2439156"/>
            <a:ext cx="3788011" cy="374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5" descr="A close up of a logo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64216" y="3497076"/>
            <a:ext cx="5320713" cy="421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5" descr="A close up of a logo&#10;&#10;Description generated with very high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61747" y="3986260"/>
            <a:ext cx="5353873" cy="402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Example of Intersection</a:t>
            </a:r>
            <a:endParaRPr/>
          </a:p>
        </p:txBody>
      </p:sp>
      <p:sp>
        <p:nvSpPr>
          <p:cNvPr id="358" name="Google Shape;358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22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1835696" y="4093841"/>
            <a:ext cx="5472608" cy="30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" marR="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Example: STUDENT ∩ RESEARCHER =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0" name="Google Shape;360;p36"/>
          <p:cNvGraphicFramePr/>
          <p:nvPr/>
        </p:nvGraphicFramePr>
        <p:xfrm>
          <a:off x="1986694" y="4594049"/>
          <a:ext cx="4507900" cy="741700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225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C.C. 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1" name="Google Shape;361;p36"/>
          <p:cNvGraphicFramePr/>
          <p:nvPr/>
        </p:nvGraphicFramePr>
        <p:xfrm>
          <a:off x="4755748" y="1700808"/>
          <a:ext cx="3477700" cy="194420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73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2" name="Google Shape;362;p36"/>
          <p:cNvGraphicFramePr/>
          <p:nvPr/>
        </p:nvGraphicFramePr>
        <p:xfrm>
          <a:off x="959837" y="1723351"/>
          <a:ext cx="3162550" cy="19216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9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3" name="Google Shape;363;p36"/>
          <p:cNvSpPr txBox="1"/>
          <p:nvPr/>
        </p:nvSpPr>
        <p:spPr>
          <a:xfrm>
            <a:off x="1093423" y="1278383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4834391" y="1257830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5 SET DIFFERENCE</a:t>
            </a:r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 i="1">
                <a:latin typeface="Calibri"/>
                <a:ea typeface="Calibri"/>
                <a:cs typeface="Calibri"/>
                <a:sym typeface="Calibri"/>
              </a:rPr>
              <a:t>DIFFERENCE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is a relation that includes all tuples that are in the left relation but not in the right relation, denoted by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Condition: R and S must also be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union compatible!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 STUDENT – RESEARCHRER =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23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37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266" y="1850262"/>
            <a:ext cx="3687822" cy="3465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4" name="Google Shape;374;p37"/>
          <p:cNvGraphicFramePr/>
          <p:nvPr/>
        </p:nvGraphicFramePr>
        <p:xfrm>
          <a:off x="906922" y="5078827"/>
          <a:ext cx="3384375" cy="1085575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13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Person#</a:t>
                      </a:r>
                      <a:endParaRPr sz="1300"/>
                    </a:p>
                  </a:txBody>
                  <a:tcPr marL="67150" marR="67150" marT="33575" marB="33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Name</a:t>
                      </a:r>
                      <a:endParaRPr sz="1300"/>
                    </a:p>
                  </a:txBody>
                  <a:tcPr marL="67150" marR="67150" marT="33575" marB="33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7150" marR="67150" marT="33575" marB="33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Ms K. Juliff</a:t>
                      </a:r>
                      <a:endParaRPr sz="1300"/>
                    </a:p>
                  </a:txBody>
                  <a:tcPr marL="67150" marR="67150" marT="33575" marB="33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7150" marR="67150" marT="33575" marB="33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Ms J. Gledhill</a:t>
                      </a:r>
                      <a:endParaRPr sz="1300"/>
                    </a:p>
                  </a:txBody>
                  <a:tcPr marL="67150" marR="67150" marT="33575" marB="33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7150" marR="67150" marT="33575" marB="33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Ms B.K. Lee</a:t>
                      </a:r>
                      <a:endParaRPr sz="1300"/>
                    </a:p>
                  </a:txBody>
                  <a:tcPr marL="67150" marR="67150" marT="33575" marB="33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75" name="Google Shape;375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0818" y="2708920"/>
            <a:ext cx="5060778" cy="1743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81" name="Google Shape;381;p38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Operations on Relations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UNION: A⋃B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INTERSECTION: A⋂B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143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Char char=" "/>
            </a:pP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143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Char char=" "/>
            </a:pP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DIFFERENCE:  A-B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143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Char char=" "/>
            </a:pP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24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38"/>
          <p:cNvPicPr preferRelativeResize="0"/>
          <p:nvPr/>
        </p:nvPicPr>
        <p:blipFill rotWithShape="1">
          <a:blip r:embed="rId3">
            <a:alphaModFix/>
          </a:blip>
          <a:srcRect l="4470" t="9190" r="69058" b="71031"/>
          <a:stretch/>
        </p:blipFill>
        <p:spPr>
          <a:xfrm>
            <a:off x="3500438" y="1533525"/>
            <a:ext cx="2143124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8"/>
          <p:cNvPicPr preferRelativeResize="0"/>
          <p:nvPr/>
        </p:nvPicPr>
        <p:blipFill rotWithShape="1">
          <a:blip r:embed="rId3">
            <a:alphaModFix/>
          </a:blip>
          <a:srcRect l="36764" t="9471" r="36764" b="70750"/>
          <a:stretch/>
        </p:blipFill>
        <p:spPr>
          <a:xfrm>
            <a:off x="3523288" y="3219450"/>
            <a:ext cx="2143124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8"/>
          <p:cNvPicPr preferRelativeResize="0"/>
          <p:nvPr/>
        </p:nvPicPr>
        <p:blipFill rotWithShape="1">
          <a:blip r:embed="rId3">
            <a:alphaModFix/>
          </a:blip>
          <a:srcRect l="36764" t="41922" r="36764" b="38299"/>
          <a:stretch/>
        </p:blipFill>
        <p:spPr>
          <a:xfrm>
            <a:off x="3500438" y="4905375"/>
            <a:ext cx="2143124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/>
              <a:t>Express: The names of persons who are either a student </a:t>
            </a:r>
            <a:r>
              <a:rPr lang="en-US" sz="3200" b="1"/>
              <a:t>or</a:t>
            </a:r>
            <a:r>
              <a:rPr lang="en-US" sz="3200"/>
              <a:t> a researcher</a:t>
            </a:r>
            <a:endParaRPr/>
          </a:p>
        </p:txBody>
      </p:sp>
      <p:sp>
        <p:nvSpPr>
          <p:cNvPr id="392" name="Google Shape;392;p3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25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9"/>
          <p:cNvSpPr txBox="1"/>
          <p:nvPr/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4" name="Google Shape;394;p39"/>
          <p:cNvGraphicFramePr/>
          <p:nvPr/>
        </p:nvGraphicFramePr>
        <p:xfrm>
          <a:off x="3354114" y="166291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5" name="Google Shape;395;p39"/>
          <p:cNvGraphicFramePr/>
          <p:nvPr/>
        </p:nvGraphicFramePr>
        <p:xfrm>
          <a:off x="787734" y="1667092"/>
          <a:ext cx="24032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6" name="Google Shape;396;p39"/>
          <p:cNvSpPr txBox="1"/>
          <p:nvPr/>
        </p:nvSpPr>
        <p:spPr>
          <a:xfrm>
            <a:off x="788675" y="1250765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397" name="Google Shape;397;p39"/>
          <p:cNvSpPr txBox="1"/>
          <p:nvPr/>
        </p:nvSpPr>
        <p:spPr>
          <a:xfrm>
            <a:off x="3354114" y="1270176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/>
              <a:t>Express: The names of persons who are either a student </a:t>
            </a:r>
            <a:r>
              <a:rPr lang="en-US" sz="3200" b="1"/>
              <a:t>or</a:t>
            </a:r>
            <a:r>
              <a:rPr lang="en-US" sz="3200"/>
              <a:t> a researcher</a:t>
            </a:r>
            <a:endParaRPr/>
          </a:p>
        </p:txBody>
      </p:sp>
      <p:sp>
        <p:nvSpPr>
          <p:cNvPr id="404" name="Google Shape;404;p4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26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0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6" name="Google Shape;406;p40"/>
          <p:cNvGraphicFramePr/>
          <p:nvPr/>
        </p:nvGraphicFramePr>
        <p:xfrm>
          <a:off x="6732240" y="3612198"/>
          <a:ext cx="1872200" cy="2313145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8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07" name="Google Shape;407;p40"/>
          <p:cNvGraphicFramePr/>
          <p:nvPr/>
        </p:nvGraphicFramePr>
        <p:xfrm>
          <a:off x="3354114" y="166291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8" name="Google Shape;408;p40"/>
          <p:cNvGraphicFramePr/>
          <p:nvPr/>
        </p:nvGraphicFramePr>
        <p:xfrm>
          <a:off x="787734" y="1667092"/>
          <a:ext cx="24032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9" name="Google Shape;409;p40"/>
          <p:cNvSpPr txBox="1"/>
          <p:nvPr/>
        </p:nvSpPr>
        <p:spPr>
          <a:xfrm>
            <a:off x="788675" y="1250765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410" name="Google Shape;410;p40"/>
          <p:cNvSpPr txBox="1"/>
          <p:nvPr/>
        </p:nvSpPr>
        <p:spPr>
          <a:xfrm>
            <a:off x="3354114" y="1270176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411" name="Google Shape;411;p40"/>
          <p:cNvSpPr txBox="1"/>
          <p:nvPr/>
        </p:nvSpPr>
        <p:spPr>
          <a:xfrm>
            <a:off x="787734" y="4291623"/>
            <a:ext cx="3935700" cy="38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3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/>
              <a:t>Express: The names of persons who are a student </a:t>
            </a:r>
            <a:r>
              <a:rPr lang="en-US" sz="3200" b="1"/>
              <a:t>and</a:t>
            </a:r>
            <a:r>
              <a:rPr lang="en-US" sz="3200"/>
              <a:t> a researcher </a:t>
            </a:r>
            <a:endParaRPr sz="3200"/>
          </a:p>
        </p:txBody>
      </p:sp>
      <p:sp>
        <p:nvSpPr>
          <p:cNvPr id="418" name="Google Shape;418;p4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27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1"/>
          <p:cNvSpPr txBox="1"/>
          <p:nvPr/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0" name="Google Shape;420;p41"/>
          <p:cNvGraphicFramePr/>
          <p:nvPr/>
        </p:nvGraphicFramePr>
        <p:xfrm>
          <a:off x="3354114" y="166291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1" name="Google Shape;421;p41"/>
          <p:cNvGraphicFramePr/>
          <p:nvPr/>
        </p:nvGraphicFramePr>
        <p:xfrm>
          <a:off x="787734" y="1667092"/>
          <a:ext cx="24032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2" name="Google Shape;422;p41"/>
          <p:cNvSpPr txBox="1"/>
          <p:nvPr/>
        </p:nvSpPr>
        <p:spPr>
          <a:xfrm>
            <a:off x="788675" y="1250765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423" name="Google Shape;423;p41"/>
          <p:cNvSpPr txBox="1"/>
          <p:nvPr/>
        </p:nvSpPr>
        <p:spPr>
          <a:xfrm>
            <a:off x="3354114" y="1270176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/>
              <a:t>Express: The names of persons who are a student </a:t>
            </a:r>
            <a:r>
              <a:rPr lang="en-US" sz="3200" b="1"/>
              <a:t>and</a:t>
            </a:r>
            <a:r>
              <a:rPr lang="en-US" sz="3200"/>
              <a:t> a researcher </a:t>
            </a:r>
            <a:endParaRPr sz="3200"/>
          </a:p>
        </p:txBody>
      </p:sp>
      <p:sp>
        <p:nvSpPr>
          <p:cNvPr id="430" name="Google Shape;430;p4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28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2" name="Google Shape;432;p42"/>
          <p:cNvGraphicFramePr/>
          <p:nvPr/>
        </p:nvGraphicFramePr>
        <p:xfrm>
          <a:off x="6804248" y="5264109"/>
          <a:ext cx="1872200" cy="780825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8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3" name="Google Shape;433;p42"/>
          <p:cNvGraphicFramePr/>
          <p:nvPr/>
        </p:nvGraphicFramePr>
        <p:xfrm>
          <a:off x="3354114" y="166291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4" name="Google Shape;434;p42"/>
          <p:cNvGraphicFramePr/>
          <p:nvPr/>
        </p:nvGraphicFramePr>
        <p:xfrm>
          <a:off x="787734" y="1667092"/>
          <a:ext cx="24032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5" name="Google Shape;435;p42"/>
          <p:cNvSpPr txBox="1"/>
          <p:nvPr/>
        </p:nvSpPr>
        <p:spPr>
          <a:xfrm>
            <a:off x="788675" y="1250765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436" name="Google Shape;436;p42"/>
          <p:cNvSpPr txBox="1"/>
          <p:nvPr/>
        </p:nvSpPr>
        <p:spPr>
          <a:xfrm>
            <a:off x="3354114" y="1270176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437" name="Google Shape;437;p42"/>
          <p:cNvSpPr txBox="1"/>
          <p:nvPr/>
        </p:nvSpPr>
        <p:spPr>
          <a:xfrm>
            <a:off x="787734" y="4291623"/>
            <a:ext cx="3935700" cy="38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3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br>
              <a:rPr lang="en-US" sz="3200"/>
            </a:br>
            <a:r>
              <a:rPr lang="en-US" sz="3200"/>
              <a:t>Express: The names of persons who are a student </a:t>
            </a:r>
            <a:r>
              <a:rPr lang="en-US" sz="3200" b="1"/>
              <a:t>but not</a:t>
            </a:r>
            <a:r>
              <a:rPr lang="en-US" sz="3200"/>
              <a:t> a researcher </a:t>
            </a:r>
            <a:endParaRPr sz="3200"/>
          </a:p>
        </p:txBody>
      </p:sp>
      <p:sp>
        <p:nvSpPr>
          <p:cNvPr id="444" name="Google Shape;444;p4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45" name="Google Shape;445;p43"/>
          <p:cNvSpPr txBox="1"/>
          <p:nvPr/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05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6" name="Google Shape;446;p43"/>
          <p:cNvGraphicFramePr/>
          <p:nvPr/>
        </p:nvGraphicFramePr>
        <p:xfrm>
          <a:off x="3354114" y="166291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7" name="Google Shape;447;p43"/>
          <p:cNvGraphicFramePr/>
          <p:nvPr/>
        </p:nvGraphicFramePr>
        <p:xfrm>
          <a:off x="787734" y="1667092"/>
          <a:ext cx="24032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8" name="Google Shape;448;p43"/>
          <p:cNvSpPr txBox="1"/>
          <p:nvPr/>
        </p:nvSpPr>
        <p:spPr>
          <a:xfrm>
            <a:off x="788675" y="1250765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</a:t>
            </a:r>
            <a:endParaRPr/>
          </a:p>
        </p:txBody>
      </p:sp>
      <p:sp>
        <p:nvSpPr>
          <p:cNvPr id="449" name="Google Shape;449;p43"/>
          <p:cNvSpPr txBox="1"/>
          <p:nvPr/>
        </p:nvSpPr>
        <p:spPr>
          <a:xfrm>
            <a:off x="3354114" y="1270176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RESEARCHER: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br>
              <a:rPr lang="en-US" sz="3200"/>
            </a:br>
            <a:r>
              <a:rPr lang="en-US" sz="3200"/>
              <a:t>Express: The names of persons who are a student </a:t>
            </a:r>
            <a:r>
              <a:rPr lang="en-US" sz="3200" b="1"/>
              <a:t>but not</a:t>
            </a:r>
            <a:r>
              <a:rPr lang="en-US" sz="3200"/>
              <a:t> a researcher </a:t>
            </a:r>
            <a:endParaRPr sz="3200"/>
          </a:p>
        </p:txBody>
      </p:sp>
      <p:sp>
        <p:nvSpPr>
          <p:cNvPr id="456" name="Google Shape;456;p4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57" name="Google Shape;457;p44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 sz="105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58" name="Google Shape;458;p44"/>
          <p:cNvGraphicFramePr/>
          <p:nvPr/>
        </p:nvGraphicFramePr>
        <p:xfrm>
          <a:off x="6732240" y="4544524"/>
          <a:ext cx="1800200" cy="1504095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9" name="Google Shape;459;p44"/>
          <p:cNvGraphicFramePr/>
          <p:nvPr/>
        </p:nvGraphicFramePr>
        <p:xfrm>
          <a:off x="3354114" y="166291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0" name="Google Shape;460;p44"/>
          <p:cNvGraphicFramePr/>
          <p:nvPr/>
        </p:nvGraphicFramePr>
        <p:xfrm>
          <a:off x="787734" y="1667092"/>
          <a:ext cx="24032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1" name="Google Shape;461;p44"/>
          <p:cNvSpPr txBox="1"/>
          <p:nvPr/>
        </p:nvSpPr>
        <p:spPr>
          <a:xfrm>
            <a:off x="788675" y="1250765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</a:t>
            </a:r>
            <a:endParaRPr/>
          </a:p>
        </p:txBody>
      </p:sp>
      <p:sp>
        <p:nvSpPr>
          <p:cNvPr id="462" name="Google Shape;462;p44"/>
          <p:cNvSpPr txBox="1"/>
          <p:nvPr/>
        </p:nvSpPr>
        <p:spPr>
          <a:xfrm>
            <a:off x="3354114" y="1270176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RESEARCHER:</a:t>
            </a:r>
            <a:endParaRPr/>
          </a:p>
        </p:txBody>
      </p:sp>
      <p:sp>
        <p:nvSpPr>
          <p:cNvPr id="463" name="Google Shape;463;p44"/>
          <p:cNvSpPr txBox="1"/>
          <p:nvPr/>
        </p:nvSpPr>
        <p:spPr>
          <a:xfrm>
            <a:off x="787734" y="4291623"/>
            <a:ext cx="3935700" cy="38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3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100"/>
              <a:t>Express: The departments and degrees of Courses which are not enrolled by any student</a:t>
            </a:r>
            <a:endParaRPr sz="3100"/>
          </a:p>
        </p:txBody>
      </p:sp>
      <p:sp>
        <p:nvSpPr>
          <p:cNvPr id="470" name="Google Shape;470;p4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71" name="Google Shape;471;p45"/>
          <p:cNvSpPr txBox="1"/>
          <p:nvPr/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 sz="105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2" name="Google Shape;472;p45"/>
          <p:cNvGraphicFramePr/>
          <p:nvPr/>
        </p:nvGraphicFramePr>
        <p:xfrm>
          <a:off x="6026551" y="1687794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highlight>
                            <a:srgbClr val="FFFF99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>
                        <a:highlight>
                          <a:srgbClr val="FFFF99"/>
                        </a:highlight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highlight>
                            <a:srgbClr val="FFFF99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>
                        <a:highlight>
                          <a:srgbClr val="FFFF99"/>
                        </a:highlight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3" name="Google Shape;473;p45"/>
          <p:cNvSpPr txBox="1"/>
          <p:nvPr/>
        </p:nvSpPr>
        <p:spPr>
          <a:xfrm>
            <a:off x="6026551" y="1271467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</a:t>
            </a:r>
            <a:endParaRPr/>
          </a:p>
        </p:txBody>
      </p:sp>
      <p:sp>
        <p:nvSpPr>
          <p:cNvPr id="474" name="Google Shape;474;p45"/>
          <p:cNvSpPr txBox="1"/>
          <p:nvPr/>
        </p:nvSpPr>
        <p:spPr>
          <a:xfrm>
            <a:off x="598640" y="1332162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ENROLMENT:</a:t>
            </a:r>
            <a:endParaRPr/>
          </a:p>
        </p:txBody>
      </p:sp>
      <p:cxnSp>
        <p:nvCxnSpPr>
          <p:cNvPr id="475" name="Google Shape;475;p45"/>
          <p:cNvCxnSpPr/>
          <p:nvPr/>
        </p:nvCxnSpPr>
        <p:spPr>
          <a:xfrm rot="10800000">
            <a:off x="6099674" y="1992594"/>
            <a:ext cx="2313363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6" name="Google Shape;47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401" y="1687801"/>
            <a:ext cx="5621350" cy="20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100"/>
              <a:t>Express: The departments and degrees of Courses which are not enrolled by any student</a:t>
            </a:r>
            <a:endParaRPr sz="3100"/>
          </a:p>
        </p:txBody>
      </p:sp>
      <p:sp>
        <p:nvSpPr>
          <p:cNvPr id="483" name="Google Shape;483;p4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sz="105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85" name="Google Shape;485;p46"/>
          <p:cNvGraphicFramePr/>
          <p:nvPr/>
        </p:nvGraphicFramePr>
        <p:xfrm>
          <a:off x="6026551" y="1687794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highlight>
                            <a:srgbClr val="FFFF99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>
                        <a:highlight>
                          <a:srgbClr val="FFFF99"/>
                        </a:highlight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highlight>
                            <a:srgbClr val="FFFF99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>
                        <a:highlight>
                          <a:srgbClr val="FFFF99"/>
                        </a:highlight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6" name="Google Shape;486;p46"/>
          <p:cNvSpPr txBox="1"/>
          <p:nvPr/>
        </p:nvSpPr>
        <p:spPr>
          <a:xfrm>
            <a:off x="6026551" y="1271467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</a:t>
            </a:r>
            <a:endParaRPr/>
          </a:p>
        </p:txBody>
      </p:sp>
      <p:sp>
        <p:nvSpPr>
          <p:cNvPr id="487" name="Google Shape;487;p46"/>
          <p:cNvSpPr txBox="1"/>
          <p:nvPr/>
        </p:nvSpPr>
        <p:spPr>
          <a:xfrm>
            <a:off x="598640" y="1332162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ENROLMENT:</a:t>
            </a:r>
            <a:endParaRPr/>
          </a:p>
        </p:txBody>
      </p:sp>
      <p:cxnSp>
        <p:nvCxnSpPr>
          <p:cNvPr id="488" name="Google Shape;488;p46"/>
          <p:cNvCxnSpPr/>
          <p:nvPr/>
        </p:nvCxnSpPr>
        <p:spPr>
          <a:xfrm rot="10800000">
            <a:off x="6099737" y="1992594"/>
            <a:ext cx="23133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89" name="Google Shape;48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401" y="1687801"/>
            <a:ext cx="5621350" cy="204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6"/>
          <p:cNvSpPr txBox="1"/>
          <p:nvPr/>
        </p:nvSpPr>
        <p:spPr>
          <a:xfrm>
            <a:off x="1696700" y="4481075"/>
            <a:ext cx="579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COURSE -  (𝚷 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(Department, Degree)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(ENROLMENT))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CARTESIAN PRODUCT</a:t>
            </a:r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ldNum" idx="12"/>
          </p:nvPr>
        </p:nvSpPr>
        <p:spPr>
          <a:xfrm>
            <a:off x="7419886" y="588324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506" name="Google Shape;506;p48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7452" y="1450504"/>
            <a:ext cx="4163717" cy="3296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7" name="Google Shape;507;p48"/>
          <p:cNvGrpSpPr/>
          <p:nvPr/>
        </p:nvGrpSpPr>
        <p:grpSpPr>
          <a:xfrm>
            <a:off x="792104" y="1988840"/>
            <a:ext cx="7559700" cy="3477900"/>
            <a:chOff x="683568" y="2681625"/>
            <a:chExt cx="7559700" cy="3477900"/>
          </a:xfrm>
        </p:grpSpPr>
        <p:sp>
          <p:nvSpPr>
            <p:cNvPr id="508" name="Google Shape;508;p48"/>
            <p:cNvSpPr txBox="1"/>
            <p:nvPr/>
          </p:nvSpPr>
          <p:spPr>
            <a:xfrm>
              <a:off x="683568" y="2681625"/>
              <a:ext cx="7559700" cy="3477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l="-889" t="-879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/>
            </a:p>
          </p:txBody>
        </p:sp>
        <p:pic>
          <p:nvPicPr>
            <p:cNvPr id="509" name="Google Shape;509;p48" descr="A close up of a logo&#10;&#10;Description generated with very high confidence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02375" y="3049427"/>
              <a:ext cx="602545" cy="3251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0" name="Google Shape;510;p48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 sz="105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48"/>
          <p:cNvSpPr/>
          <p:nvPr/>
        </p:nvSpPr>
        <p:spPr>
          <a:xfrm>
            <a:off x="2114550" y="2042100"/>
            <a:ext cx="5190900" cy="329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Example of cartesian product</a:t>
            </a:r>
            <a:endParaRPr/>
          </a:p>
        </p:txBody>
      </p:sp>
      <p:sp>
        <p:nvSpPr>
          <p:cNvPr id="518" name="Google Shape;518;p4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519" name="Google Shape;519;p49"/>
          <p:cNvGraphicFramePr/>
          <p:nvPr/>
        </p:nvGraphicFramePr>
        <p:xfrm>
          <a:off x="6259239" y="274876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0" name="Google Shape;520;p49"/>
          <p:cNvSpPr txBox="1"/>
          <p:nvPr/>
        </p:nvSpPr>
        <p:spPr>
          <a:xfrm>
            <a:off x="6259239" y="2356026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521" name="Google Shape;521;p49"/>
          <p:cNvSpPr txBox="1"/>
          <p:nvPr/>
        </p:nvSpPr>
        <p:spPr>
          <a:xfrm>
            <a:off x="439240" y="2356025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ENROLMENT:</a:t>
            </a:r>
            <a:endParaRPr/>
          </a:p>
        </p:txBody>
      </p:sp>
      <p:pic>
        <p:nvPicPr>
          <p:cNvPr id="522" name="Google Shape;52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711663"/>
            <a:ext cx="5621350" cy="204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" name="Google Shape;523;p49"/>
          <p:cNvCxnSpPr/>
          <p:nvPr/>
        </p:nvCxnSpPr>
        <p:spPr>
          <a:xfrm>
            <a:off x="5591175" y="3295650"/>
            <a:ext cx="685800" cy="362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49"/>
          <p:cNvCxnSpPr/>
          <p:nvPr/>
        </p:nvCxnSpPr>
        <p:spPr>
          <a:xfrm>
            <a:off x="5600700" y="3286125"/>
            <a:ext cx="705000" cy="1095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49"/>
          <p:cNvCxnSpPr>
            <a:stCxn id="522" idx="3"/>
          </p:cNvCxnSpPr>
          <p:nvPr/>
        </p:nvCxnSpPr>
        <p:spPr>
          <a:xfrm rot="10800000" flipH="1">
            <a:off x="5621351" y="3695663"/>
            <a:ext cx="655500" cy="3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49"/>
          <p:cNvCxnSpPr>
            <a:stCxn id="522" idx="3"/>
          </p:cNvCxnSpPr>
          <p:nvPr/>
        </p:nvCxnSpPr>
        <p:spPr>
          <a:xfrm>
            <a:off x="5621351" y="3734663"/>
            <a:ext cx="712800" cy="684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7" name="Google Shape;527;p49"/>
          <p:cNvCxnSpPr/>
          <p:nvPr/>
        </p:nvCxnSpPr>
        <p:spPr>
          <a:xfrm rot="10800000" flipH="1">
            <a:off x="5591175" y="3686175"/>
            <a:ext cx="695400" cy="419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49"/>
          <p:cNvCxnSpPr/>
          <p:nvPr/>
        </p:nvCxnSpPr>
        <p:spPr>
          <a:xfrm>
            <a:off x="5581650" y="4114800"/>
            <a:ext cx="752400" cy="295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49"/>
          <p:cNvCxnSpPr/>
          <p:nvPr/>
        </p:nvCxnSpPr>
        <p:spPr>
          <a:xfrm rot="10800000" flipH="1">
            <a:off x="5600700" y="3676725"/>
            <a:ext cx="685800" cy="828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49"/>
          <p:cNvCxnSpPr/>
          <p:nvPr/>
        </p:nvCxnSpPr>
        <p:spPr>
          <a:xfrm rot="10800000" flipH="1">
            <a:off x="5600700" y="4448250"/>
            <a:ext cx="752400" cy="66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0"/>
          <p:cNvSpPr txBox="1"/>
          <p:nvPr/>
        </p:nvSpPr>
        <p:spPr>
          <a:xfrm>
            <a:off x="683568" y="1386931"/>
            <a:ext cx="7559700" cy="4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 X RESEARCHRER =</a:t>
            </a:r>
            <a:endParaRPr/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were 4 tuples in ENROLMENT, 2 tuples in RESEARCHER. In the result, there are 8 tuples. 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 New Roman"/>
              <a:buNone/>
            </a:pPr>
            <a:r>
              <a:rPr lang="en-US">
                <a:solidFill>
                  <a:schemeClr val="dk1"/>
                </a:solidFill>
              </a:rPr>
              <a:t>Example of cartesian product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8" name="Google Shape;538;p5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539" name="Google Shape;539;p50"/>
          <p:cNvGraphicFramePr/>
          <p:nvPr/>
        </p:nvGraphicFramePr>
        <p:xfrm>
          <a:off x="965948" y="2066272"/>
          <a:ext cx="7257825" cy="2975463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98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30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/>
                        <a:t>E’ment#</a:t>
                      </a:r>
                      <a:endParaRPr sz="1800" u="sng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S’ee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S’or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D’ment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Degree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Psych.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Ph.D.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C.C. 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Psych.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Ph.D.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Cmp.Sci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Ph.D.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C.C. 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Cmp.Sci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Ph.D.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Cmp.Sci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C.C. 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Cmp.Sci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Cmp.Sci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C.C. 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Cmp.Sci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 New Roman"/>
              <a:buNone/>
            </a:pPr>
            <a:r>
              <a:rPr lang="en-US">
                <a:solidFill>
                  <a:schemeClr val="dk1"/>
                </a:solidFill>
              </a:rPr>
              <a:t>Useful if we add a condition</a:t>
            </a:r>
            <a:endParaRPr/>
          </a:p>
        </p:txBody>
      </p:sp>
      <p:sp>
        <p:nvSpPr>
          <p:cNvPr id="546" name="Google Shape;546;p51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0" cy="47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In practice it’s useful if </a:t>
            </a:r>
            <a:r>
              <a:rPr lang="en-US" sz="2000"/>
              <a:t>we give a cartesian product specified condition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547" name="Google Shape;547;p5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548" name="Google Shape;548;p51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0492"/>
          <a:stretch/>
        </p:blipFill>
        <p:spPr>
          <a:xfrm>
            <a:off x="822959" y="4230608"/>
            <a:ext cx="5419726" cy="34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616" y="1470824"/>
            <a:ext cx="5958130" cy="2333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51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b="50492"/>
          <a:stretch/>
        </p:blipFill>
        <p:spPr>
          <a:xfrm>
            <a:off x="1005206" y="1186944"/>
            <a:ext cx="5419726" cy="34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08" y="4602578"/>
            <a:ext cx="6377083" cy="161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dk1"/>
                </a:solidFill>
              </a:rPr>
              <a:t>More useful if we add a projection</a:t>
            </a:r>
            <a:endParaRPr/>
          </a:p>
        </p:txBody>
      </p:sp>
      <p:sp>
        <p:nvSpPr>
          <p:cNvPr id="558" name="Google Shape;558;p5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559" name="Google Shape;559;p52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65832"/>
          <a:stretch/>
        </p:blipFill>
        <p:spPr>
          <a:xfrm>
            <a:off x="838976" y="3490893"/>
            <a:ext cx="5481932" cy="4173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0" name="Google Shape;560;p52"/>
          <p:cNvGraphicFramePr/>
          <p:nvPr/>
        </p:nvGraphicFramePr>
        <p:xfrm>
          <a:off x="783000" y="4056030"/>
          <a:ext cx="7704875" cy="1595805"/>
        </p:xfrm>
        <a:graphic>
          <a:graphicData uri="http://schemas.openxmlformats.org/drawingml/2006/table">
            <a:tbl>
              <a:tblPr firstRow="1" bandRow="1">
                <a:noFill/>
                <a:tableStyleId>{7D277113-00BE-44F3-BF51-A666FCEA6D80}</a:tableStyleId>
              </a:tblPr>
              <a:tblGrid>
                <a:gridCol w="118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E’ment#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S’ee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S’or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D’ment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Degree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Psych.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Ph.D.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 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Comp.Sci.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Ph.D.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 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Comp.Sci.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 Chen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Comp.Sci.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1" name="Google Shape;561;p52"/>
          <p:cNvSpPr txBox="1"/>
          <p:nvPr/>
        </p:nvSpPr>
        <p:spPr>
          <a:xfrm>
            <a:off x="783000" y="5591599"/>
            <a:ext cx="7983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 equal attributes occur only once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 of these is also known as </a:t>
            </a:r>
            <a:r>
              <a:rPr lang="en-US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join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next to last is </a:t>
            </a:r>
            <a:r>
              <a:rPr lang="en-US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equi-join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562" name="Google Shape;562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1867469"/>
            <a:ext cx="6377083" cy="1612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2"/>
          <p:cNvPicPr preferRelativeResize="0"/>
          <p:nvPr/>
        </p:nvPicPr>
        <p:blipFill rotWithShape="1">
          <a:blip r:embed="rId5">
            <a:alphaModFix/>
          </a:blip>
          <a:srcRect b="37480"/>
          <a:stretch/>
        </p:blipFill>
        <p:spPr>
          <a:xfrm>
            <a:off x="805504" y="1124765"/>
            <a:ext cx="5480778" cy="766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6 JOIN</a:t>
            </a:r>
            <a:endParaRPr/>
          </a:p>
        </p:txBody>
      </p:sp>
      <p:sp>
        <p:nvSpPr>
          <p:cNvPr id="570" name="Google Shape;570;p5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71" name="Google Shape;571;p53"/>
          <p:cNvSpPr txBox="1"/>
          <p:nvPr/>
        </p:nvSpPr>
        <p:spPr>
          <a:xfrm>
            <a:off x="827584" y="1268760"/>
            <a:ext cx="75597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is used to combine related tuples from two relations into single "longer" tuples.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Theta-join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general join condition is of the form: 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 &lt;condition&gt;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&lt;condition&gt;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…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&lt;condition&gt; 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2" name="Google Shape;572;p53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576" y="2420888"/>
            <a:ext cx="7983244" cy="346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6.1 Equi-join</a:t>
            </a:r>
            <a:endParaRPr/>
          </a:p>
        </p:txBody>
      </p:sp>
      <p:sp>
        <p:nvSpPr>
          <p:cNvPr id="579" name="Google Shape;579;p54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 type of theta-join where the only comparison operator used is “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” is called an Equi-join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5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39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4"/>
          <p:cNvSpPr txBox="1"/>
          <p:nvPr/>
        </p:nvSpPr>
        <p:spPr>
          <a:xfrm>
            <a:off x="564242" y="2420888"/>
            <a:ext cx="7756799" cy="4972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9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6.2 Natural Join</a:t>
            </a:r>
            <a:endParaRPr/>
          </a:p>
        </p:txBody>
      </p:sp>
      <p:sp>
        <p:nvSpPr>
          <p:cNvPr id="588" name="Google Shape;588;p55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0" cy="4744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9" r="-809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589" name="Google Shape;589;p5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40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6.2 Natural Join</a:t>
            </a:r>
            <a:endParaRPr/>
          </a:p>
        </p:txBody>
      </p:sp>
      <p:sp>
        <p:nvSpPr>
          <p:cNvPr id="596" name="Google Shape;596;p56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0" cy="47445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 Intuitions:</a:t>
            </a:r>
            <a:endParaRPr sz="2400"/>
          </a:p>
          <a:p>
            <a:pPr marL="457200" lvl="0" indent="-3810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Enforce equality on all attributes with same name </a:t>
            </a:r>
            <a:endParaRPr sz="240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Eliminate one copy of duplicated attributes</a:t>
            </a:r>
            <a:endParaRPr sz="2400"/>
          </a:p>
        </p:txBody>
      </p:sp>
      <p:sp>
        <p:nvSpPr>
          <p:cNvPr id="597" name="Google Shape;597;p5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JOINS</a:t>
            </a:r>
            <a:endParaRPr/>
          </a:p>
        </p:txBody>
      </p:sp>
      <p:sp>
        <p:nvSpPr>
          <p:cNvPr id="604" name="Google Shape;604;p57"/>
          <p:cNvSpPr txBox="1">
            <a:spLocks noGrp="1"/>
          </p:cNvSpPr>
          <p:nvPr>
            <p:ph type="body" idx="1"/>
          </p:nvPr>
        </p:nvSpPr>
        <p:spPr>
          <a:xfrm>
            <a:off x="822959" y="1115994"/>
            <a:ext cx="7543800" cy="4744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7" t="-1413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605" name="Google Shape;605;p5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42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Pracs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13" name="Google Shape;613;p58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0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4" name="Google Shape;614;p58"/>
          <p:cNvGraphicFramePr/>
          <p:nvPr/>
        </p:nvGraphicFramePr>
        <p:xfrm>
          <a:off x="3354114" y="1404361"/>
          <a:ext cx="2764450" cy="1037265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C.C.Chen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R.G.Wilkinson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15" name="Google Shape;615;p58"/>
          <p:cNvGraphicFramePr/>
          <p:nvPr/>
        </p:nvGraphicFramePr>
        <p:xfrm>
          <a:off x="787734" y="1408538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/>
                        <a:t>Mr</a:t>
                      </a:r>
                      <a:r>
                        <a:rPr lang="en-US" sz="1600" u="none" strike="noStrike" cap="none"/>
                        <a:t> </a:t>
                      </a:r>
                      <a:r>
                        <a:rPr lang="en-US" sz="1600"/>
                        <a:t>J.He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K.Juliff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J.Gledill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B.K.Lee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6" name="Google Shape;616;p58"/>
          <p:cNvSpPr txBox="1"/>
          <p:nvPr/>
        </p:nvSpPr>
        <p:spPr>
          <a:xfrm>
            <a:off x="788675" y="99221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8"/>
          <p:cNvSpPr txBox="1"/>
          <p:nvPr/>
        </p:nvSpPr>
        <p:spPr>
          <a:xfrm>
            <a:off x="3354114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8" name="Google Shape;618;p58"/>
          <p:cNvGraphicFramePr/>
          <p:nvPr/>
        </p:nvGraphicFramePr>
        <p:xfrm>
          <a:off x="6281744" y="1404361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Depart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Degree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9" name="Google Shape;619;p58"/>
          <p:cNvSpPr txBox="1"/>
          <p:nvPr/>
        </p:nvSpPr>
        <p:spPr>
          <a:xfrm>
            <a:off x="6226342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0" name="Google Shape;620;p58"/>
          <p:cNvGraphicFramePr/>
          <p:nvPr/>
        </p:nvGraphicFramePr>
        <p:xfrm>
          <a:off x="787734" y="3608178"/>
          <a:ext cx="6928125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Enrol#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Supervisee​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Supervisor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Depart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Degree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1" name="Google Shape;621;p58"/>
          <p:cNvSpPr txBox="1"/>
          <p:nvPr/>
        </p:nvSpPr>
        <p:spPr>
          <a:xfrm>
            <a:off x="762953" y="321508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Pracs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29" name="Google Shape;629;p59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sz="10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0" name="Google Shape;630;p59"/>
          <p:cNvGraphicFramePr/>
          <p:nvPr/>
        </p:nvGraphicFramePr>
        <p:xfrm>
          <a:off x="3354114" y="1404361"/>
          <a:ext cx="2764450" cy="1037265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C.C.Chen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R.G.Wilkinson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1" name="Google Shape;631;p59"/>
          <p:cNvGraphicFramePr/>
          <p:nvPr/>
        </p:nvGraphicFramePr>
        <p:xfrm>
          <a:off x="787734" y="1408538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/>
                        <a:t>Mr J.He​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K.Juliff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J.Gledill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B.K.Lee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2" name="Google Shape;632;p59"/>
          <p:cNvSpPr txBox="1"/>
          <p:nvPr/>
        </p:nvSpPr>
        <p:spPr>
          <a:xfrm>
            <a:off x="788675" y="99221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9"/>
          <p:cNvSpPr txBox="1"/>
          <p:nvPr/>
        </p:nvSpPr>
        <p:spPr>
          <a:xfrm>
            <a:off x="3354114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4" name="Google Shape;634;p59"/>
          <p:cNvGraphicFramePr/>
          <p:nvPr/>
        </p:nvGraphicFramePr>
        <p:xfrm>
          <a:off x="6281744" y="1404361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Depart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Degree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5" name="Google Shape;635;p59"/>
          <p:cNvSpPr txBox="1"/>
          <p:nvPr/>
        </p:nvSpPr>
        <p:spPr>
          <a:xfrm>
            <a:off x="6226342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6" name="Google Shape;636;p59"/>
          <p:cNvGraphicFramePr/>
          <p:nvPr/>
        </p:nvGraphicFramePr>
        <p:xfrm>
          <a:off x="787734" y="3608178"/>
          <a:ext cx="6928125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Enrol#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Supervisee​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Supervisor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Depart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Degree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7" name="Google Shape;637;p59"/>
          <p:cNvSpPr txBox="1"/>
          <p:nvPr/>
        </p:nvSpPr>
        <p:spPr>
          <a:xfrm>
            <a:off x="762953" y="321508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9"/>
          <p:cNvSpPr txBox="1"/>
          <p:nvPr/>
        </p:nvSpPr>
        <p:spPr>
          <a:xfrm>
            <a:off x="762953" y="5503860"/>
            <a:ext cx="705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 names of students who are studying MSc in computer science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Pracs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6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46" name="Google Shape;646;p60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sz="10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7" name="Google Shape;647;p60"/>
          <p:cNvGraphicFramePr/>
          <p:nvPr/>
        </p:nvGraphicFramePr>
        <p:xfrm>
          <a:off x="3354114" y="1404361"/>
          <a:ext cx="2764450" cy="1037265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C.C.Chen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R.G.Wilkinson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8" name="Google Shape;648;p60"/>
          <p:cNvGraphicFramePr/>
          <p:nvPr/>
        </p:nvGraphicFramePr>
        <p:xfrm>
          <a:off x="787734" y="1408538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/>
                        <a:t>Mr J.He​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K.Juliff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J.Gledill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B.K.Lee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9" name="Google Shape;649;p60"/>
          <p:cNvSpPr txBox="1"/>
          <p:nvPr/>
        </p:nvSpPr>
        <p:spPr>
          <a:xfrm>
            <a:off x="788675" y="99221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60"/>
          <p:cNvSpPr txBox="1"/>
          <p:nvPr/>
        </p:nvSpPr>
        <p:spPr>
          <a:xfrm>
            <a:off x="3354114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1" name="Google Shape;651;p60"/>
          <p:cNvGraphicFramePr/>
          <p:nvPr/>
        </p:nvGraphicFramePr>
        <p:xfrm>
          <a:off x="6281744" y="1404361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Depart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Degree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2" name="Google Shape;652;p60"/>
          <p:cNvSpPr txBox="1"/>
          <p:nvPr/>
        </p:nvSpPr>
        <p:spPr>
          <a:xfrm>
            <a:off x="6226342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3" name="Google Shape;653;p60"/>
          <p:cNvGraphicFramePr/>
          <p:nvPr/>
        </p:nvGraphicFramePr>
        <p:xfrm>
          <a:off x="787734" y="3608178"/>
          <a:ext cx="6928125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Enrol#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Supervisee​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Supervisor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Depart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Degree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4" name="Google Shape;654;p60"/>
          <p:cNvSpPr txBox="1"/>
          <p:nvPr/>
        </p:nvSpPr>
        <p:spPr>
          <a:xfrm>
            <a:off x="762953" y="321508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60"/>
          <p:cNvSpPr txBox="1"/>
          <p:nvPr/>
        </p:nvSpPr>
        <p:spPr>
          <a:xfrm>
            <a:off x="762953" y="5503860"/>
            <a:ext cx="705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 names of students who are studying MSc in computer science</a:t>
            </a:r>
            <a:endParaRPr/>
          </a:p>
        </p:txBody>
      </p:sp>
      <p:sp>
        <p:nvSpPr>
          <p:cNvPr id="656" name="Google Shape;656;p60"/>
          <p:cNvSpPr txBox="1"/>
          <p:nvPr/>
        </p:nvSpPr>
        <p:spPr>
          <a:xfrm>
            <a:off x="762952" y="5892369"/>
            <a:ext cx="7165800" cy="36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8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Pracs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6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64" name="Google Shape;664;p61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 sz="10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5" name="Google Shape;665;p61"/>
          <p:cNvGraphicFramePr/>
          <p:nvPr/>
        </p:nvGraphicFramePr>
        <p:xfrm>
          <a:off x="3354114" y="1404361"/>
          <a:ext cx="2764450" cy="1037265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C.C.Chen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R.G.Wilkinson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66" name="Google Shape;666;p61"/>
          <p:cNvGraphicFramePr/>
          <p:nvPr/>
        </p:nvGraphicFramePr>
        <p:xfrm>
          <a:off x="787734" y="1408538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/>
                        <a:t>Mr J.He​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K.Juliff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J.Gledill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B.K.Lee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67" name="Google Shape;667;p61"/>
          <p:cNvSpPr txBox="1"/>
          <p:nvPr/>
        </p:nvSpPr>
        <p:spPr>
          <a:xfrm>
            <a:off x="788675" y="99221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61"/>
          <p:cNvSpPr txBox="1"/>
          <p:nvPr/>
        </p:nvSpPr>
        <p:spPr>
          <a:xfrm>
            <a:off x="3354114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9" name="Google Shape;669;p61"/>
          <p:cNvGraphicFramePr/>
          <p:nvPr/>
        </p:nvGraphicFramePr>
        <p:xfrm>
          <a:off x="6281744" y="1404361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Depart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Degree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0" name="Google Shape;670;p61"/>
          <p:cNvSpPr txBox="1"/>
          <p:nvPr/>
        </p:nvSpPr>
        <p:spPr>
          <a:xfrm>
            <a:off x="6226342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1" name="Google Shape;671;p61"/>
          <p:cNvGraphicFramePr/>
          <p:nvPr/>
        </p:nvGraphicFramePr>
        <p:xfrm>
          <a:off x="787734" y="3608178"/>
          <a:ext cx="6928125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Enrol#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Supervisee​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Supervisor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Depart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Degree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2" name="Google Shape;672;p61"/>
          <p:cNvSpPr txBox="1"/>
          <p:nvPr/>
        </p:nvSpPr>
        <p:spPr>
          <a:xfrm>
            <a:off x="762953" y="321508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61"/>
          <p:cNvSpPr txBox="1"/>
          <p:nvPr/>
        </p:nvSpPr>
        <p:spPr>
          <a:xfrm>
            <a:off x="762953" y="5308360"/>
            <a:ext cx="530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IDs of students who are supervised by Dr C.C.Chen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Pracs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681" name="Google Shape;681;p62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 sz="10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2" name="Google Shape;682;p62"/>
          <p:cNvGraphicFramePr/>
          <p:nvPr/>
        </p:nvGraphicFramePr>
        <p:xfrm>
          <a:off x="3354114" y="1404361"/>
          <a:ext cx="2764450" cy="1037265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C.C.Chen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R.G.Wilkinson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83" name="Google Shape;683;p62"/>
          <p:cNvGraphicFramePr/>
          <p:nvPr/>
        </p:nvGraphicFramePr>
        <p:xfrm>
          <a:off x="787734" y="1408538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/>
                        <a:t>Mr J.He​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K.Juliff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J.Gledill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B.K.Lee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4" name="Google Shape;684;p62"/>
          <p:cNvSpPr txBox="1"/>
          <p:nvPr/>
        </p:nvSpPr>
        <p:spPr>
          <a:xfrm>
            <a:off x="788675" y="99221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2"/>
          <p:cNvSpPr txBox="1"/>
          <p:nvPr/>
        </p:nvSpPr>
        <p:spPr>
          <a:xfrm>
            <a:off x="3354114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6" name="Google Shape;686;p62"/>
          <p:cNvGraphicFramePr/>
          <p:nvPr/>
        </p:nvGraphicFramePr>
        <p:xfrm>
          <a:off x="6281744" y="1404361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Depart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Degree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7" name="Google Shape;687;p62"/>
          <p:cNvSpPr txBox="1"/>
          <p:nvPr/>
        </p:nvSpPr>
        <p:spPr>
          <a:xfrm>
            <a:off x="6226342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8" name="Google Shape;688;p62"/>
          <p:cNvGraphicFramePr/>
          <p:nvPr/>
        </p:nvGraphicFramePr>
        <p:xfrm>
          <a:off x="787734" y="3608178"/>
          <a:ext cx="6928125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Enrol#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Supervisee​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Supervisor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Depart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Degree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9" name="Google Shape;689;p62"/>
          <p:cNvSpPr txBox="1"/>
          <p:nvPr/>
        </p:nvSpPr>
        <p:spPr>
          <a:xfrm>
            <a:off x="762953" y="321508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2"/>
          <p:cNvSpPr txBox="1"/>
          <p:nvPr/>
        </p:nvSpPr>
        <p:spPr>
          <a:xfrm>
            <a:off x="762953" y="5308360"/>
            <a:ext cx="530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IDs of students who are supervised by Dr C.C.Chen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2"/>
          <p:cNvSpPr txBox="1"/>
          <p:nvPr/>
        </p:nvSpPr>
        <p:spPr>
          <a:xfrm>
            <a:off x="2598000" y="5495488"/>
            <a:ext cx="5718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R1 = ENROLMENT ⋈ (supervisor=person#) RESEARCHER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R2 = σ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(name=Dr C.C.Chen)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R1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R3= 𝝅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{supervisee}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Divide</a:t>
            </a:r>
            <a:endParaRPr/>
          </a:p>
        </p:txBody>
      </p:sp>
      <p:sp>
        <p:nvSpPr>
          <p:cNvPr id="698" name="Google Shape;698;p6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The DIVISION operation is applied to two Relations R and S, where the attributes of S are a subset of the attributes of R. </a:t>
            </a:r>
            <a:endParaRPr sz="1800"/>
          </a:p>
          <a:p>
            <a:pPr marL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The relation returned by division operator will have attributes = (All attributes of R – All Attributes of S)</a:t>
            </a:r>
            <a:endParaRPr sz="1800"/>
          </a:p>
          <a:p>
            <a:pPr marL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>
                <a:highlight>
                  <a:srgbClr val="FFFF99"/>
                </a:highlight>
              </a:rPr>
              <a:t>Return all tuples from relation R which are associated to every S’s tuple.</a:t>
            </a:r>
            <a:endParaRPr sz="1800">
              <a:highlight>
                <a:srgbClr val="FFFF99"/>
              </a:highlight>
            </a:endParaRPr>
          </a:p>
          <a:p>
            <a:pPr marL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699" name="Google Shape;699;p6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graphicFrame>
        <p:nvGraphicFramePr>
          <p:cNvPr id="700" name="Google Shape;700;p63"/>
          <p:cNvGraphicFramePr/>
          <p:nvPr/>
        </p:nvGraphicFramePr>
        <p:xfrm>
          <a:off x="1173997" y="3254391"/>
          <a:ext cx="1319800" cy="2966800"/>
        </p:xfrm>
        <a:graphic>
          <a:graphicData uri="http://schemas.openxmlformats.org/drawingml/2006/table">
            <a:tbl>
              <a:tblPr firstRow="1" bandRow="1">
                <a:noFill/>
                <a:tableStyleId>{AB5DD4C4-DBC2-47FA-AB15-5AE42B9B8831}</a:tableStyleId>
              </a:tblPr>
              <a:tblGrid>
                <a:gridCol w="67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01" name="Google Shape;701;p63"/>
          <p:cNvGraphicFramePr/>
          <p:nvPr/>
        </p:nvGraphicFramePr>
        <p:xfrm>
          <a:off x="2758295" y="3254391"/>
          <a:ext cx="527725" cy="1112550"/>
        </p:xfrm>
        <a:graphic>
          <a:graphicData uri="http://schemas.openxmlformats.org/drawingml/2006/table">
            <a:tbl>
              <a:tblPr firstRow="1" bandRow="1">
                <a:noFill/>
                <a:tableStyleId>{AB5DD4C4-DBC2-47FA-AB15-5AE42B9B8831}</a:tableStyleId>
              </a:tblPr>
              <a:tblGrid>
                <a:gridCol w="52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2" name="Google Shape;702;p63"/>
          <p:cNvSpPr txBox="1"/>
          <p:nvPr/>
        </p:nvSpPr>
        <p:spPr>
          <a:xfrm>
            <a:off x="3471083" y="4000235"/>
            <a:ext cx="3264600" cy="50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3" name="Google Shape;703;p63"/>
          <p:cNvSpPr txBox="1"/>
          <p:nvPr/>
        </p:nvSpPr>
        <p:spPr>
          <a:xfrm>
            <a:off x="690370" y="3324431"/>
            <a:ext cx="35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704" name="Google Shape;704;p63"/>
          <p:cNvSpPr txBox="1"/>
          <p:nvPr/>
        </p:nvSpPr>
        <p:spPr>
          <a:xfrm>
            <a:off x="3471083" y="3285431"/>
            <a:ext cx="35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aphicFrame>
        <p:nvGraphicFramePr>
          <p:cNvPr id="705" name="Google Shape;705;p63"/>
          <p:cNvGraphicFramePr/>
          <p:nvPr/>
        </p:nvGraphicFramePr>
        <p:xfrm>
          <a:off x="5785783" y="3693763"/>
          <a:ext cx="527725" cy="1207525"/>
        </p:xfrm>
        <a:graphic>
          <a:graphicData uri="http://schemas.openxmlformats.org/drawingml/2006/table">
            <a:tbl>
              <a:tblPr firstRow="1" bandRow="1">
                <a:noFill/>
                <a:tableStyleId>{AB5DD4C4-DBC2-47FA-AB15-5AE42B9B8831}</a:tableStyleId>
              </a:tblPr>
              <a:tblGrid>
                <a:gridCol w="52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1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7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7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7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80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6" name="Google Shape;706;p63"/>
          <p:cNvSpPr/>
          <p:nvPr/>
        </p:nvSpPr>
        <p:spPr>
          <a:xfrm>
            <a:off x="1316668" y="3659541"/>
            <a:ext cx="1019400" cy="707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63"/>
          <p:cNvSpPr/>
          <p:nvPr/>
        </p:nvSpPr>
        <p:spPr>
          <a:xfrm>
            <a:off x="1316667" y="5537771"/>
            <a:ext cx="1019400" cy="683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4"/>
          <p:cNvSpPr txBox="1">
            <a:spLocks noGrp="1"/>
          </p:cNvSpPr>
          <p:nvPr>
            <p:ph type="body" idx="1"/>
          </p:nvPr>
        </p:nvSpPr>
        <p:spPr>
          <a:xfrm>
            <a:off x="683568" y="1196752"/>
            <a:ext cx="8229600" cy="51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Typical use: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which courses are offered by all departments?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3" name="Google Shape;713;p6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pic>
        <p:nvPicPr>
          <p:cNvPr id="714" name="Google Shape;714;p64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6610" y="1967672"/>
            <a:ext cx="4599518" cy="355953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DIVIDE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Divide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6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869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723" name="Google Shape;723;p6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graphicFrame>
        <p:nvGraphicFramePr>
          <p:cNvPr id="724" name="Google Shape;724;p65"/>
          <p:cNvGraphicFramePr/>
          <p:nvPr/>
        </p:nvGraphicFramePr>
        <p:xfrm>
          <a:off x="5831744" y="1925405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Depart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Degree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5" name="Google Shape;725;p65"/>
          <p:cNvSpPr txBox="1"/>
          <p:nvPr/>
        </p:nvSpPr>
        <p:spPr>
          <a:xfrm>
            <a:off x="5776342" y="153266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Pracs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6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733" name="Google Shape;733;p66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 sz="10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4" name="Google Shape;734;p66"/>
          <p:cNvGraphicFramePr/>
          <p:nvPr/>
        </p:nvGraphicFramePr>
        <p:xfrm>
          <a:off x="3354114" y="1404361"/>
          <a:ext cx="2764450" cy="1037265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C.C.Chen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Dr R.G.Wilkinson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35" name="Google Shape;735;p66"/>
          <p:cNvGraphicFramePr/>
          <p:nvPr/>
        </p:nvGraphicFramePr>
        <p:xfrm>
          <a:off x="787734" y="1408538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Person#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Name​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/>
                        <a:t>Mr J.He​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K.Juliff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J.Gledill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 B.K.Lee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6" name="Google Shape;736;p66"/>
          <p:cNvSpPr txBox="1"/>
          <p:nvPr/>
        </p:nvSpPr>
        <p:spPr>
          <a:xfrm>
            <a:off x="788675" y="99221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66"/>
          <p:cNvSpPr txBox="1"/>
          <p:nvPr/>
        </p:nvSpPr>
        <p:spPr>
          <a:xfrm>
            <a:off x="3354114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8" name="Google Shape;738;p66"/>
          <p:cNvGraphicFramePr/>
          <p:nvPr/>
        </p:nvGraphicFramePr>
        <p:xfrm>
          <a:off x="6281744" y="1404361"/>
          <a:ext cx="2403200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Depart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Degree</a:t>
                      </a:r>
                      <a:r>
                        <a:rPr lang="en-US" sz="1600" u="none" strike="noStrike" cap="none"/>
                        <a:t>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9" name="Google Shape;739;p66"/>
          <p:cNvSpPr txBox="1"/>
          <p:nvPr/>
        </p:nvSpPr>
        <p:spPr>
          <a:xfrm>
            <a:off x="6226342" y="101162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0" name="Google Shape;740;p66"/>
          <p:cNvGraphicFramePr/>
          <p:nvPr/>
        </p:nvGraphicFramePr>
        <p:xfrm>
          <a:off x="787734" y="3608178"/>
          <a:ext cx="6928125" cy="1676450"/>
        </p:xfrm>
        <a:graphic>
          <a:graphicData uri="http://schemas.openxmlformats.org/drawingml/2006/table">
            <a:tbl>
              <a:tblPr firstRow="1" bandRow="1">
                <a:noFill/>
                <a:tableStyleId>{1D525B72-3256-44CC-B9A3-D62408063D57}</a:tableStyleId>
              </a:tblPr>
              <a:tblGrid>
                <a:gridCol w="10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sng" strike="noStrike" cap="none"/>
                        <a:t>Enrol#</a:t>
                      </a:r>
                      <a:endParaRPr sz="1600" u="sng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Supervisee​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Supervisor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Depart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Degree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1​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PhD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600" u="none" strike="noStrike" cap="none"/>
                        <a:t>MSc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41" name="Google Shape;741;p66"/>
          <p:cNvSpPr txBox="1"/>
          <p:nvPr/>
        </p:nvSpPr>
        <p:spPr>
          <a:xfrm>
            <a:off x="762953" y="321508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66"/>
          <p:cNvSpPr txBox="1"/>
          <p:nvPr/>
        </p:nvSpPr>
        <p:spPr>
          <a:xfrm>
            <a:off x="762953" y="5503860"/>
            <a:ext cx="652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names of supervisor who supervises both MSc and PhD students</a:t>
            </a:r>
            <a:endParaRPr/>
          </a:p>
        </p:txBody>
      </p:sp>
      <p:sp>
        <p:nvSpPr>
          <p:cNvPr id="743" name="Google Shape;743;p66"/>
          <p:cNvSpPr txBox="1"/>
          <p:nvPr/>
        </p:nvSpPr>
        <p:spPr>
          <a:xfrm>
            <a:off x="1100650" y="5731600"/>
            <a:ext cx="758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R1 =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𝝅 </a:t>
            </a:r>
            <a:r>
              <a:rPr lang="en-US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{SUPERVISOR,DEGREE}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ENROLMET ÷ 𝝅 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{DEGREE}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COURSE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R2 =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𝝅</a:t>
            </a:r>
            <a:r>
              <a:rPr lang="en-US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R1 ⋈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 (supervisor=person#)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RESEARCH)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749" name="Google Shape;749;p6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750" name="Google Shape;750;p67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</a:t>
            </a:fld>
            <a:endParaRPr sz="105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51" name="Google Shape;751;p67"/>
          <p:cNvGraphicFramePr/>
          <p:nvPr/>
        </p:nvGraphicFramePr>
        <p:xfrm>
          <a:off x="4952649" y="552235"/>
          <a:ext cx="3785550" cy="1225365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2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52" name="Google Shape;752;p67"/>
          <p:cNvGraphicFramePr/>
          <p:nvPr/>
        </p:nvGraphicFramePr>
        <p:xfrm>
          <a:off x="549982" y="1700808"/>
          <a:ext cx="3162550" cy="19191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9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Person#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53" name="Google Shape;753;p67"/>
          <p:cNvGraphicFramePr/>
          <p:nvPr/>
        </p:nvGraphicFramePr>
        <p:xfrm>
          <a:off x="4952649" y="2274019"/>
          <a:ext cx="3452525" cy="19379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8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Department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4" name="Google Shape;754;p67"/>
          <p:cNvSpPr txBox="1"/>
          <p:nvPr/>
        </p:nvSpPr>
        <p:spPr>
          <a:xfrm>
            <a:off x="683568" y="125946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</a:t>
            </a:r>
            <a:endParaRPr/>
          </a:p>
        </p:txBody>
      </p:sp>
      <p:sp>
        <p:nvSpPr>
          <p:cNvPr id="755" name="Google Shape;755;p67"/>
          <p:cNvSpPr txBox="1"/>
          <p:nvPr/>
        </p:nvSpPr>
        <p:spPr>
          <a:xfrm>
            <a:off x="5029790" y="145123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RESEARCHER: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67"/>
          <p:cNvSpPr txBox="1"/>
          <p:nvPr/>
        </p:nvSpPr>
        <p:spPr>
          <a:xfrm>
            <a:off x="5029790" y="1847863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</a:t>
            </a:r>
            <a:endParaRPr/>
          </a:p>
        </p:txBody>
      </p:sp>
      <p:sp>
        <p:nvSpPr>
          <p:cNvPr id="757" name="Google Shape;757;p67"/>
          <p:cNvSpPr txBox="1"/>
          <p:nvPr/>
        </p:nvSpPr>
        <p:spPr>
          <a:xfrm>
            <a:off x="683568" y="386104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ENROLMENT:</a:t>
            </a:r>
            <a:endParaRPr/>
          </a:p>
        </p:txBody>
      </p:sp>
      <p:graphicFrame>
        <p:nvGraphicFramePr>
          <p:cNvPr id="758" name="Google Shape;758;p67"/>
          <p:cNvGraphicFramePr/>
          <p:nvPr/>
        </p:nvGraphicFramePr>
        <p:xfrm>
          <a:off x="606427" y="4324834"/>
          <a:ext cx="7773500" cy="18288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5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764" name="Google Shape;764;p6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765" name="Google Shape;765;p68"/>
          <p:cNvSpPr txBox="1"/>
          <p:nvPr/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</a:t>
            </a:fld>
            <a:endParaRPr sz="105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66" name="Google Shape;766;p68"/>
          <p:cNvGraphicFramePr/>
          <p:nvPr/>
        </p:nvGraphicFramePr>
        <p:xfrm>
          <a:off x="5436096" y="2035898"/>
          <a:ext cx="3162550" cy="11853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9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7" name="Google Shape;767;p68"/>
          <p:cNvSpPr txBox="1"/>
          <p:nvPr/>
        </p:nvSpPr>
        <p:spPr>
          <a:xfrm>
            <a:off x="5569682" y="159455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S:</a:t>
            </a:r>
            <a:endParaRPr/>
          </a:p>
        </p:txBody>
      </p:sp>
      <p:sp>
        <p:nvSpPr>
          <p:cNvPr id="768" name="Google Shape;768;p68"/>
          <p:cNvSpPr txBox="1"/>
          <p:nvPr/>
        </p:nvSpPr>
        <p:spPr>
          <a:xfrm>
            <a:off x="647853" y="157211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R:</a:t>
            </a:r>
            <a:endParaRPr/>
          </a:p>
        </p:txBody>
      </p:sp>
      <p:graphicFrame>
        <p:nvGraphicFramePr>
          <p:cNvPr id="769" name="Google Shape;769;p68"/>
          <p:cNvGraphicFramePr/>
          <p:nvPr/>
        </p:nvGraphicFramePr>
        <p:xfrm>
          <a:off x="570712" y="2035898"/>
          <a:ext cx="4664100" cy="365770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5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70" name="Google Shape;770;p68"/>
          <p:cNvSpPr txBox="1"/>
          <p:nvPr/>
        </p:nvSpPr>
        <p:spPr>
          <a:xfrm>
            <a:off x="5441275" y="3498975"/>
            <a:ext cx="3000000" cy="22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relational algebra that retrieve: 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Find A of </a:t>
            </a:r>
            <a:r>
              <a:rPr lang="en-US" sz="2000" i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contains all </a:t>
            </a:r>
            <a:r>
              <a:rPr lang="en-US" sz="2000" i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Find (A, B) of </a:t>
            </a:r>
            <a:r>
              <a:rPr lang="en-US" sz="2000" i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contains all C of </a:t>
            </a:r>
            <a:r>
              <a:rPr lang="en-US" sz="2000" i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Exercise Answers: </a:t>
            </a:r>
            <a:endParaRPr/>
          </a:p>
        </p:txBody>
      </p:sp>
      <p:sp>
        <p:nvSpPr>
          <p:cNvPr id="776" name="Google Shape;776;p69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0" cy="4744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9" t="-1409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777" name="Google Shape;777;p6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54</a:t>
            </a:fld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778" name="Google Shape;778;p69"/>
          <p:cNvGraphicFramePr/>
          <p:nvPr/>
        </p:nvGraphicFramePr>
        <p:xfrm>
          <a:off x="3275856" y="1424050"/>
          <a:ext cx="1599375" cy="780825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59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9" name="Google Shape;779;p69"/>
          <p:cNvGraphicFramePr/>
          <p:nvPr/>
        </p:nvGraphicFramePr>
        <p:xfrm>
          <a:off x="3131840" y="3645024"/>
          <a:ext cx="1520750" cy="117680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7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lang="en-US" sz="1800" baseline="-250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/>
                        <a:t>b</a:t>
                      </a:r>
                      <a:r>
                        <a:rPr lang="en-US" sz="1800" baseline="-250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Rename Operator</a:t>
            </a:r>
            <a:endParaRPr/>
          </a:p>
        </p:txBody>
      </p:sp>
      <p:sp>
        <p:nvSpPr>
          <p:cNvPr id="786" name="Google Shape;786;p70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    </a:t>
            </a:r>
            <a:endParaRPr/>
          </a:p>
        </p:txBody>
      </p:sp>
      <p:sp>
        <p:nvSpPr>
          <p:cNvPr id="787" name="Google Shape;787;p70"/>
          <p:cNvSpPr/>
          <p:nvPr/>
        </p:nvSpPr>
        <p:spPr>
          <a:xfrm>
            <a:off x="844550" y="1273175"/>
            <a:ext cx="7975600" cy="482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rename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operator </a:t>
            </a:r>
            <a:r>
              <a:rPr lang="en-US" sz="24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ρ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changes the name of one or more attributes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names in a schema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affect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instance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target relation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might this be useful? To be included in relational algebra?</a:t>
            </a:r>
            <a:endParaRPr/>
          </a:p>
        </p:txBody>
      </p:sp>
      <p:grpSp>
        <p:nvGrpSpPr>
          <p:cNvPr id="788" name="Google Shape;788;p70"/>
          <p:cNvGrpSpPr/>
          <p:nvPr/>
        </p:nvGrpSpPr>
        <p:grpSpPr>
          <a:xfrm>
            <a:off x="1043608" y="2693975"/>
            <a:ext cx="7590816" cy="1981212"/>
            <a:chOff x="905438" y="3138642"/>
            <a:chExt cx="7590816" cy="1981212"/>
          </a:xfrm>
        </p:grpSpPr>
        <p:grpSp>
          <p:nvGrpSpPr>
            <p:cNvPr id="789" name="Google Shape;789;p70"/>
            <p:cNvGrpSpPr/>
            <p:nvPr/>
          </p:nvGrpSpPr>
          <p:grpSpPr>
            <a:xfrm>
              <a:off x="905438" y="3238666"/>
              <a:ext cx="2743200" cy="1881188"/>
              <a:chOff x="1000" y="1495"/>
              <a:chExt cx="1728" cy="1185"/>
            </a:xfrm>
          </p:grpSpPr>
          <p:sp>
            <p:nvSpPr>
              <p:cNvPr id="790" name="Google Shape;790;p70"/>
              <p:cNvSpPr/>
              <p:nvPr/>
            </p:nvSpPr>
            <p:spPr>
              <a:xfrm>
                <a:off x="1093" y="1495"/>
                <a:ext cx="864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B050"/>
                    </a:solidFill>
                    <a:latin typeface="Arial"/>
                    <a:ea typeface="Arial"/>
                    <a:cs typeface="Arial"/>
                    <a:sym typeface="Arial"/>
                  </a:rPr>
                  <a:t>Family</a:t>
                </a:r>
                <a:endParaRPr/>
              </a:p>
            </p:txBody>
          </p:sp>
          <p:grpSp>
            <p:nvGrpSpPr>
              <p:cNvPr id="791" name="Google Shape;791;p70"/>
              <p:cNvGrpSpPr/>
              <p:nvPr/>
            </p:nvGrpSpPr>
            <p:grpSpPr>
              <a:xfrm>
                <a:off x="1000" y="1720"/>
                <a:ext cx="1728" cy="960"/>
                <a:chOff x="864" y="1584"/>
                <a:chExt cx="1728" cy="960"/>
              </a:xfrm>
            </p:grpSpPr>
            <p:sp>
              <p:nvSpPr>
                <p:cNvPr id="792" name="Google Shape;792;p70"/>
                <p:cNvSpPr/>
                <p:nvPr/>
              </p:nvSpPr>
              <p:spPr>
                <a:xfrm>
                  <a:off x="864" y="1584"/>
                  <a:ext cx="960" cy="240"/>
                </a:xfrm>
                <a:prstGeom prst="rect">
                  <a:avLst/>
                </a:prstGeom>
                <a:solidFill>
                  <a:srgbClr val="FFCC66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Father</a:t>
                  </a:r>
                  <a:endParaRPr/>
                </a:p>
              </p:txBody>
            </p:sp>
            <p:sp>
              <p:nvSpPr>
                <p:cNvPr id="793" name="Google Shape;793;p70"/>
                <p:cNvSpPr/>
                <p:nvPr/>
              </p:nvSpPr>
              <p:spPr>
                <a:xfrm>
                  <a:off x="1824" y="1584"/>
                  <a:ext cx="768" cy="240"/>
                </a:xfrm>
                <a:prstGeom prst="rect">
                  <a:avLst/>
                </a:prstGeom>
                <a:solidFill>
                  <a:srgbClr val="FFCC66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Child</a:t>
                  </a:r>
                  <a:endParaRPr/>
                </a:p>
              </p:txBody>
            </p:sp>
            <p:sp>
              <p:nvSpPr>
                <p:cNvPr id="794" name="Google Shape;794;p70"/>
                <p:cNvSpPr/>
                <p:nvPr/>
              </p:nvSpPr>
              <p:spPr>
                <a:xfrm>
                  <a:off x="864" y="2064"/>
                  <a:ext cx="960" cy="240"/>
                </a:xfrm>
                <a:prstGeom prst="rect">
                  <a:avLst/>
                </a:prstGeom>
                <a:solidFill>
                  <a:srgbClr val="FFFF99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Adam</a:t>
                  </a:r>
                  <a:endParaRPr/>
                </a:p>
              </p:txBody>
            </p:sp>
            <p:sp>
              <p:nvSpPr>
                <p:cNvPr id="795" name="Google Shape;795;p70"/>
                <p:cNvSpPr/>
                <p:nvPr/>
              </p:nvSpPr>
              <p:spPr>
                <a:xfrm>
                  <a:off x="1824" y="2064"/>
                  <a:ext cx="768" cy="240"/>
                </a:xfrm>
                <a:prstGeom prst="rect">
                  <a:avLst/>
                </a:prstGeom>
                <a:solidFill>
                  <a:srgbClr val="FFFF99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Cain</a:t>
                  </a:r>
                  <a:endParaRPr/>
                </a:p>
              </p:txBody>
            </p:sp>
            <p:sp>
              <p:nvSpPr>
                <p:cNvPr id="796" name="Google Shape;796;p70"/>
                <p:cNvSpPr/>
                <p:nvPr/>
              </p:nvSpPr>
              <p:spPr>
                <a:xfrm>
                  <a:off x="864" y="2304"/>
                  <a:ext cx="960" cy="240"/>
                </a:xfrm>
                <a:prstGeom prst="rect">
                  <a:avLst/>
                </a:prstGeom>
                <a:solidFill>
                  <a:srgbClr val="FFFF99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Abraham</a:t>
                  </a:r>
                  <a:endParaRPr/>
                </a:p>
              </p:txBody>
            </p:sp>
            <p:sp>
              <p:nvSpPr>
                <p:cNvPr id="797" name="Google Shape;797;p70"/>
                <p:cNvSpPr/>
                <p:nvPr/>
              </p:nvSpPr>
              <p:spPr>
                <a:xfrm>
                  <a:off x="1824" y="2304"/>
                  <a:ext cx="768" cy="240"/>
                </a:xfrm>
                <a:prstGeom prst="rect">
                  <a:avLst/>
                </a:prstGeom>
                <a:solidFill>
                  <a:srgbClr val="FFFF99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Isaac</a:t>
                  </a:r>
                  <a:endParaRPr/>
                </a:p>
              </p:txBody>
            </p:sp>
            <p:sp>
              <p:nvSpPr>
                <p:cNvPr id="798" name="Google Shape;798;p70"/>
                <p:cNvSpPr/>
                <p:nvPr/>
              </p:nvSpPr>
              <p:spPr>
                <a:xfrm>
                  <a:off x="864" y="1824"/>
                  <a:ext cx="960" cy="240"/>
                </a:xfrm>
                <a:prstGeom prst="rect">
                  <a:avLst/>
                </a:prstGeom>
                <a:solidFill>
                  <a:srgbClr val="FFFF99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Adam</a:t>
                  </a:r>
                  <a:endParaRPr/>
                </a:p>
              </p:txBody>
            </p:sp>
            <p:sp>
              <p:nvSpPr>
                <p:cNvPr id="799" name="Google Shape;799;p70"/>
                <p:cNvSpPr/>
                <p:nvPr/>
              </p:nvSpPr>
              <p:spPr>
                <a:xfrm>
                  <a:off x="1824" y="1824"/>
                  <a:ext cx="768" cy="240"/>
                </a:xfrm>
                <a:prstGeom prst="rect">
                  <a:avLst/>
                </a:prstGeom>
                <a:solidFill>
                  <a:srgbClr val="FFFF99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Abel</a:t>
                  </a:r>
                  <a:endParaRPr/>
                </a:p>
              </p:txBody>
            </p:sp>
          </p:grpSp>
        </p:grpSp>
        <p:sp>
          <p:nvSpPr>
            <p:cNvPr id="800" name="Google Shape;800;p70"/>
            <p:cNvSpPr/>
            <p:nvPr/>
          </p:nvSpPr>
          <p:spPr>
            <a:xfrm>
              <a:off x="4276154" y="3138642"/>
              <a:ext cx="4220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ρ</a:t>
              </a:r>
              <a:r>
                <a:rPr lang="en-US" sz="2800" baseline="-250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 (Parent, Child) </a:t>
              </a:r>
              <a:r>
                <a:rPr lang="en-US" sz="24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(Family)</a:t>
              </a:r>
              <a:r>
                <a:rPr lang="en-US" sz="2400" b="1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id="801" name="Google Shape;801;p70"/>
            <p:cNvGrpSpPr/>
            <p:nvPr/>
          </p:nvGrpSpPr>
          <p:grpSpPr>
            <a:xfrm>
              <a:off x="4123764" y="3595853"/>
              <a:ext cx="2743200" cy="1524000"/>
              <a:chOff x="864" y="1584"/>
              <a:chExt cx="1728" cy="960"/>
            </a:xfrm>
          </p:grpSpPr>
          <p:sp>
            <p:nvSpPr>
              <p:cNvPr id="802" name="Google Shape;802;p70"/>
              <p:cNvSpPr/>
              <p:nvPr/>
            </p:nvSpPr>
            <p:spPr>
              <a:xfrm>
                <a:off x="864" y="1584"/>
                <a:ext cx="960" cy="240"/>
              </a:xfrm>
              <a:prstGeom prst="rect">
                <a:avLst/>
              </a:prstGeom>
              <a:solidFill>
                <a:schemeClr val="hlink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Parent</a:t>
                </a:r>
                <a:endParaRPr/>
              </a:p>
            </p:txBody>
          </p:sp>
          <p:sp>
            <p:nvSpPr>
              <p:cNvPr id="803" name="Google Shape;803;p70"/>
              <p:cNvSpPr/>
              <p:nvPr/>
            </p:nvSpPr>
            <p:spPr>
              <a:xfrm>
                <a:off x="1824" y="1584"/>
                <a:ext cx="768" cy="240"/>
              </a:xfrm>
              <a:prstGeom prst="rect">
                <a:avLst/>
              </a:prstGeom>
              <a:solidFill>
                <a:srgbClr val="FFCC66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Child</a:t>
                </a:r>
                <a:endParaRPr/>
              </a:p>
            </p:txBody>
          </p:sp>
          <p:sp>
            <p:nvSpPr>
              <p:cNvPr id="804" name="Google Shape;804;p70"/>
              <p:cNvSpPr/>
              <p:nvPr/>
            </p:nvSpPr>
            <p:spPr>
              <a:xfrm>
                <a:off x="864" y="2064"/>
                <a:ext cx="960" cy="240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Adam</a:t>
                </a:r>
                <a:endParaRPr/>
              </a:p>
            </p:txBody>
          </p:sp>
          <p:sp>
            <p:nvSpPr>
              <p:cNvPr id="805" name="Google Shape;805;p70"/>
              <p:cNvSpPr/>
              <p:nvPr/>
            </p:nvSpPr>
            <p:spPr>
              <a:xfrm>
                <a:off x="1824" y="2064"/>
                <a:ext cx="768" cy="240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Cain</a:t>
                </a:r>
                <a:endParaRPr/>
              </a:p>
            </p:txBody>
          </p:sp>
          <p:sp>
            <p:nvSpPr>
              <p:cNvPr id="806" name="Google Shape;806;p70"/>
              <p:cNvSpPr/>
              <p:nvPr/>
            </p:nvSpPr>
            <p:spPr>
              <a:xfrm>
                <a:off x="864" y="2304"/>
                <a:ext cx="960" cy="240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Abraham</a:t>
                </a:r>
                <a:endParaRPr/>
              </a:p>
            </p:txBody>
          </p:sp>
          <p:sp>
            <p:nvSpPr>
              <p:cNvPr id="807" name="Google Shape;807;p70"/>
              <p:cNvSpPr/>
              <p:nvPr/>
            </p:nvSpPr>
            <p:spPr>
              <a:xfrm>
                <a:off x="1824" y="2304"/>
                <a:ext cx="768" cy="240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Isaac</a:t>
                </a:r>
                <a:endParaRPr/>
              </a:p>
            </p:txBody>
          </p:sp>
          <p:sp>
            <p:nvSpPr>
              <p:cNvPr id="808" name="Google Shape;808;p70"/>
              <p:cNvSpPr/>
              <p:nvPr/>
            </p:nvSpPr>
            <p:spPr>
              <a:xfrm>
                <a:off x="864" y="1824"/>
                <a:ext cx="960" cy="240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Adam</a:t>
                </a:r>
                <a:endParaRPr/>
              </a:p>
            </p:txBody>
          </p:sp>
          <p:sp>
            <p:nvSpPr>
              <p:cNvPr id="809" name="Google Shape;809;p70"/>
              <p:cNvSpPr/>
              <p:nvPr/>
            </p:nvSpPr>
            <p:spPr>
              <a:xfrm>
                <a:off x="1824" y="1824"/>
                <a:ext cx="768" cy="240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Abel</a:t>
                </a:r>
                <a:endParaRPr/>
              </a:p>
            </p:txBody>
          </p:sp>
        </p:grpSp>
      </p:grpSp>
      <p:sp>
        <p:nvSpPr>
          <p:cNvPr id="810" name="Google Shape;810;p7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55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RENAME Operator?</a:t>
            </a:r>
            <a:endParaRPr/>
          </a:p>
        </p:txBody>
      </p:sp>
      <p:sp>
        <p:nvSpPr>
          <p:cNvPr id="817" name="Google Shape;817;p71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0" cy="47445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To unify schemas for set operators</a:t>
            </a:r>
            <a:endParaRPr sz="240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For disambiguation in “self-join”</a:t>
            </a:r>
            <a:endParaRPr sz="2400"/>
          </a:p>
        </p:txBody>
      </p:sp>
      <p:sp>
        <p:nvSpPr>
          <p:cNvPr id="818" name="Google Shape;818;p7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56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Basic vs Extended Operators</a:t>
            </a:r>
            <a:endParaRPr/>
          </a:p>
        </p:txBody>
      </p:sp>
      <p:sp>
        <p:nvSpPr>
          <p:cNvPr id="825" name="Google Shape;825;p72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Note:                               (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and rename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) are sufficient to define all these operations: this is a relationally complete set of operators. These are the </a:t>
            </a:r>
            <a:r>
              <a:rPr lang="en-US" sz="1900" b="1" i="1">
                <a:latin typeface="Calibri"/>
                <a:ea typeface="Calibri"/>
                <a:cs typeface="Calibri"/>
                <a:sym typeface="Calibri"/>
              </a:rPr>
              <a:t>basic operators 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of the Relational Algebra.</a:t>
            </a:r>
            <a:br>
              <a:rPr lang="en-US" sz="19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9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JOIN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INTERSECTION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DIVIDE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?</a:t>
            </a:r>
            <a:br>
              <a:rPr lang="en-US" sz="19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They are </a:t>
            </a:r>
            <a:r>
              <a:rPr lang="en-US" sz="1900" b="1" i="1">
                <a:latin typeface="Calibri"/>
                <a:ea typeface="Calibri"/>
                <a:cs typeface="Calibri"/>
                <a:sym typeface="Calibri"/>
              </a:rPr>
              <a:t>extended operators 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because they can be derived by the basic operators.</a:t>
            </a:r>
            <a:endParaRPr/>
          </a:p>
          <a:p>
            <a:pPr marL="91440" lvl="0" indent="-1206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E.g., We can write 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÷ 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as </a:t>
            </a:r>
            <a:endParaRPr/>
          </a:p>
          <a:p>
            <a:pPr marL="91440" lvl="0" indent="-91440" algn="l" rtl="0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TEMP1</a:t>
            </a:r>
            <a:r>
              <a:rPr lang="en-US" sz="1900" baseline="30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← π</a:t>
            </a:r>
            <a:r>
              <a:rPr lang="en-US" sz="1900" i="1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R-S</a:t>
            </a:r>
            <a:r>
              <a:rPr lang="en-US" sz="1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) </a:t>
            </a:r>
            <a:br>
              <a:rPr lang="en-US" sz="19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TEMP2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← π</a:t>
            </a:r>
            <a:r>
              <a:rPr lang="en-US" sz="1900" i="1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R-S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((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TEMP1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x 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) – π</a:t>
            </a:r>
            <a:r>
              <a:rPr lang="en-US" sz="1900" i="1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R-S,S</a:t>
            </a:r>
            <a:r>
              <a:rPr lang="en-US" sz="1900" i="1" baseline="-25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))</a:t>
            </a:r>
            <a:br>
              <a:rPr lang="en-US" sz="19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RESULT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TEMP1 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900" i="1">
                <a:latin typeface="Calibri"/>
                <a:ea typeface="Calibri"/>
                <a:cs typeface="Calibri"/>
                <a:sym typeface="Calibri"/>
              </a:rPr>
              <a:t> TEMP2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628650" lvl="1" indent="-18288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900"/>
              <a:buChar char="◦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The result to the right of ← is assigned to the relation variable on the left of ←.</a:t>
            </a:r>
            <a:endParaRPr/>
          </a:p>
          <a:p>
            <a:pPr marL="628650" lvl="1" indent="-18288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00"/>
              <a:buChar char="◦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May use variable in subsequent expressions.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</a:pP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7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57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827" name="Google Shape;827;p72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672" y="1124744"/>
            <a:ext cx="1440160" cy="374768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2"/>
          <p:cNvSpPr/>
          <p:nvPr/>
        </p:nvSpPr>
        <p:spPr>
          <a:xfrm>
            <a:off x="2337616" y="3496919"/>
            <a:ext cx="4104600" cy="1224000"/>
          </a:xfrm>
          <a:prstGeom prst="rect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Aggregate Operators </a:t>
            </a:r>
            <a:endParaRPr/>
          </a:p>
        </p:txBody>
      </p:sp>
      <p:sp>
        <p:nvSpPr>
          <p:cNvPr id="835" name="Google Shape;835;p73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What if we want a relation with information about “sum of salaries” of employees, or the “average age” of students. 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We need more expressive power, we can use </a:t>
            </a:r>
            <a:r>
              <a:rPr lang="en-US" sz="1800" b="1" i="1">
                <a:latin typeface="Calibri"/>
                <a:ea typeface="Calibri"/>
                <a:cs typeface="Calibri"/>
                <a:sym typeface="Calibri"/>
              </a:rPr>
              <a:t>aggregation functions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that to summarize information from multiple tuples into </a:t>
            </a:r>
            <a:r>
              <a:rPr lang="en-US" sz="1800" b="1" i="1">
                <a:latin typeface="Calibri"/>
                <a:ea typeface="Calibri"/>
                <a:cs typeface="Calibri"/>
                <a:sym typeface="Calibri"/>
              </a:rPr>
              <a:t>aggregate values.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We can use an </a:t>
            </a:r>
            <a:r>
              <a:rPr lang="en-US" sz="1800" b="1">
                <a:latin typeface="Calibri"/>
                <a:ea typeface="Calibri"/>
                <a:cs typeface="Calibri"/>
                <a:sym typeface="Calibri"/>
              </a:rPr>
              <a:t>aggregation operator γ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and an function such as </a:t>
            </a:r>
            <a:r>
              <a:rPr lang="en-US" sz="1800" i="1">
                <a:latin typeface="Calibri"/>
                <a:ea typeface="Calibri"/>
                <a:cs typeface="Calibri"/>
                <a:sym typeface="Calibri"/>
              </a:rPr>
              <a:t>SUM, AVG, MIN, MAX, or COUNT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.  What if NULL?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58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837" name="Google Shape;83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9758" y="3477462"/>
            <a:ext cx="5144481" cy="2331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Aggregate Operators </a:t>
            </a:r>
            <a:endParaRPr/>
          </a:p>
        </p:txBody>
      </p:sp>
      <p:sp>
        <p:nvSpPr>
          <p:cNvPr id="844" name="Google Shape;844;p74"/>
          <p:cNvSpPr txBox="1">
            <a:spLocks noGrp="1"/>
          </p:cNvSpPr>
          <p:nvPr>
            <p:ph type="body" idx="1"/>
          </p:nvPr>
        </p:nvSpPr>
        <p:spPr>
          <a:xfrm>
            <a:off x="822959" y="1124744"/>
            <a:ext cx="7543801" cy="47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We can also retrieve aggregate values for groups, like the “sum of employee salaries” </a:t>
            </a:r>
            <a:r>
              <a:rPr lang="en-US" sz="1800" i="1">
                <a:latin typeface="Calibri"/>
                <a:ea typeface="Calibri"/>
                <a:cs typeface="Calibri"/>
                <a:sym typeface="Calibri"/>
              </a:rPr>
              <a:t>per department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, or the “average student age” </a:t>
            </a:r>
            <a:r>
              <a:rPr lang="en-US" sz="1800" i="1">
                <a:latin typeface="Calibri"/>
                <a:ea typeface="Calibri"/>
                <a:cs typeface="Calibri"/>
                <a:sym typeface="Calibri"/>
              </a:rPr>
              <a:t>per faculty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91440" lvl="0" indent="-1143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We give γ additional arguments to specify that the aggregation behaviour should be based on groups (defined by a set of attributes).</a:t>
            </a:r>
            <a:endParaRPr/>
          </a:p>
        </p:txBody>
      </p:sp>
      <p:sp>
        <p:nvSpPr>
          <p:cNvPr id="845" name="Google Shape;845;p7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59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651" y="3805839"/>
            <a:ext cx="6228705" cy="1604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Times New Roman"/>
              <a:buNone/>
            </a:pPr>
            <a:r>
              <a:rPr lang="en-US"/>
              <a:t>Formal Definition</a:t>
            </a:r>
            <a:endParaRPr/>
          </a:p>
        </p:txBody>
      </p:sp>
      <p:sp>
        <p:nvSpPr>
          <p:cNvPr id="853" name="Google Shape;853;p75"/>
          <p:cNvSpPr txBox="1">
            <a:spLocks noGrp="1"/>
          </p:cNvSpPr>
          <p:nvPr>
            <p:ph type="body" idx="1"/>
          </p:nvPr>
        </p:nvSpPr>
        <p:spPr>
          <a:xfrm>
            <a:off x="798513" y="1077913"/>
            <a:ext cx="7848600" cy="4876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54" t="-749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854" name="Google Shape;854;p7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60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61</a:t>
            </a:fld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861" name="Google Shape;861;p76"/>
          <p:cNvGraphicFramePr/>
          <p:nvPr/>
        </p:nvGraphicFramePr>
        <p:xfrm>
          <a:off x="755576" y="260648"/>
          <a:ext cx="7856400" cy="5848650"/>
        </p:xfrm>
        <a:graphic>
          <a:graphicData uri="http://schemas.openxmlformats.org/drawingml/2006/table">
            <a:tbl>
              <a:tblPr firstRow="1" bandRow="1">
                <a:noFill/>
                <a:tableStyleId>{54A294E1-A398-467A-B2FF-0632FF50819C}</a:tableStyleId>
              </a:tblPr>
              <a:tblGrid>
                <a:gridCol w="143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NOTATION</a:t>
                      </a:r>
                      <a:endParaRPr/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Selects all tuples that satisfy the selection condition from a relation 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a new relation with only some of the attributes of R and removes duplicate tuples.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THETA-JOIN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all combinations of tuples from R and S that satisfy the join condition.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EQUI-JOIN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all the combinations of tuples from R and S that satisfy a join condition with only equality comparisons.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NATURAL-JOIN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 as EQUIJOIN except that the join attributes of S are not included in the resulting relation; if the join attributes have the same names, they do not have to be specified at all.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UNION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a relation that includes all the tuples in R or S or both R and S; R and S must be union compatible.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a relation that includes all the tuples in both R and S; R and S must be union compatible.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DIFFERENCE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a relation that includes all the tuples in R that are not in S; R and S must be union compatible.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Times New Roman"/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 – S</a:t>
                      </a:r>
                      <a:endParaRPr/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CARTESIAN PRODUCT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a relation that has the attributes of R and S and includes as tuples all possible combinations of tuples from R and 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Times New Roman"/>
                        <a:buNone/>
                      </a:pP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DIVISION</a:t>
                      </a:r>
                      <a:endParaRPr/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a relation T(X) that includes all tuples t[X] in R(Z) that appear in R in combination with every tuple from S(Y), where Z = X ∪ Y.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mes New Roman"/>
                        <a:buNone/>
                      </a:pP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5200" marR="85200" marT="42600" marB="426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62" name="Google Shape;862;p76" descr="A close up of a logo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3049" y="575688"/>
            <a:ext cx="1795876" cy="250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76" descr="A close up of a logo&#10;&#10;Description generated with very high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9286" y="1162826"/>
            <a:ext cx="1803402" cy="31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76" descr="A close up of a logo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0404" y="1680234"/>
            <a:ext cx="1801166" cy="271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6" descr="A close up of a logo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0404" y="2790307"/>
            <a:ext cx="1801166" cy="280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6" descr="A close up of a logo&#10;&#10;Description generated with very high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0404" y="2216456"/>
            <a:ext cx="1801166" cy="271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76" descr="A close up of a logo&#10;&#10;Description generated with very high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9521" y="3411197"/>
            <a:ext cx="782932" cy="299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6" descr="A close up of a logo&#10;&#10;Description generated with very high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29521" y="3909790"/>
            <a:ext cx="782932" cy="299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6" descr="A close up of a logo&#10;&#10;Description generated with very high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29051" y="5019864"/>
            <a:ext cx="783873" cy="29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6" descr="A close up of a logo&#10;&#10;Description generated with very high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83668" y="5734826"/>
            <a:ext cx="1665228" cy="346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红橙色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4546</Words>
  <Application>Microsoft Office PowerPoint</Application>
  <PresentationFormat>全屏显示(4:3)</PresentationFormat>
  <Paragraphs>1442</Paragraphs>
  <Slides>61</Slides>
  <Notes>61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68" baseType="lpstr">
      <vt:lpstr>Cambria Math</vt:lpstr>
      <vt:lpstr>Times New Roman</vt:lpstr>
      <vt:lpstr>Helvetica Neue</vt:lpstr>
      <vt:lpstr>Arial</vt:lpstr>
      <vt:lpstr>Noto Sans Symbols</vt:lpstr>
      <vt:lpstr>Calibri</vt:lpstr>
      <vt:lpstr>回顾</vt:lpstr>
      <vt:lpstr>Relational Algebra</vt:lpstr>
      <vt:lpstr>Motivation</vt:lpstr>
      <vt:lpstr>Why Relational Algebra?</vt:lpstr>
      <vt:lpstr>Relational Algebra</vt:lpstr>
      <vt:lpstr>1 SELECT</vt:lpstr>
      <vt:lpstr>Selection Condition</vt:lpstr>
      <vt:lpstr>Selection Condition</vt:lpstr>
      <vt:lpstr>PowerPoint 演示文稿</vt:lpstr>
      <vt:lpstr>PowerPoint 演示文稿</vt:lpstr>
      <vt:lpstr>Properties of Selection</vt:lpstr>
      <vt:lpstr>2 PROJECT</vt:lpstr>
      <vt:lpstr>PowerPoint 演示文稿</vt:lpstr>
      <vt:lpstr>Duplicates of PROJECT</vt:lpstr>
      <vt:lpstr>Duplicates of PROJECT</vt:lpstr>
      <vt:lpstr>Properties of PROJECT</vt:lpstr>
      <vt:lpstr>Project Predicate</vt:lpstr>
      <vt:lpstr>Project Predicate</vt:lpstr>
      <vt:lpstr>Intuition: Projection and Selection</vt:lpstr>
      <vt:lpstr>3 SET UNION</vt:lpstr>
      <vt:lpstr>Example</vt:lpstr>
      <vt:lpstr>4 SET INTERSECTION</vt:lpstr>
      <vt:lpstr>Example of Intersection</vt:lpstr>
      <vt:lpstr>5 SET DIFFERENCE</vt:lpstr>
      <vt:lpstr>Summary</vt:lpstr>
      <vt:lpstr>Express: The names of persons who are either a student or a researcher</vt:lpstr>
      <vt:lpstr>Express: The names of persons who are either a student or a researcher</vt:lpstr>
      <vt:lpstr>Express: The names of persons who are a student and a researcher </vt:lpstr>
      <vt:lpstr>Express: The names of persons who are a student and a researcher </vt:lpstr>
      <vt:lpstr> Express: The names of persons who are a student but not a researcher </vt:lpstr>
      <vt:lpstr> Express: The names of persons who are a student but not a researcher </vt:lpstr>
      <vt:lpstr>Express: The departments and degrees of Courses which are not enrolled by any student</vt:lpstr>
      <vt:lpstr>Express: The departments and degrees of Courses which are not enrolled by any student</vt:lpstr>
      <vt:lpstr>CARTESIAN PRODUCT</vt:lpstr>
      <vt:lpstr>Example of cartesian product</vt:lpstr>
      <vt:lpstr>Example of cartesian product</vt:lpstr>
      <vt:lpstr>Useful if we add a condition</vt:lpstr>
      <vt:lpstr>More useful if we add a projection</vt:lpstr>
      <vt:lpstr>6 JOIN</vt:lpstr>
      <vt:lpstr>6.1 Equi-join</vt:lpstr>
      <vt:lpstr>6.2 Natural Join</vt:lpstr>
      <vt:lpstr>6.2 Natural Join</vt:lpstr>
      <vt:lpstr>JOINS</vt:lpstr>
      <vt:lpstr>Pracs</vt:lpstr>
      <vt:lpstr>Pracs</vt:lpstr>
      <vt:lpstr>Pracs</vt:lpstr>
      <vt:lpstr>Pracs</vt:lpstr>
      <vt:lpstr>Pracs</vt:lpstr>
      <vt:lpstr>Divide</vt:lpstr>
      <vt:lpstr>DIVIDE</vt:lpstr>
      <vt:lpstr>Divide</vt:lpstr>
      <vt:lpstr>Pracs</vt:lpstr>
      <vt:lpstr>Exercise</vt:lpstr>
      <vt:lpstr>Exercise</vt:lpstr>
      <vt:lpstr>Exercise Answers: </vt:lpstr>
      <vt:lpstr>Rename Operator</vt:lpstr>
      <vt:lpstr>Why RENAME Operator?</vt:lpstr>
      <vt:lpstr>Basic vs Extended Operators</vt:lpstr>
      <vt:lpstr>Aggregate Operators </vt:lpstr>
      <vt:lpstr>Aggregate Operators </vt:lpstr>
      <vt:lpstr>Formal Definition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Algebra</dc:title>
  <cp:lastModifiedBy>Dell</cp:lastModifiedBy>
  <cp:revision>2</cp:revision>
  <dcterms:modified xsi:type="dcterms:W3CDTF">2024-10-13T14:26:04Z</dcterms:modified>
</cp:coreProperties>
</file>