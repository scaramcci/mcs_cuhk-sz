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</p:sldIdLst>
  <p:sldSz cx="9144000" cy="6858000" type="screen4x3"/>
  <p:notesSz cx="9929813" cy="6797675"/>
  <p:embeddedFontLst>
    <p:embeddedFont>
      <p:font typeface="Helvetica Neue" panose="02010600030101010101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7B2263-230E-42F3-A370-D49B4969F33C}">
  <a:tblStyle styleId="{277B2263-230E-42F3-A370-D49B4969F33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50AE1288-F5F2-4D6A-8879-A3F6C42F5F09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24596" y="0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1819ca0c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2313" y="508000"/>
            <a:ext cx="3405187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31819ca0ce_0_7:notes"/>
          <p:cNvSpPr txBox="1">
            <a:spLocks noGrp="1"/>
          </p:cNvSpPr>
          <p:nvPr>
            <p:ph type="body" idx="1"/>
          </p:nvPr>
        </p:nvSpPr>
        <p:spPr>
          <a:xfrm>
            <a:off x="992985" y="3228896"/>
            <a:ext cx="7943850" cy="305895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131819ca0ce_0_7:notes"/>
          <p:cNvSpPr txBox="1">
            <a:spLocks noGrp="1"/>
          </p:cNvSpPr>
          <p:nvPr>
            <p:ph type="sldNum" idx="12"/>
          </p:nvPr>
        </p:nvSpPr>
        <p:spPr>
          <a:xfrm>
            <a:off x="5624604" y="6456613"/>
            <a:ext cx="4302919" cy="340107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45d5f5155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45d5f51552_0_0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7" name="Google Shape;117;g245d5f51552_0_0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5d5f5155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45d5f51552_0_10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8" name="Google Shape;128;g245d5f51552_0_10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45d5f5155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245d5f51552_0_17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245d5f51552_0_17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45d5f51552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245d5f51552_0_24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245d5f51552_0_24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45d5f5155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245d5f51552_0_31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2" name="Google Shape;152;g245d5f51552_0_31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5d5f51552_0_38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" name="Google Shape;159;g245d5f5155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6450" y="522288"/>
            <a:ext cx="3438525" cy="257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245d5f51552_0_38:notes"/>
          <p:cNvSpPr txBox="1">
            <a:spLocks noGrp="1"/>
          </p:cNvSpPr>
          <p:nvPr>
            <p:ph type="body" idx="1"/>
          </p:nvPr>
        </p:nvSpPr>
        <p:spPr>
          <a:xfrm>
            <a:off x="1349260" y="3278462"/>
            <a:ext cx="7433460" cy="310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45d5f51552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245d5f51552_0_46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g245d5f51552_0_46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A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45d5f51552_0_53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g245d5f51552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6450" y="522288"/>
            <a:ext cx="3438525" cy="257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g245d5f51552_0_53:notes"/>
          <p:cNvSpPr txBox="1">
            <a:spLocks noGrp="1"/>
          </p:cNvSpPr>
          <p:nvPr>
            <p:ph type="body" idx="1"/>
          </p:nvPr>
        </p:nvSpPr>
        <p:spPr>
          <a:xfrm>
            <a:off x="1349260" y="3278462"/>
            <a:ext cx="7433460" cy="310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45d5f51552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45d5f51552_0_63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245d5f51552_0_63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45d5f51552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245d5f51552_0_72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g245d5f51552_0_72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45d5f51552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245d5f51552_0_79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g245d5f51552_0_79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45d5f51552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245d5f51552_0_88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g245d5f51552_0_88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45d5f51552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245d5f51552_0_95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g245d5f51552_0_95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45d5f51552_0_102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4" name="Google Shape;234;g245d5f51552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6450" y="522288"/>
            <a:ext cx="3438525" cy="257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g245d5f51552_0_102:notes"/>
          <p:cNvSpPr txBox="1">
            <a:spLocks noGrp="1"/>
          </p:cNvSpPr>
          <p:nvPr>
            <p:ph type="body" idx="1"/>
          </p:nvPr>
        </p:nvSpPr>
        <p:spPr>
          <a:xfrm>
            <a:off x="1349260" y="3278462"/>
            <a:ext cx="7433460" cy="310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45d5f51552_0_108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1" name="Google Shape;241;g245d5f51552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245d5f51552_0_108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45d5f51552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245d5f51552_0_115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245d5f51552_0_115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45d5f5155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245d5f51552_0_122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g245d5f51552_0_122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45d5f51552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245d5f51552_0_131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8" name="Google Shape;268;g245d5f51552_0_131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45d5f51552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245d5f51552_0_138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g245d5f51552_0_138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45d5f51552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g245d5f51552_0_146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g245d5f51552_0_146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45d5f51552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g245d5f51552_0_153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g245d5f51552_0_153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45d5f51552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245d5f51552_0_162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g245d5f51552_0_162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AU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45d5f51552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g245d5f51552_0_169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g245d5f51552_0_169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45d5f51552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g245d5f51552_0_176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" name="Google Shape;327;g245d5f51552_0_176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45d5f51552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g245d5f51552_0_183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5" name="Google Shape;335;g245d5f51552_0_183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45d5f51552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g245d5f51552_0_190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g245d5f51552_0_190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45d5f51552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g245d5f51552_0_198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g245d5f51552_0_198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45d5f51552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g245d5f51552_0_206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1" name="Google Shape;361;g245d5f51552_0_206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45d5f51552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g245d5f51552_0_214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0" name="Google Shape;370;g245d5f51552_0_214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45d5f51552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g245d5f51552_0_221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8" name="Google Shape;378;g245d5f51552_0_221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45d5f51552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g245d5f51552_0_228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86" name="Google Shape;386;g245d5f51552_0_228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45d5f51552_0_235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g245d5f51552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45d5f51552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245d5f51552_0_241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01" name="Google Shape;401;g245d5f51552_0_241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45d5f51552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g245d5f51552_0_248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9" name="Google Shape;409;g245d5f51552_0_248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45d5f51552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g245d5f51552_0_255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7" name="Google Shape;417;g245d5f51552_0_255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45d5f51552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g245d5f51552_0_262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5" name="Google Shape;425;g245d5f51552_0_262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45d5f51552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g245d5f51552_0_269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g245d5f51552_0_269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45d5f51552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1" name="Google Shape;441;g245d5f51552_0_277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2" name="Google Shape;442;g245d5f51552_0_277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45d5f51552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9" name="Google Shape;449;g245d5f51552_0_284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0" name="Google Shape;450;g245d5f51552_0_284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45d5f51552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g245d5f51552_0_293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0" name="Google Shape;460;g245d5f51552_0_293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45d5f51552_0_300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7" name="Google Shape;467;g245d5f51552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45d5f51552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g245d5f51552_0_306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5" name="Google Shape;475;g245d5f51552_0_306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45d5f51552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g245d5f51552_0_313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3" name="Google Shape;483;g245d5f51552_0_313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45d5f51552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g245d5f51552_0_320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g245d5f51552_0_320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45d5f51552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g245d5f51552_0_327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9" name="Google Shape;499;g245d5f51552_0_327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45d5f51552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6" name="Google Shape;506;g245d5f51552_0_334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7" name="Google Shape;507;g245d5f51552_0_334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45d5f51552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g245d5f51552_0_343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7" name="Google Shape;517;g245d5f51552_0_343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45d5f51552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4" name="Google Shape;524;g245d5f51552_0_350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5" name="Google Shape;525;g245d5f51552_0_350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45d5f51552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g245d5f51552_0_357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3" name="Google Shape;533;g245d5f51552_0_357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U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45d5f51552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0" name="Google Shape;540;g245d5f51552_0_364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1" name="Google Shape;541;g245d5f51552_0_364:notes"/>
          <p:cNvSpPr txBox="1">
            <a:spLocks noGrp="1"/>
          </p:cNvSpPr>
          <p:nvPr>
            <p:ph type="sldNum" idx="12"/>
          </p:nvPr>
        </p:nvSpPr>
        <p:spPr>
          <a:xfrm>
            <a:off x="5624596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AU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245d5f51552_0_371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8" name="Google Shape;548;g245d5f51552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标题幻灯片" type="title">
  <p:cSld name="TITL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Times New Roman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cxnSp>
        <p:nvCxnSpPr>
          <p:cNvPr id="25" name="Google Shape;25;p2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节标题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Times New Roman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cxnSp>
        <p:nvCxnSpPr>
          <p:cNvPr id="40" name="Google Shape;40;p4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4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4663440" y="1845735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32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32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空白" type="blank">
  <p:cSld name="BLANK"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内容与标题" type="objTx">
  <p:cSld name="OBJECT_WITH_CAPTION_TEXT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3600450" y="731520"/>
            <a:ext cx="486918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ft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图片与标题" type="picTx">
  <p:cSld name="PICTURE_WITH_CAPTION_TEXT"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0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>
            <a:spLocks noGrp="1"/>
          </p:cNvSpPr>
          <p:nvPr>
            <p:ph type="pic" idx="2"/>
          </p:nvPr>
        </p:nvSpPr>
        <p:spPr>
          <a:xfrm>
            <a:off x="12" y="0"/>
            <a:ext cx="9143989" cy="4915076"/>
          </a:xfrm>
          <a:prstGeom prst="rect">
            <a:avLst/>
          </a:prstGeom>
          <a:solidFill>
            <a:srgbClr val="DDD9C3"/>
          </a:solidFill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822960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 rot="5400000">
            <a:off x="2193712" y="-303953"/>
            <a:ext cx="4802294" cy="754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竖排标题与文本" type="vertTitleAndTx">
  <p:cSld name="VERTICAL_TITLE_AND_VERTICAL_TEXT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2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title"/>
          </p:nvPr>
        </p:nvSpPr>
        <p:spPr>
          <a:xfrm rot="5400000">
            <a:off x="4649564" y="2306414"/>
            <a:ext cx="575989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2"/>
          <p:cNvSpPr txBox="1">
            <a:spLocks noGrp="1"/>
          </p:cNvSpPr>
          <p:nvPr>
            <p:ph type="body" idx="1"/>
          </p:nvPr>
        </p:nvSpPr>
        <p:spPr>
          <a:xfrm rot="5400000">
            <a:off x="649064" y="391889"/>
            <a:ext cx="575989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 1">
  <p:cSld name="标题和内容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  <a:defRPr sz="48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822959" y="1066800"/>
            <a:ext cx="7543801" cy="4802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914400" y="990600"/>
            <a:ext cx="74752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Times New Roman"/>
              <a:buNone/>
            </a:pPr>
            <a:r>
              <a:rPr lang="en-AU" sz="6600">
                <a:solidFill>
                  <a:schemeClr val="dk2"/>
                </a:solidFill>
              </a:rPr>
              <a:t>SQL (Part 2)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Querying With Subqueries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800" dirty="0"/>
              <a:t>Example: Find bars that sell New at the price same as the Coogee Bay Hotel charges for VB.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 dirty="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800" b="1" dirty="0"/>
              <a:t>Simplest Case</a:t>
            </a:r>
            <a:r>
              <a:rPr lang="en-AU" sz="1800" dirty="0"/>
              <a:t>: Subquery returns one tuple/value. If</a:t>
            </a:r>
            <a:r>
              <a:rPr lang="en-AU" sz="1800" b="1" dirty="0"/>
              <a:t> </a:t>
            </a:r>
            <a:r>
              <a:rPr lang="en-AU" sz="1800" dirty="0"/>
              <a:t>the subquery returns one tuple, you can treat the result as a constant value. 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 dirty="0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800" dirty="0">
                <a:solidFill>
                  <a:srgbClr val="0070C0"/>
                </a:solidFill>
              </a:rPr>
              <a:t>SELECT bar</a:t>
            </a:r>
            <a:br>
              <a:rPr lang="en-AU" sz="1800" dirty="0">
                <a:solidFill>
                  <a:srgbClr val="0070C0"/>
                </a:solidFill>
              </a:rPr>
            </a:br>
            <a:r>
              <a:rPr lang="en-AU" sz="1800" dirty="0">
                <a:solidFill>
                  <a:srgbClr val="0070C0"/>
                </a:solidFill>
              </a:rPr>
              <a:t>FROM Sells</a:t>
            </a:r>
            <a:br>
              <a:rPr lang="en-AU" sz="1800" dirty="0">
                <a:solidFill>
                  <a:srgbClr val="0070C0"/>
                </a:solidFill>
              </a:rPr>
            </a:br>
            <a:r>
              <a:rPr lang="en-AU" sz="1800" dirty="0">
                <a:solidFill>
                  <a:srgbClr val="0070C0"/>
                </a:solidFill>
              </a:rPr>
              <a:t>WHERE beer = ‘New’ AND price = 	(</a:t>
            </a:r>
            <a:br>
              <a:rPr lang="en-AU" sz="1800" dirty="0">
                <a:solidFill>
                  <a:srgbClr val="0070C0"/>
                </a:solidFill>
              </a:rPr>
            </a:br>
            <a:r>
              <a:rPr lang="en-AU" sz="1800" dirty="0">
                <a:solidFill>
                  <a:srgbClr val="0070C0"/>
                </a:solidFill>
              </a:rPr>
              <a:t>	            SELECT price</a:t>
            </a:r>
            <a:br>
              <a:rPr lang="en-AU" sz="1800" dirty="0">
                <a:solidFill>
                  <a:srgbClr val="0070C0"/>
                </a:solidFill>
              </a:rPr>
            </a:br>
            <a:r>
              <a:rPr lang="en-AU" sz="1800" dirty="0">
                <a:solidFill>
                  <a:srgbClr val="0070C0"/>
                </a:solidFill>
              </a:rPr>
              <a:t>	            FROM Sells</a:t>
            </a:r>
            <a:br>
              <a:rPr lang="en-AU" sz="1800" dirty="0">
                <a:solidFill>
                  <a:srgbClr val="0070C0"/>
                </a:solidFill>
              </a:rPr>
            </a:br>
            <a:r>
              <a:rPr lang="en-AU" sz="1800" dirty="0">
                <a:solidFill>
                  <a:srgbClr val="0070C0"/>
                </a:solidFill>
              </a:rPr>
              <a:t>	            WHERE bar = ‘Coogee Bay Hotel’</a:t>
            </a:r>
            <a:br>
              <a:rPr lang="en-AU" sz="1800" dirty="0">
                <a:solidFill>
                  <a:srgbClr val="0070C0"/>
                </a:solidFill>
              </a:rPr>
            </a:br>
            <a:r>
              <a:rPr lang="en-AU" sz="1800" dirty="0">
                <a:solidFill>
                  <a:srgbClr val="0070C0"/>
                </a:solidFill>
              </a:rPr>
              <a:t>	            AND beer = ‘Victoria Bitter’ </a:t>
            </a:r>
            <a:br>
              <a:rPr lang="en-AU" sz="1800" dirty="0">
                <a:solidFill>
                  <a:srgbClr val="0070C0"/>
                </a:solidFill>
              </a:rPr>
            </a:br>
            <a:r>
              <a:rPr lang="en-AU" sz="1800" dirty="0">
                <a:solidFill>
                  <a:srgbClr val="0070C0"/>
                </a:solidFill>
              </a:rPr>
              <a:t>	            );</a:t>
            </a:r>
            <a:endParaRPr sz="1800" dirty="0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 dirty="0"/>
          </a:p>
        </p:txBody>
      </p:sp>
      <p:sp>
        <p:nvSpPr>
          <p:cNvPr id="121" name="Google Shape;121;p1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2</a:t>
            </a:fld>
            <a:endParaRPr/>
          </a:p>
        </p:txBody>
      </p:sp>
      <p:graphicFrame>
        <p:nvGraphicFramePr>
          <p:cNvPr id="123" name="Google Shape;123;p15"/>
          <p:cNvGraphicFramePr/>
          <p:nvPr/>
        </p:nvGraphicFramePr>
        <p:xfrm>
          <a:off x="3901254" y="5188408"/>
          <a:ext cx="989000" cy="731540"/>
        </p:xfrm>
        <a:graphic>
          <a:graphicData uri="http://schemas.openxmlformats.org/drawingml/2006/table">
            <a:tbl>
              <a:tblPr>
                <a:noFill/>
                <a:tableStyleId>{277B2263-230E-42F3-A370-D49B4969F33C}</a:tableStyleId>
              </a:tblPr>
              <a:tblGrid>
                <a:gridCol w="9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Price</a:t>
                      </a: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2.3</a:t>
                      </a: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4" name="Google Shape;12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6876" y="2816895"/>
            <a:ext cx="2983914" cy="3128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/>
          <p:nvPr/>
        </p:nvSpPr>
        <p:spPr>
          <a:xfrm>
            <a:off x="6156876" y="3204050"/>
            <a:ext cx="2865747" cy="764635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Querying Without Subqueries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Find bars that sell New at the price same as the Coogee Bay Hotel charges for VB.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Can we do the one from before without subqueries? Of course…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AU">
                <a:solidFill>
                  <a:srgbClr val="0070C0"/>
                </a:solidFill>
              </a:rPr>
              <a:t>SELECT b2.bar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FROM Sells b1, Sells b2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WHERE b1.beer = ‘Victoria Bitter’ and 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b1.bar = ‘Coogee Bay Hotel’ and 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b1.price = b2.price and b2.beer = ‘New’;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This will produce the same results, but what might it be doing here instead?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Query with Subquery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7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AU" sz="2200"/>
              <a:t>Regular Case: Subquery returns multiple tuples/a relation.</a:t>
            </a:r>
            <a:endParaRPr sz="2200"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2200"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AU" sz="2200"/>
              <a:t>Common usage of subqueries: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o"/>
            </a:pPr>
            <a:r>
              <a:rPr lang="en-AU" sz="2200">
                <a:latin typeface="Arial"/>
                <a:ea typeface="Arial"/>
                <a:cs typeface="Arial"/>
                <a:sym typeface="Arial"/>
              </a:rPr>
              <a:t>compare the membership of one relation to that of another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o"/>
            </a:pPr>
            <a:r>
              <a:rPr lang="en-AU" sz="2200">
                <a:latin typeface="Arial"/>
                <a:ea typeface="Arial"/>
                <a:cs typeface="Arial"/>
                <a:sym typeface="Arial"/>
              </a:rPr>
              <a:t>compare results of one set to that of another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40" name="Google Shape;140;p1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The IN operator is typically used to filter a column. It can be used in subqueries to filter a column for a certain list of values.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>
                <a:solidFill>
                  <a:srgbClr val="0070C0"/>
                </a:solidFill>
              </a:rPr>
              <a:t>SELECT</a:t>
            </a:r>
            <a:r>
              <a:rPr lang="en-AU">
                <a:solidFill>
                  <a:srgbClr val="000000"/>
                </a:solidFill>
              </a:rPr>
              <a:t> * </a:t>
            </a:r>
            <a:r>
              <a:rPr lang="en-AU">
                <a:solidFill>
                  <a:srgbClr val="0070C0"/>
                </a:solidFill>
              </a:rPr>
              <a:t>FROM</a:t>
            </a:r>
            <a:r>
              <a:rPr lang="en-AU">
                <a:solidFill>
                  <a:srgbClr val="0000CD"/>
                </a:solidFill>
              </a:rPr>
              <a:t> </a:t>
            </a:r>
            <a:r>
              <a:rPr lang="en-AU"/>
              <a:t>Students</a:t>
            </a:r>
            <a:r>
              <a:rPr lang="en-AU">
                <a:solidFill>
                  <a:srgbClr val="000000"/>
                </a:solidFill>
              </a:rPr>
              <a:t> </a:t>
            </a:r>
            <a:r>
              <a:rPr lang="en-AU">
                <a:solidFill>
                  <a:srgbClr val="0070C0"/>
                </a:solidFill>
              </a:rPr>
              <a:t>WHERE</a:t>
            </a:r>
            <a:r>
              <a:rPr lang="en-AU">
                <a:solidFill>
                  <a:srgbClr val="000000"/>
                </a:solidFill>
              </a:rPr>
              <a:t> Grade </a:t>
            </a:r>
            <a:r>
              <a:rPr lang="en-AU" b="1">
                <a:solidFill>
                  <a:srgbClr val="0070C0"/>
                </a:solidFill>
              </a:rPr>
              <a:t>IN</a:t>
            </a:r>
            <a:r>
              <a:rPr lang="en-AU">
                <a:solidFill>
                  <a:srgbClr val="000000"/>
                </a:solidFill>
              </a:rPr>
              <a:t> (</a:t>
            </a:r>
            <a:r>
              <a:rPr lang="en-AU">
                <a:solidFill>
                  <a:srgbClr val="A52A2A"/>
                </a:solidFill>
              </a:rPr>
              <a:t>‘HD'</a:t>
            </a:r>
            <a:r>
              <a:rPr lang="en-AU">
                <a:solidFill>
                  <a:srgbClr val="000000"/>
                </a:solidFill>
              </a:rPr>
              <a:t>, </a:t>
            </a:r>
            <a:r>
              <a:rPr lang="en-AU">
                <a:solidFill>
                  <a:srgbClr val="A52A2A"/>
                </a:solidFill>
              </a:rPr>
              <a:t>‘D’</a:t>
            </a:r>
            <a:r>
              <a:rPr lang="en-AU"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find the name and brewers of beers that John likes.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>
                <a:solidFill>
                  <a:srgbClr val="0070C0"/>
                </a:solidFill>
              </a:rPr>
              <a:t>SELECT *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FROM Beers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WHERE name </a:t>
            </a:r>
            <a:r>
              <a:rPr lang="en-AU" b="1">
                <a:solidFill>
                  <a:srgbClr val="0070C0"/>
                </a:solidFill>
              </a:rPr>
              <a:t>IN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       (SELECT beer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        FROM Likes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        WHERE drinker = ’John’);</a:t>
            </a:r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Exists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Exists keyword returns </a:t>
            </a:r>
            <a:r>
              <a:rPr lang="en-AU" b="1"/>
              <a:t>true</a:t>
            </a:r>
            <a:r>
              <a:rPr lang="en-AU"/>
              <a:t> if the relation is non-empty.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Find the beers uniquely made by their manufacturer.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>
                <a:solidFill>
                  <a:srgbClr val="0070C0"/>
                </a:solidFill>
              </a:rPr>
              <a:t>SELECT name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FROM Beers b1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WHERE NOT EXISTS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(SELECT *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 FROM Beers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 WHERE manf = b1.manf AND name != b1.name);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i="1"/>
              <a:t>Note: add NOT before EXISTS to express the opposite condition (NOT EXISTS).</a:t>
            </a:r>
            <a:endParaRPr/>
          </a:p>
        </p:txBody>
      </p:sp>
      <p:sp>
        <p:nvSpPr>
          <p:cNvPr id="156" name="Google Shape;156;p1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All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46059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Find the names of all instructors whose salary is greater than the salary of all instructors in the Physics department.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822959" y="3622313"/>
            <a:ext cx="71754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AU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A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AU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A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AU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A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salary &gt; </a:t>
            </a:r>
            <a:r>
              <a:rPr lang="en-AU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</a:t>
            </a:r>
            <a:r>
              <a:rPr lang="en-A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AU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A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salary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AU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FROM </a:t>
            </a:r>
            <a:r>
              <a:rPr lang="en-A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AU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WHERE </a:t>
            </a:r>
            <a:r>
              <a:rPr lang="en-A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dept name = ’Physics’);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20" descr="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41176" y="1572936"/>
            <a:ext cx="2475249" cy="3019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Quantifiers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1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-AU" b="1"/>
              <a:t>ANY</a:t>
            </a:r>
            <a:r>
              <a:rPr lang="en-AU"/>
              <a:t> and </a:t>
            </a:r>
            <a:r>
              <a:rPr lang="en-AU" b="1"/>
              <a:t>ALL</a:t>
            </a:r>
            <a:r>
              <a:rPr lang="en-AU"/>
              <a:t> behave as existential and universal quantifiers respectively.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97297"/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066"/>
              <a:buFont typeface="Arial"/>
              <a:buNone/>
            </a:pPr>
            <a:r>
              <a:rPr lang="en-AU" sz="1800">
                <a:solidFill>
                  <a:srgbClr val="0000CD"/>
                </a:solidFill>
              </a:rPr>
              <a:t>SELECT</a:t>
            </a:r>
            <a:r>
              <a:rPr lang="en-AU" sz="1800">
                <a:solidFill>
                  <a:schemeClr val="dk1"/>
                </a:solidFill>
              </a:rPr>
              <a:t> column_name(s)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066"/>
              <a:buFont typeface="Arial"/>
              <a:buNone/>
            </a:pPr>
            <a:r>
              <a:rPr lang="en-AU" sz="1800">
                <a:solidFill>
                  <a:srgbClr val="0000CD"/>
                </a:solidFill>
              </a:rPr>
              <a:t>FROM</a:t>
            </a:r>
            <a:r>
              <a:rPr lang="en-AU" sz="1800">
                <a:solidFill>
                  <a:schemeClr val="dk1"/>
                </a:solidFill>
              </a:rPr>
              <a:t> table_name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066"/>
              <a:buFont typeface="Arial"/>
              <a:buNone/>
            </a:pPr>
            <a:r>
              <a:rPr lang="en-AU" sz="1800">
                <a:solidFill>
                  <a:srgbClr val="0000CD"/>
                </a:solidFill>
              </a:rPr>
              <a:t>WHERE</a:t>
            </a:r>
            <a:r>
              <a:rPr lang="en-AU" sz="1800">
                <a:solidFill>
                  <a:schemeClr val="dk1"/>
                </a:solidFill>
              </a:rPr>
              <a:t> column_name operator </a:t>
            </a:r>
            <a:r>
              <a:rPr lang="en-AU" sz="1800" b="1">
                <a:solidFill>
                  <a:srgbClr val="0000CD"/>
                </a:solidFill>
              </a:rPr>
              <a:t>ANY</a:t>
            </a:r>
            <a:endParaRPr sz="1800" b="1">
              <a:solidFill>
                <a:srgbClr val="0000CD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066"/>
              <a:buFont typeface="Arial"/>
              <a:buNone/>
            </a:pPr>
            <a:r>
              <a:rPr lang="en-AU" sz="1800">
                <a:solidFill>
                  <a:schemeClr val="dk1"/>
                </a:solidFill>
              </a:rPr>
              <a:t>(</a:t>
            </a:r>
            <a:r>
              <a:rPr lang="en-AU" sz="1800">
                <a:solidFill>
                  <a:srgbClr val="0000CD"/>
                </a:solidFill>
              </a:rPr>
              <a:t>SELECT</a:t>
            </a:r>
            <a:r>
              <a:rPr lang="en-AU" sz="1800">
                <a:solidFill>
                  <a:schemeClr val="dk1"/>
                </a:solidFill>
              </a:rPr>
              <a:t> column_name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066"/>
              <a:buFont typeface="Arial"/>
              <a:buNone/>
            </a:pPr>
            <a:r>
              <a:rPr lang="en-AU" sz="1800">
                <a:solidFill>
                  <a:schemeClr val="dk1"/>
                </a:solidFill>
              </a:rPr>
              <a:t> </a:t>
            </a:r>
            <a:r>
              <a:rPr lang="en-AU" sz="1800">
                <a:solidFill>
                  <a:srgbClr val="0000CD"/>
                </a:solidFill>
              </a:rPr>
              <a:t>FROM</a:t>
            </a:r>
            <a:r>
              <a:rPr lang="en-AU" sz="1800">
                <a:solidFill>
                  <a:schemeClr val="dk1"/>
                </a:solidFill>
              </a:rPr>
              <a:t> table_name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-AU" sz="1800">
                <a:solidFill>
                  <a:schemeClr val="dk1"/>
                </a:solidFill>
              </a:rPr>
              <a:t> </a:t>
            </a:r>
            <a:r>
              <a:rPr lang="en-AU" sz="1800">
                <a:solidFill>
                  <a:srgbClr val="0000CD"/>
                </a:solidFill>
              </a:rPr>
              <a:t>WHERE</a:t>
            </a:r>
            <a:r>
              <a:rPr lang="en-AU" sz="1800">
                <a:solidFill>
                  <a:schemeClr val="dk1"/>
                </a:solidFill>
              </a:rPr>
              <a:t> condition); 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066"/>
              <a:buFont typeface="Arial"/>
              <a:buNone/>
            </a:pPr>
            <a:r>
              <a:rPr lang="en-AU" sz="1800">
                <a:solidFill>
                  <a:srgbClr val="0000CD"/>
                </a:solidFill>
              </a:rPr>
              <a:t>SELECT</a:t>
            </a:r>
            <a:r>
              <a:rPr lang="en-AU" sz="1800">
                <a:solidFill>
                  <a:schemeClr val="dk1"/>
                </a:solidFill>
              </a:rPr>
              <a:t> column_name(s)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066"/>
              <a:buFont typeface="Arial"/>
              <a:buNone/>
            </a:pPr>
            <a:r>
              <a:rPr lang="en-AU" sz="1800">
                <a:solidFill>
                  <a:srgbClr val="0000CD"/>
                </a:solidFill>
              </a:rPr>
              <a:t>FROM</a:t>
            </a:r>
            <a:r>
              <a:rPr lang="en-AU" sz="1800">
                <a:solidFill>
                  <a:schemeClr val="dk1"/>
                </a:solidFill>
              </a:rPr>
              <a:t> table_name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066"/>
              <a:buFont typeface="Arial"/>
              <a:buNone/>
            </a:pPr>
            <a:r>
              <a:rPr lang="en-AU" sz="1800">
                <a:solidFill>
                  <a:srgbClr val="0000CD"/>
                </a:solidFill>
              </a:rPr>
              <a:t>WHERE</a:t>
            </a:r>
            <a:r>
              <a:rPr lang="en-AU" sz="1800">
                <a:solidFill>
                  <a:schemeClr val="dk1"/>
                </a:solidFill>
              </a:rPr>
              <a:t> column_name operator </a:t>
            </a:r>
            <a:r>
              <a:rPr lang="en-AU" sz="1800" b="1">
                <a:solidFill>
                  <a:srgbClr val="0000CD"/>
                </a:solidFill>
              </a:rPr>
              <a:t>ALL</a:t>
            </a:r>
            <a:endParaRPr sz="1800" b="1">
              <a:solidFill>
                <a:srgbClr val="0000CD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066"/>
              <a:buFont typeface="Arial"/>
              <a:buNone/>
            </a:pPr>
            <a:r>
              <a:rPr lang="en-AU" sz="1800">
                <a:solidFill>
                  <a:schemeClr val="dk1"/>
                </a:solidFill>
              </a:rPr>
              <a:t>(</a:t>
            </a:r>
            <a:r>
              <a:rPr lang="en-AU" sz="1800">
                <a:solidFill>
                  <a:srgbClr val="0000CD"/>
                </a:solidFill>
              </a:rPr>
              <a:t>SELECT</a:t>
            </a:r>
            <a:r>
              <a:rPr lang="en-AU" sz="1800">
                <a:solidFill>
                  <a:schemeClr val="dk1"/>
                </a:solidFill>
              </a:rPr>
              <a:t> column_name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066"/>
              <a:buFont typeface="Arial"/>
              <a:buNone/>
            </a:pPr>
            <a:r>
              <a:rPr lang="en-AU" sz="1800">
                <a:solidFill>
                  <a:schemeClr val="dk1"/>
                </a:solidFill>
              </a:rPr>
              <a:t> </a:t>
            </a:r>
            <a:r>
              <a:rPr lang="en-AU" sz="1800">
                <a:solidFill>
                  <a:srgbClr val="0000CD"/>
                </a:solidFill>
              </a:rPr>
              <a:t>FROM</a:t>
            </a:r>
            <a:r>
              <a:rPr lang="en-AU" sz="1800">
                <a:solidFill>
                  <a:schemeClr val="dk1"/>
                </a:solidFill>
              </a:rPr>
              <a:t> table_name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-AU" sz="1800">
                <a:solidFill>
                  <a:schemeClr val="dk1"/>
                </a:solidFill>
              </a:rPr>
              <a:t> </a:t>
            </a:r>
            <a:r>
              <a:rPr lang="en-AU" sz="1800">
                <a:solidFill>
                  <a:srgbClr val="0000CD"/>
                </a:solidFill>
              </a:rPr>
              <a:t>WHERE</a:t>
            </a:r>
            <a:r>
              <a:rPr lang="en-AU" sz="1800">
                <a:solidFill>
                  <a:schemeClr val="dk1"/>
                </a:solidFill>
              </a:rPr>
              <a:t> condition);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3" name="Google Shape;173;p2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/>
              <a:t>Set Operations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85000" lnSpcReduction="20000"/>
          </a:bodyPr>
          <a:lstStyle/>
          <a:p>
            <a:pPr marL="9144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A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courses that ran in Fall 2009 or in Spring 2010</a:t>
            </a:r>
            <a:r>
              <a:rPr lang="en-AU" sz="1800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" lvl="0" indent="-1079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Find courses that ran in Fall 2009 </a:t>
            </a:r>
            <a:r>
              <a:rPr lang="en-AU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AU" sz="2000">
                <a:latin typeface="Arial"/>
                <a:ea typeface="Arial"/>
                <a:cs typeface="Arial"/>
                <a:sym typeface="Arial"/>
              </a:rPr>
              <a:t> in Spring 2010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" lvl="0" indent="-1079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 sz="2000">
                <a:latin typeface="Arial"/>
                <a:ea typeface="Arial"/>
                <a:cs typeface="Arial"/>
                <a:sym typeface="Arial"/>
              </a:rPr>
              <a:t>Find courses that ran in Fall 2009 </a:t>
            </a:r>
            <a:r>
              <a:rPr lang="en-AU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but not </a:t>
            </a:r>
            <a:r>
              <a:rPr lang="en-AU" sz="2000">
                <a:latin typeface="Arial"/>
                <a:ea typeface="Arial"/>
                <a:cs typeface="Arial"/>
                <a:sym typeface="Arial"/>
              </a:rPr>
              <a:t>in Spring 2010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" lvl="0" indent="-107950" algn="l" rtl="0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A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Each of the above operations will eliminate duplicates.</a:t>
            </a:r>
            <a:br>
              <a:rPr lang="en-A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keep duplicates, use </a:t>
            </a:r>
            <a:r>
              <a:rPr lang="en-AU" sz="20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union all, intersect all, except all.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>
                <a:latin typeface="Arial"/>
                <a:ea typeface="Arial"/>
                <a:cs typeface="Arial"/>
                <a:sym typeface="Arial"/>
              </a:rPr>
              <a:t>9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1130262" y="1477570"/>
            <a:ext cx="75405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course_id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= ‘Fall’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year = 2009)</a:t>
            </a:r>
            <a:b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 sz="1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union</a:t>
            </a:r>
            <a:b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course_id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= ‘Spring’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year = 2010)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1130262" y="2905437"/>
            <a:ext cx="75405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course_id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= ‘Fall’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year = 2009)</a:t>
            </a:r>
            <a:b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 sz="1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intersect</a:t>
            </a:r>
            <a:b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course_id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= ‘Spring’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year = 2010)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1130262" y="4327677"/>
            <a:ext cx="75405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course_id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= ‘Fall’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year = 2009)</a:t>
            </a:r>
            <a:b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 sz="1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except</a:t>
            </a:r>
            <a:b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course_id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= ‘Spring’ </a:t>
            </a:r>
            <a:r>
              <a:rPr lang="en-A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A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year = 2010)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DIVIDE in SQL?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3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Find bars each of which sell all beers Justin likes.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br>
              <a:rPr lang="en-AU"/>
            </a:br>
            <a:r>
              <a:rPr lang="en-AU"/>
              <a:t>Relational Algebra</a:t>
            </a:r>
            <a:r>
              <a:rPr lang="en-AU" i="1"/>
              <a:t>: </a:t>
            </a:r>
            <a:r>
              <a:rPr lang="en-AU" i="1">
                <a:solidFill>
                  <a:srgbClr val="7030A0"/>
                </a:solidFill>
              </a:rPr>
              <a:t>π</a:t>
            </a:r>
            <a:r>
              <a:rPr lang="en-AU" i="1" baseline="-25000">
                <a:solidFill>
                  <a:srgbClr val="7030A0"/>
                </a:solidFill>
              </a:rPr>
              <a:t>bar,beer</a:t>
            </a:r>
            <a:r>
              <a:rPr lang="en-AU" i="1">
                <a:solidFill>
                  <a:srgbClr val="7030A0"/>
                </a:solidFill>
              </a:rPr>
              <a:t>Sells ÷ (π</a:t>
            </a:r>
            <a:r>
              <a:rPr lang="en-AU" i="1" baseline="-25000">
                <a:solidFill>
                  <a:srgbClr val="7030A0"/>
                </a:solidFill>
              </a:rPr>
              <a:t>beer</a:t>
            </a:r>
            <a:r>
              <a:rPr lang="en-AU" i="1">
                <a:solidFill>
                  <a:srgbClr val="7030A0"/>
                </a:solidFill>
              </a:rPr>
              <a:t>(σ</a:t>
            </a:r>
            <a:r>
              <a:rPr lang="en-AU" i="1" baseline="-25000">
                <a:solidFill>
                  <a:srgbClr val="7030A0"/>
                </a:solidFill>
              </a:rPr>
              <a:t>drinker=′Justin′</a:t>
            </a:r>
            <a:r>
              <a:rPr lang="en-AU" i="1">
                <a:solidFill>
                  <a:srgbClr val="7030A0"/>
                </a:solidFill>
              </a:rPr>
              <a:t> Likes))</a:t>
            </a:r>
            <a:endParaRPr/>
          </a:p>
          <a:p>
            <a:pPr marL="9144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10</a:t>
            </a:fld>
            <a:endParaRPr/>
          </a:p>
        </p:txBody>
      </p:sp>
      <p:pic>
        <p:nvPicPr>
          <p:cNvPr id="193" name="Google Shape;19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1490" y="2349370"/>
            <a:ext cx="3428790" cy="363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42187" y="2481176"/>
            <a:ext cx="3015562" cy="305465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/>
          <p:nvPr/>
        </p:nvSpPr>
        <p:spPr>
          <a:xfrm>
            <a:off x="6663900" y="4997925"/>
            <a:ext cx="1347000" cy="598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3"/>
          <p:cNvSpPr/>
          <p:nvPr/>
        </p:nvSpPr>
        <p:spPr>
          <a:xfrm>
            <a:off x="1962400" y="2610925"/>
            <a:ext cx="1347000" cy="252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3"/>
          <p:cNvSpPr/>
          <p:nvPr/>
        </p:nvSpPr>
        <p:spPr>
          <a:xfrm>
            <a:off x="1962400" y="2862925"/>
            <a:ext cx="1466700" cy="873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DIVIDE in SQL?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4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Question: How do we do this in SQL?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Answer: This gives you the same results as a divide operator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800">
                <a:solidFill>
                  <a:srgbClr val="0070C0"/>
                </a:solidFill>
              </a:rPr>
              <a:t>SELECT DISTINCT a.bar</a:t>
            </a:r>
            <a:br>
              <a:rPr lang="en-AU" sz="1800">
                <a:solidFill>
                  <a:srgbClr val="0070C0"/>
                </a:solidFill>
              </a:rPr>
            </a:br>
            <a:r>
              <a:rPr lang="en-AU" sz="1800">
                <a:solidFill>
                  <a:srgbClr val="0070C0"/>
                </a:solidFill>
              </a:rPr>
              <a:t>FROM sells a</a:t>
            </a:r>
            <a:br>
              <a:rPr lang="en-AU" sz="1800">
                <a:solidFill>
                  <a:srgbClr val="0070C0"/>
                </a:solidFill>
              </a:rPr>
            </a:br>
            <a:r>
              <a:rPr lang="en-AU" sz="1800">
                <a:solidFill>
                  <a:srgbClr val="0070C0"/>
                </a:solidFill>
              </a:rPr>
              <a:t>WHERE NOT EXISTS</a:t>
            </a:r>
            <a:br>
              <a:rPr lang="en-AU" sz="1800">
                <a:solidFill>
                  <a:srgbClr val="0070C0"/>
                </a:solidFill>
              </a:rPr>
            </a:br>
            <a:r>
              <a:rPr lang="en-AU" sz="1800">
                <a:solidFill>
                  <a:srgbClr val="0070C0"/>
                </a:solidFill>
              </a:rPr>
              <a:t>	( (SELECT b.beer FROM likes b WHERE b.drinker = ’Justin’)	    	    EXCEPT</a:t>
            </a:r>
            <a:br>
              <a:rPr lang="en-AU" sz="1800">
                <a:solidFill>
                  <a:srgbClr val="0070C0"/>
                </a:solidFill>
              </a:rPr>
            </a:br>
            <a:r>
              <a:rPr lang="en-AU" sz="1800">
                <a:solidFill>
                  <a:srgbClr val="0070C0"/>
                </a:solidFill>
              </a:rPr>
              <a:t>	   (SELECT c.beer FROM sells c WHERE c.bar = a.bar )</a:t>
            </a:r>
            <a:br>
              <a:rPr lang="en-AU" sz="1800">
                <a:solidFill>
                  <a:srgbClr val="0070C0"/>
                </a:solidFill>
              </a:rPr>
            </a:br>
            <a:r>
              <a:rPr lang="en-AU" sz="1800">
                <a:solidFill>
                  <a:srgbClr val="0070C0"/>
                </a:solidFill>
              </a:rPr>
              <a:t>	);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i="1"/>
              <a:t>(Example: Find bars each of which sell all beers Justin likes)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Aggregate Functions in SQL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5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Selection clauses can contain aggregation operations.</a:t>
            </a:r>
            <a:br>
              <a:rPr lang="en-AU"/>
            </a:br>
            <a:br>
              <a:rPr lang="en-AU"/>
            </a:br>
            <a:r>
              <a:rPr lang="en-AU"/>
              <a:t>Example: What is the average price of New?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>
                <a:solidFill>
                  <a:srgbClr val="0070C0"/>
                </a:solidFill>
              </a:rPr>
              <a:t>SELECT AVG(price)        		  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FROM Sells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WHERE beer = ’New’;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i="1"/>
              <a:t>AVG(PRICE)</a:t>
            </a:r>
            <a:br>
              <a:rPr lang="en-AU" i="1"/>
            </a:br>
            <a:r>
              <a:rPr lang="en-AU" i="1"/>
              <a:t>----------</a:t>
            </a:r>
            <a:br>
              <a:rPr lang="en-AU" i="1"/>
            </a:br>
            <a:r>
              <a:rPr lang="en-AU" i="1"/>
              <a:t>2.3875</a:t>
            </a:r>
            <a:endParaRPr/>
          </a:p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rgbClr val="0070C0"/>
              </a:solidFill>
            </a:endParaRPr>
          </a:p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rgbClr val="0070C0"/>
              </a:solidFill>
            </a:endParaRPr>
          </a:p>
        </p:txBody>
      </p:sp>
      <p:sp>
        <p:nvSpPr>
          <p:cNvPr id="213" name="Google Shape;213;p2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12</a:t>
            </a:fld>
            <a:endParaRPr/>
          </a:p>
        </p:txBody>
      </p:sp>
      <p:graphicFrame>
        <p:nvGraphicFramePr>
          <p:cNvPr id="214" name="Google Shape;214;p25"/>
          <p:cNvGraphicFramePr/>
          <p:nvPr/>
        </p:nvGraphicFramePr>
        <p:xfrm>
          <a:off x="4267200" y="2477414"/>
          <a:ext cx="4242475" cy="1493375"/>
        </p:xfrm>
        <a:graphic>
          <a:graphicData uri="http://schemas.openxmlformats.org/drawingml/2006/table">
            <a:tbl>
              <a:tblPr firstRow="1" bandRow="1">
                <a:noFill/>
                <a:tableStyleId>{50AE1288-F5F2-4D6A-8879-A3F6C42F5F09}</a:tableStyleId>
              </a:tblPr>
              <a:tblGrid>
                <a:gridCol w="158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AU" sz="1300" b="0" u="none" strike="noStrike" cap="none">
                          <a:solidFill>
                            <a:srgbClr val="000000"/>
                          </a:solidFill>
                        </a:rPr>
                        <a:t>Bar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5" marR="7575" marT="7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AU" sz="1300" b="0" u="none" strike="noStrike" cap="none">
                          <a:solidFill>
                            <a:srgbClr val="000000"/>
                          </a:solidFill>
                        </a:rPr>
                        <a:t>Beer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5" marR="7575" marT="7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AU" sz="1300" b="0" u="none" strike="noStrike" cap="none">
                          <a:solidFill>
                            <a:srgbClr val="000000"/>
                          </a:solidFill>
                        </a:rPr>
                        <a:t>Price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5" marR="7575" marT="757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AU" sz="1300" b="0" u="none" strike="noStrike" cap="none">
                          <a:solidFill>
                            <a:srgbClr val="000000"/>
                          </a:solidFill>
                        </a:rPr>
                        <a:t>Coogee Bay Hotel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5" marR="7575" marT="7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AU" sz="13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5" marR="7575" marT="7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AU" sz="1300" b="0" u="none" strike="noStrike" cap="none">
                          <a:solidFill>
                            <a:srgbClr val="000000"/>
                          </a:solidFill>
                        </a:rPr>
                        <a:t>2.25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5" marR="7575" marT="757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AU" sz="1300" b="0" u="none" strike="noStrike" cap="none">
                          <a:solidFill>
                            <a:srgbClr val="000000"/>
                          </a:solidFill>
                        </a:rPr>
                        <a:t>Marble Bar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5" marR="7575" marT="7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AU" sz="13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5" marR="7575" marT="7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AU" sz="1300" b="0" u="none" strike="noStrike" cap="none">
                          <a:solidFill>
                            <a:srgbClr val="000000"/>
                          </a:solidFill>
                        </a:rPr>
                        <a:t>2.8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5" marR="7575" marT="757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AU" sz="1300" b="0" u="none" strike="noStrike" cap="none">
                          <a:solidFill>
                            <a:srgbClr val="000000"/>
                          </a:solidFill>
                        </a:rPr>
                        <a:t>Regent Hotel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5" marR="7575" marT="7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AU" sz="13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5" marR="7575" marT="7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AU" sz="1300" b="0" u="none" strike="noStrike" cap="none">
                          <a:solidFill>
                            <a:srgbClr val="000000"/>
                          </a:solidFill>
                        </a:rPr>
                        <a:t>2.2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5" marR="7575" marT="757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AU" sz="1300" b="0" u="none" strike="noStrike" cap="none">
                          <a:solidFill>
                            <a:srgbClr val="000000"/>
                          </a:solidFill>
                        </a:rPr>
                        <a:t>Royal Hotel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5" marR="7575" marT="7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AU" sz="13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5" marR="7575" marT="7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AU" sz="1300" b="0" u="none" strike="noStrike" cap="none">
                          <a:solidFill>
                            <a:srgbClr val="000000"/>
                          </a:solidFill>
                        </a:rPr>
                        <a:t>2.3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5" marR="7575" marT="757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5" name="Google Shape;215;p25"/>
          <p:cNvSpPr/>
          <p:nvPr/>
        </p:nvSpPr>
        <p:spPr>
          <a:xfrm>
            <a:off x="1874107" y="2306596"/>
            <a:ext cx="1330500" cy="3438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Aggregation in SQL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Aggregation follows a </a:t>
            </a:r>
            <a:r>
              <a:rPr lang="en-AU" b="1"/>
              <a:t>multi-set</a:t>
            </a:r>
            <a:r>
              <a:rPr lang="en-AU"/>
              <a:t> semantic.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We can specify a set semantic by using DISTINCT in the aggregation function.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>
                <a:solidFill>
                  <a:srgbClr val="0070C0"/>
                </a:solidFill>
              </a:rPr>
              <a:t>SELECT COUNT(</a:t>
            </a:r>
            <a:r>
              <a:rPr lang="en-AU" b="1">
                <a:solidFill>
                  <a:srgbClr val="0070C0"/>
                </a:solidFill>
              </a:rPr>
              <a:t>DISTINCT</a:t>
            </a:r>
            <a:r>
              <a:rPr lang="en-AU">
                <a:solidFill>
                  <a:srgbClr val="0070C0"/>
                </a:solidFill>
              </a:rPr>
              <a:t> bar)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FROM Sells;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By default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>
                <a:solidFill>
                  <a:srgbClr val="0070C0"/>
                </a:solidFill>
              </a:rPr>
              <a:t>SELECT COUNT(</a:t>
            </a:r>
            <a:r>
              <a:rPr lang="en-AU" b="1">
                <a:solidFill>
                  <a:srgbClr val="0070C0"/>
                </a:solidFill>
              </a:rPr>
              <a:t>ALL</a:t>
            </a:r>
            <a:r>
              <a:rPr lang="en-AU">
                <a:solidFill>
                  <a:srgbClr val="0070C0"/>
                </a:solidFill>
              </a:rPr>
              <a:t> bar)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FROM Sells;</a:t>
            </a:r>
            <a:endParaRPr/>
          </a:p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23" name="Google Shape;223;p2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13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Common Aggregations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7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800"/>
              <a:t>List of several built-in aggregate functions exist in SQL: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SUM ()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AVG ()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MIN ()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MAX ()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COUNT ()</a:t>
            </a:r>
            <a:endParaRPr/>
          </a:p>
          <a:p>
            <a:pPr marL="34290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800"/>
              <a:t>The above operators apply to numeric values in one column of a relation.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800"/>
              <a:t>Exception:  COUNT(*) gives the number of tuples in a relation.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2"/>
              <a:buNone/>
            </a:pP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2"/>
              <a:buNone/>
            </a:pPr>
            <a:r>
              <a:rPr lang="en-AU" sz="1800" b="1"/>
              <a:t>Example:</a:t>
            </a:r>
            <a:r>
              <a:rPr lang="en-AU" sz="1800"/>
              <a:t> How many different beers are there?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2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2"/>
              <a:buNone/>
            </a:pPr>
            <a:r>
              <a:rPr lang="en-AU" sz="1800"/>
              <a:t>SELECT COUNT(*) FROM Beers;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2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2"/>
              <a:buNone/>
            </a:pPr>
            <a:r>
              <a:rPr lang="en-AU" sz="1800"/>
              <a:t>COUNT(*)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2"/>
              <a:buNone/>
            </a:pPr>
            <a:r>
              <a:rPr lang="en-AU" sz="1800"/>
              <a:t>----------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92"/>
              <a:buNone/>
            </a:pPr>
            <a:r>
              <a:rPr lang="en-AU" sz="1800"/>
              <a:t>18</a:t>
            </a:r>
            <a:endParaRPr sz="1800"/>
          </a:p>
        </p:txBody>
      </p:sp>
      <p:sp>
        <p:nvSpPr>
          <p:cNvPr id="231" name="Google Shape;231;p2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Null Values and Aggregates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8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7478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Aggregation ignores NULL values if present in the column specified.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Total all salaries: select sum (salary ) from instructor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Above statement ignores null amounts</a:t>
            </a:r>
            <a:endParaRPr sz="1800"/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Result is null if there is no non-null amount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All aggregate operations ignore tuples with null values on the aggregated attributes: except </a:t>
            </a:r>
            <a:r>
              <a:rPr lang="en-AU">
                <a:solidFill>
                  <a:srgbClr val="0070C0"/>
                </a:solidFill>
              </a:rPr>
              <a:t>COUNT(*)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Aggregation &amp; Null Values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9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120"/>
              <a:buNone/>
            </a:pPr>
            <a:r>
              <a:rPr lang="en-AU"/>
              <a:t>select </a:t>
            </a:r>
            <a:r>
              <a:rPr lang="en-AU">
                <a:solidFill>
                  <a:srgbClr val="0070C0"/>
                </a:solidFill>
              </a:rPr>
              <a:t>count(A1) </a:t>
            </a:r>
            <a:r>
              <a:rPr lang="en-AU"/>
              <a:t>from 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899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8107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The answer is 3.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120"/>
              <a:buNone/>
            </a:pPr>
            <a:r>
              <a:rPr lang="en-AU"/>
              <a:t>select  </a:t>
            </a:r>
            <a:r>
              <a:rPr lang="en-AU">
                <a:solidFill>
                  <a:srgbClr val="0070C0"/>
                </a:solidFill>
              </a:rPr>
              <a:t>count(distinct A1) </a:t>
            </a:r>
            <a:r>
              <a:rPr lang="en-AU"/>
              <a:t>from 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899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8107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The answer is 3.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120"/>
              <a:buNone/>
            </a:pPr>
            <a:r>
              <a:rPr lang="en-AU"/>
              <a:t>As specified by SQL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899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8107"/>
              <a:buFont typeface="Courier New"/>
              <a:buChar char="o"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count(*) </a:t>
            </a:r>
            <a:r>
              <a:rPr lang="en-AU" sz="2000">
                <a:latin typeface="Arial"/>
                <a:ea typeface="Arial"/>
                <a:cs typeface="Arial"/>
                <a:sym typeface="Arial"/>
              </a:rPr>
              <a:t>counts null and non-null tuples</a:t>
            </a:r>
            <a:endParaRPr sz="1800"/>
          </a:p>
          <a:p>
            <a:pPr marL="342900" lvl="0" indent="-342899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8107"/>
              <a:buFont typeface="Courier New"/>
              <a:buChar char="o"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count(attribute) </a:t>
            </a:r>
            <a:r>
              <a:rPr lang="en-AU" sz="2000">
                <a:latin typeface="Arial"/>
                <a:ea typeface="Arial"/>
                <a:cs typeface="Arial"/>
                <a:sym typeface="Arial"/>
              </a:rPr>
              <a:t>counts all non-null tuples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-AU"/>
              <a:t>Practice: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342899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8107"/>
              <a:buFont typeface="Courier New"/>
              <a:buChar char="o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What would count(A1) if all values in column in A1 were NULL?</a:t>
            </a:r>
            <a:endParaRPr/>
          </a:p>
          <a:p>
            <a:pPr marL="342900" lvl="0" indent="-342899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8107"/>
              <a:buFont typeface="Courier New"/>
              <a:buChar char="o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What would max(A1) if all values in column in A1 were NULL?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6" name="Google Shape;246;p29"/>
          <p:cNvGraphicFramePr/>
          <p:nvPr/>
        </p:nvGraphicFramePr>
        <p:xfrm>
          <a:off x="5801026" y="1354138"/>
          <a:ext cx="2632075" cy="1981250"/>
        </p:xfrm>
        <a:graphic>
          <a:graphicData uri="http://schemas.openxmlformats.org/drawingml/2006/table">
            <a:tbl>
              <a:tblPr>
                <a:noFill/>
                <a:tableStyleId>{277B2263-230E-42F3-A370-D49B4969F33C}</a:tableStyleId>
              </a:tblPr>
              <a:tblGrid>
                <a:gridCol w="51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1" u="none" strike="noStrike" cap="none">
                          <a:solidFill>
                            <a:schemeClr val="dk1"/>
                          </a:solidFill>
                        </a:rPr>
                        <a:t>A1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1" u="none" strike="noStrike" cap="none">
                          <a:solidFill>
                            <a:schemeClr val="dk1"/>
                          </a:solidFill>
                        </a:rPr>
                        <a:t>A2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1" u="none" strike="noStrike" cap="none">
                          <a:solidFill>
                            <a:schemeClr val="dk1"/>
                          </a:solidFill>
                        </a:rPr>
                        <a:t>A3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1" u="none" strike="noStrike" cap="none">
                          <a:solidFill>
                            <a:schemeClr val="dk1"/>
                          </a:solidFill>
                        </a:rPr>
                        <a:t>A4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0" u="none" strike="noStrike" cap="none">
                          <a:solidFill>
                            <a:schemeClr val="dk1"/>
                          </a:solidFill>
                        </a:rPr>
                        <a:t>alpha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0" u="none" strike="noStrike" cap="none">
                          <a:solidFill>
                            <a:schemeClr val="dk1"/>
                          </a:solidFill>
                        </a:rPr>
                        <a:t>x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0" u="none" strike="noStrike" cap="none">
                          <a:solidFill>
                            <a:schemeClr val="dk1"/>
                          </a:solidFill>
                        </a:rPr>
                        <a:t>beta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0" u="none" strike="noStrike" cap="none">
                          <a:solidFill>
                            <a:schemeClr val="dk1"/>
                          </a:solidFill>
                        </a:rPr>
                        <a:t>gamma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0" u="none" strike="noStrike" cap="none">
                          <a:solidFill>
                            <a:schemeClr val="dk1"/>
                          </a:solidFill>
                        </a:rPr>
                        <a:t> 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0" u="none" strike="noStrike" cap="none">
                          <a:solidFill>
                            <a:schemeClr val="dk1"/>
                          </a:solidFill>
                        </a:rPr>
                        <a:t>delta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AU" sz="2000" b="0" u="none" strike="noStrike" cap="none">
                          <a:solidFill>
                            <a:schemeClr val="dk1"/>
                          </a:solidFill>
                        </a:rPr>
                        <a:t>x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Grouping and Aggregation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0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b="0" i="0"/>
              <a:t>What is grouping? Grouping is the </a:t>
            </a:r>
            <a:r>
              <a:rPr lang="en-AU" i="0"/>
              <a:t>application of aggregate functions </a:t>
            </a:r>
            <a:r>
              <a:rPr lang="en-AU" b="0" i="1"/>
              <a:t>to </a:t>
            </a:r>
            <a:r>
              <a:rPr lang="en-AU" b="1" i="1"/>
              <a:t>subgroups of tuples </a:t>
            </a:r>
            <a:r>
              <a:rPr lang="en-AU" i="1"/>
              <a:t>of</a:t>
            </a:r>
            <a:r>
              <a:rPr lang="en-AU" b="1" i="1"/>
              <a:t> </a:t>
            </a:r>
            <a:r>
              <a:rPr lang="en-AU" b="0" i="1"/>
              <a:t>a table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i="1"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i="1"/>
              <a:t>Grouping is typically used in queries involving the phrase “for each”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I now know the SUM() of money </a:t>
            </a:r>
            <a:r>
              <a:rPr lang="en-AU" b="1"/>
              <a:t>all employees </a:t>
            </a:r>
            <a:r>
              <a:rPr lang="en-AU"/>
              <a:t>has made, but I’m </a:t>
            </a:r>
            <a:r>
              <a:rPr lang="en-AU" b="1"/>
              <a:t>more interested in </a:t>
            </a:r>
            <a:r>
              <a:rPr lang="en-AU"/>
              <a:t>the money made by </a:t>
            </a:r>
            <a:r>
              <a:rPr lang="en-AU" b="1"/>
              <a:t>each</a:t>
            </a:r>
            <a:r>
              <a:rPr lang="en-AU"/>
              <a:t> </a:t>
            </a:r>
            <a:r>
              <a:rPr lang="en-AU" b="1"/>
              <a:t>employee</a:t>
            </a:r>
            <a:r>
              <a:rPr lang="en-AU"/>
              <a:t>…</a:t>
            </a:r>
            <a:endParaRPr b="0" i="0"/>
          </a:p>
        </p:txBody>
      </p:sp>
      <p:sp>
        <p:nvSpPr>
          <p:cNvPr id="254" name="Google Shape;254;p3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Grouping and Aggregation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1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b="0"/>
              <a:t>In many cases we want to apply the aggregate functions to subgroups of tuples in a relation, where the subgroups are based on some attribute values.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Syntax:</a:t>
            </a:r>
            <a:br>
              <a:rPr lang="en-AU"/>
            </a:br>
            <a:r>
              <a:rPr lang="en-AU"/>
              <a:t>SELECT attributes and aggregations</a:t>
            </a:r>
            <a:br>
              <a:rPr lang="en-AU"/>
            </a:br>
            <a:r>
              <a:rPr lang="en-AU"/>
              <a:t>FROM relations</a:t>
            </a:r>
            <a:br>
              <a:rPr lang="en-AU"/>
            </a:br>
            <a:r>
              <a:rPr lang="en-AU"/>
              <a:t>WHERE condition</a:t>
            </a:r>
            <a:br>
              <a:rPr lang="en-AU"/>
            </a:br>
            <a:r>
              <a:rPr lang="en-AU" b="1"/>
              <a:t>GROUP BY </a:t>
            </a:r>
            <a:r>
              <a:rPr lang="en-AU"/>
              <a:t>attribute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Operational Semantics: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Partition result relation into groups based on distinct values of attribute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Apply the aggregation(s) on each group separately</a:t>
            </a:r>
            <a:endParaRPr/>
          </a:p>
        </p:txBody>
      </p:sp>
      <p:sp>
        <p:nvSpPr>
          <p:cNvPr id="262" name="Google Shape;262;p3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18</a:t>
            </a:fld>
            <a:endParaRPr/>
          </a:p>
        </p:txBody>
      </p:sp>
      <p:sp>
        <p:nvSpPr>
          <p:cNvPr id="263" name="Google Shape;263;p31"/>
          <p:cNvSpPr/>
          <p:nvPr/>
        </p:nvSpPr>
        <p:spPr>
          <a:xfrm>
            <a:off x="827576" y="3582979"/>
            <a:ext cx="2350500" cy="3048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1"/>
          <p:cNvSpPr/>
          <p:nvPr/>
        </p:nvSpPr>
        <p:spPr>
          <a:xfrm>
            <a:off x="3010998" y="2628349"/>
            <a:ext cx="1981200" cy="3048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Grouping and Aggregation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2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For each drinker, find the average price of New at the bars they frequently go to.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>
                <a:solidFill>
                  <a:srgbClr val="0070C0"/>
                </a:solidFill>
              </a:rPr>
              <a:t>SELECT drinker, AVG(price)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FROM Frequents, Sells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WHERE beer = ’New’ AND Frequents.bar = Sells.bar</a:t>
            </a:r>
            <a:br>
              <a:rPr lang="en-AU">
                <a:solidFill>
                  <a:srgbClr val="0070C0"/>
                </a:solidFill>
              </a:rPr>
            </a:br>
            <a:r>
              <a:rPr lang="en-AU" b="1">
                <a:solidFill>
                  <a:srgbClr val="0070C0"/>
                </a:solidFill>
              </a:rPr>
              <a:t>GROUP BY </a:t>
            </a:r>
            <a:r>
              <a:rPr lang="en-AU">
                <a:solidFill>
                  <a:srgbClr val="0070C0"/>
                </a:solidFill>
              </a:rPr>
              <a:t>drinker;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DRINKER 		AVG(PRICE)</a:t>
            </a:r>
            <a:br>
              <a:rPr lang="en-AU" sz="2000"/>
            </a:br>
            <a:r>
              <a:rPr lang="en-AU" sz="2000"/>
              <a:t>------------------	----------------</a:t>
            </a:r>
            <a:br>
              <a:rPr lang="en-AU" sz="2000"/>
            </a:br>
            <a:r>
              <a:rPr lang="en-AU" sz="2000"/>
              <a:t>Adam 			2.25</a:t>
            </a:r>
            <a:br>
              <a:rPr lang="en-AU" sz="2000"/>
            </a:br>
            <a:r>
              <a:rPr lang="en-AU" sz="2000"/>
              <a:t>John 			2.25</a:t>
            </a:r>
            <a:br>
              <a:rPr lang="en-AU" sz="2000"/>
            </a:br>
            <a:r>
              <a:rPr lang="en-AU" sz="2000"/>
              <a:t>Justin 			2.5</a:t>
            </a:r>
            <a:endParaRPr/>
          </a:p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/>
          </a:p>
        </p:txBody>
      </p:sp>
      <p:sp>
        <p:nvSpPr>
          <p:cNvPr id="272" name="Google Shape;272;p3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Grouping and Aggregation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3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To use group by correctly, </a:t>
            </a:r>
            <a:r>
              <a:rPr lang="en-AU" b="1"/>
              <a:t>every</a:t>
            </a:r>
            <a:r>
              <a:rPr lang="en-AU"/>
              <a:t> attribute in the SELECT list must either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be inside an aggregate function OR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be in the GROUP-BY clause without an aggregate function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AU"/>
              <a:t>Is this correct? No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b="1"/>
              <a:t>SELECT </a:t>
            </a:r>
            <a:r>
              <a:rPr lang="en-AU" i="1">
                <a:solidFill>
                  <a:srgbClr val="0000FF"/>
                </a:solidFill>
              </a:rPr>
              <a:t>dept_name</a:t>
            </a:r>
            <a:r>
              <a:rPr lang="en-AU"/>
              <a:t>, </a:t>
            </a:r>
            <a:r>
              <a:rPr lang="en-AU" i="1">
                <a:solidFill>
                  <a:srgbClr val="C00000"/>
                </a:solidFill>
              </a:rPr>
              <a:t>ID</a:t>
            </a:r>
            <a:r>
              <a:rPr lang="en-AU"/>
              <a:t>, </a:t>
            </a:r>
            <a:r>
              <a:rPr lang="en-AU" b="1"/>
              <a:t>AVG</a:t>
            </a:r>
            <a:r>
              <a:rPr lang="en-AU"/>
              <a:t>(</a:t>
            </a:r>
            <a:r>
              <a:rPr lang="en-AU" i="1"/>
              <a:t>salary</a:t>
            </a:r>
            <a:r>
              <a:rPr lang="en-AU"/>
              <a:t>)</a:t>
            </a:r>
            <a:br>
              <a:rPr lang="en-AU"/>
            </a:br>
            <a:r>
              <a:rPr lang="en-AU" b="1"/>
              <a:t>FROM </a:t>
            </a:r>
            <a:r>
              <a:rPr lang="en-AU" i="1"/>
              <a:t>instructor</a:t>
            </a:r>
            <a:br>
              <a:rPr lang="en-AU" i="1"/>
            </a:br>
            <a:r>
              <a:rPr lang="en-AU" b="1"/>
              <a:t>GROUP BY </a:t>
            </a:r>
            <a:r>
              <a:rPr lang="en-AU" i="1">
                <a:solidFill>
                  <a:srgbClr val="0000FF"/>
                </a:solidFill>
              </a:rPr>
              <a:t>dept_name</a:t>
            </a:r>
            <a:r>
              <a:rPr lang="en-AU"/>
              <a:t>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rgbClr val="FF0000"/>
              </a:solidFill>
            </a:endParaRPr>
          </a:p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20</a:t>
            </a:fld>
            <a:endParaRPr/>
          </a:p>
        </p:txBody>
      </p:sp>
      <p:pic>
        <p:nvPicPr>
          <p:cNvPr id="281" name="Google Shape;281;p33" descr="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2216" y="2566086"/>
            <a:ext cx="3523586" cy="2909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Grouping and Aggregation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4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b="1"/>
              <a:t>Example: </a:t>
            </a:r>
            <a:r>
              <a:rPr lang="en-AU"/>
              <a:t>Find the cheapest beer price in each bar.</a:t>
            </a:r>
            <a:endParaRPr>
              <a:solidFill>
                <a:srgbClr val="0070C0"/>
              </a:solidFill>
            </a:endParaRPr>
          </a:p>
          <a:p>
            <a:pPr marL="91440" lvl="0" indent="355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>
                <a:solidFill>
                  <a:srgbClr val="0070C0"/>
                </a:solidFill>
              </a:rPr>
              <a:t>SELECT </a:t>
            </a:r>
            <a:r>
              <a:rPr lang="en-AU" b="1">
                <a:solidFill>
                  <a:srgbClr val="0070C0"/>
                </a:solidFill>
              </a:rPr>
              <a:t>bar</a:t>
            </a:r>
            <a:r>
              <a:rPr lang="en-AU">
                <a:solidFill>
                  <a:srgbClr val="0070C0"/>
                </a:solidFill>
              </a:rPr>
              <a:t>, </a:t>
            </a:r>
            <a:r>
              <a:rPr lang="en-AU" b="1">
                <a:solidFill>
                  <a:srgbClr val="0070C0"/>
                </a:solidFill>
              </a:rPr>
              <a:t>MIN(price)</a:t>
            </a:r>
            <a:br>
              <a:rPr lang="en-AU" b="1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FROM Sells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GROUP BY </a:t>
            </a:r>
            <a:r>
              <a:rPr lang="en-AU" b="1">
                <a:solidFill>
                  <a:srgbClr val="0070C0"/>
                </a:solidFill>
              </a:rPr>
              <a:t>bar</a:t>
            </a:r>
            <a:r>
              <a:rPr lang="en-AU">
                <a:solidFill>
                  <a:srgbClr val="0070C0"/>
                </a:solidFill>
              </a:rPr>
              <a:t>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Bar 				MIN(PRICE)</a:t>
            </a:r>
            <a:br>
              <a:rPr lang="en-AU"/>
            </a:br>
            <a:r>
              <a:rPr lang="en-AU"/>
              <a:t>-------------------		---------------------</a:t>
            </a:r>
            <a:br>
              <a:rPr lang="en-AU"/>
            </a:br>
            <a:r>
              <a:rPr lang="en-AU"/>
              <a:t>Australia Hotel 		3.5</a:t>
            </a:r>
            <a:br>
              <a:rPr lang="en-AU"/>
            </a:br>
            <a:r>
              <a:rPr lang="en-AU"/>
              <a:t>Coogee Bay Hotel 	2.25</a:t>
            </a:r>
            <a:br>
              <a:rPr lang="en-AU"/>
            </a:br>
            <a:r>
              <a:rPr lang="en-AU"/>
              <a:t>Lord Nelson 		3.75</a:t>
            </a:r>
            <a:br>
              <a:rPr lang="en-AU"/>
            </a:br>
            <a:r>
              <a:rPr lang="en-AU"/>
              <a:t>Marble Bar 			2.8</a:t>
            </a:r>
            <a:br>
              <a:rPr lang="en-AU" i="1"/>
            </a:br>
            <a:r>
              <a:rPr lang="en-AU" i="1"/>
              <a:t>…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What if I only wanted results with a min(price) &gt;2.3?</a:t>
            </a:r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Group by and Having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5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b="0" dirty="0">
                <a:solidFill>
                  <a:srgbClr val="000000"/>
                </a:solidFill>
              </a:rPr>
              <a:t>SQL provides a HAVING clause, which can appear in conjunction with a GROUP BY clause.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dirty="0"/>
              <a:t>SELECT attributes and aggregations</a:t>
            </a:r>
            <a:br>
              <a:rPr lang="en-AU" dirty="0"/>
            </a:br>
            <a:r>
              <a:rPr lang="en-AU" dirty="0"/>
              <a:t>FROM relations</a:t>
            </a:r>
            <a:br>
              <a:rPr lang="en-AU" dirty="0"/>
            </a:br>
            <a:r>
              <a:rPr lang="en-AU" dirty="0"/>
              <a:t>WHERE condition</a:t>
            </a:r>
            <a:br>
              <a:rPr lang="en-AU" dirty="0"/>
            </a:br>
            <a:r>
              <a:rPr lang="en-AU" b="1" dirty="0"/>
              <a:t>GROUP BY </a:t>
            </a:r>
            <a:r>
              <a:rPr lang="en-AU" dirty="0"/>
              <a:t>attribute</a:t>
            </a:r>
            <a:br>
              <a:rPr lang="en-AU" dirty="0"/>
            </a:br>
            <a:r>
              <a:rPr lang="en-AU" b="1" dirty="0"/>
              <a:t>HAVING</a:t>
            </a:r>
            <a:r>
              <a:rPr lang="en-AU" dirty="0"/>
              <a:t> </a:t>
            </a:r>
            <a:r>
              <a:rPr lang="en-AU" dirty="0" err="1"/>
              <a:t>condition_on_group</a:t>
            </a:r>
            <a:r>
              <a:rPr lang="en-AU" dirty="0"/>
              <a:t>;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dirty="0"/>
              <a:t>Example: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dirty="0">
                <a:solidFill>
                  <a:srgbClr val="0070C0"/>
                </a:solidFill>
              </a:rPr>
              <a:t>SELECT bar, </a:t>
            </a:r>
            <a:r>
              <a:rPr lang="en-AU" b="1" dirty="0">
                <a:solidFill>
                  <a:srgbClr val="0070C0"/>
                </a:solidFill>
              </a:rPr>
              <a:t>MIN(price)</a:t>
            </a:r>
            <a:br>
              <a:rPr lang="en-AU" b="1" dirty="0">
                <a:solidFill>
                  <a:srgbClr val="0070C0"/>
                </a:solidFill>
              </a:rPr>
            </a:br>
            <a:r>
              <a:rPr lang="en-AU" dirty="0">
                <a:solidFill>
                  <a:srgbClr val="0070C0"/>
                </a:solidFill>
              </a:rPr>
              <a:t>FROM Sells</a:t>
            </a:r>
            <a:br>
              <a:rPr lang="en-AU" dirty="0">
                <a:solidFill>
                  <a:srgbClr val="0070C0"/>
                </a:solidFill>
              </a:rPr>
            </a:br>
            <a:r>
              <a:rPr lang="en-AU" dirty="0">
                <a:solidFill>
                  <a:srgbClr val="0070C0"/>
                </a:solidFill>
              </a:rPr>
              <a:t>GROUP BY BAR</a:t>
            </a:r>
            <a:br>
              <a:rPr lang="en-AU" dirty="0">
                <a:solidFill>
                  <a:srgbClr val="0070C0"/>
                </a:solidFill>
              </a:rPr>
            </a:br>
            <a:r>
              <a:rPr lang="en-AU" b="1" dirty="0">
                <a:solidFill>
                  <a:srgbClr val="0070C0"/>
                </a:solidFill>
              </a:rPr>
              <a:t>HAVING MIN(price) &gt; 2.3;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dirty="0"/>
              <a:t>Thought: can we put the condition on select instead? </a:t>
            </a:r>
            <a:endParaRPr dirty="0"/>
          </a:p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>
              <a:solidFill>
                <a:srgbClr val="0070C0"/>
              </a:solidFill>
            </a:endParaRPr>
          </a:p>
        </p:txBody>
      </p:sp>
      <p:sp>
        <p:nvSpPr>
          <p:cNvPr id="297" name="Google Shape;297;p3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22</a:t>
            </a:fld>
            <a:endParaRPr/>
          </a:p>
        </p:txBody>
      </p:sp>
      <p:sp>
        <p:nvSpPr>
          <p:cNvPr id="298" name="Google Shape;298;p35"/>
          <p:cNvSpPr txBox="1"/>
          <p:nvPr/>
        </p:nvSpPr>
        <p:spPr>
          <a:xfrm>
            <a:off x="4572000" y="2625268"/>
            <a:ext cx="45720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 			MIN(PRICE)</a:t>
            </a:r>
            <a:br>
              <a:rPr lang="en-A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-------------------		---------------------</a:t>
            </a:r>
            <a:br>
              <a:rPr lang="en-A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Australia Hotel 		3.5</a:t>
            </a:r>
            <a:br>
              <a:rPr lang="en-A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Coogee Bay Hotel 	2.25</a:t>
            </a:r>
            <a:br>
              <a:rPr lang="en-A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Lord Nelson 		3.75</a:t>
            </a:r>
            <a:br>
              <a:rPr lang="en-A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Marble Bar 		2.8</a:t>
            </a:r>
            <a:br>
              <a:rPr lang="en-A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Royal Hotel 		2.3</a:t>
            </a:r>
            <a:br>
              <a:rPr lang="en-A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5"/>
          <p:cNvSpPr/>
          <p:nvPr/>
        </p:nvSpPr>
        <p:spPr>
          <a:xfrm>
            <a:off x="676701" y="2729330"/>
            <a:ext cx="3509400" cy="620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Order By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6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>
                <a:solidFill>
                  <a:schemeClr val="dk1"/>
                </a:solidFill>
              </a:rPr>
              <a:t>The result relation of a SQL query has no particular order since it’s a (multi-)set. We can enforce an order using order by.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solidFill>
                <a:srgbClr val="0000C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solidFill>
                <a:srgbClr val="0000C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b="1">
                <a:solidFill>
                  <a:srgbClr val="0000CD"/>
                </a:solidFill>
              </a:rPr>
              <a:t>SELECT</a:t>
            </a:r>
            <a:r>
              <a:rPr lang="en-AU" b="1">
                <a:solidFill>
                  <a:schemeClr val="dk1"/>
                </a:solidFill>
              </a:rPr>
              <a:t> column1, column2, ...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b="1">
                <a:solidFill>
                  <a:srgbClr val="0000CD"/>
                </a:solidFill>
              </a:rPr>
              <a:t>FROM</a:t>
            </a:r>
            <a:r>
              <a:rPr lang="en-AU" b="1">
                <a:solidFill>
                  <a:schemeClr val="dk1"/>
                </a:solidFill>
              </a:rPr>
              <a:t> table_name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 b="1">
                <a:solidFill>
                  <a:srgbClr val="0000CD"/>
                </a:solidFill>
                <a:highlight>
                  <a:srgbClr val="FFFF00"/>
                </a:highlight>
              </a:rPr>
              <a:t>ORDER</a:t>
            </a:r>
            <a:r>
              <a:rPr lang="en-AU" b="1">
                <a:solidFill>
                  <a:schemeClr val="dk1"/>
                </a:solidFill>
                <a:highlight>
                  <a:srgbClr val="FFFF00"/>
                </a:highlight>
              </a:rPr>
              <a:t> </a:t>
            </a:r>
            <a:r>
              <a:rPr lang="en-AU" b="1">
                <a:solidFill>
                  <a:srgbClr val="0000CD"/>
                </a:solidFill>
                <a:highlight>
                  <a:srgbClr val="FFFF00"/>
                </a:highlight>
              </a:rPr>
              <a:t>BY</a:t>
            </a:r>
            <a:r>
              <a:rPr lang="en-AU" b="1">
                <a:solidFill>
                  <a:schemeClr val="dk1"/>
                </a:solidFill>
                <a:highlight>
                  <a:srgbClr val="FFFF00"/>
                </a:highlight>
              </a:rPr>
              <a:t> column1, column2, ... </a:t>
            </a:r>
            <a:r>
              <a:rPr lang="en-AU" b="1">
                <a:solidFill>
                  <a:srgbClr val="0000CD"/>
                </a:solidFill>
                <a:highlight>
                  <a:srgbClr val="FFFF00"/>
                </a:highlight>
              </a:rPr>
              <a:t>ASC</a:t>
            </a:r>
            <a:r>
              <a:rPr lang="en-AU" b="1">
                <a:solidFill>
                  <a:schemeClr val="dk1"/>
                </a:solidFill>
                <a:highlight>
                  <a:srgbClr val="FFFF00"/>
                </a:highlight>
              </a:rPr>
              <a:t>|</a:t>
            </a:r>
            <a:r>
              <a:rPr lang="en-AU" b="1">
                <a:solidFill>
                  <a:srgbClr val="0000CD"/>
                </a:solidFill>
                <a:highlight>
                  <a:srgbClr val="FFFF00"/>
                </a:highlight>
              </a:rPr>
              <a:t>DESC</a:t>
            </a:r>
            <a:r>
              <a:rPr lang="en-AU" b="1">
                <a:solidFill>
                  <a:schemeClr val="dk1"/>
                </a:solidFill>
              </a:rPr>
              <a:t>;</a:t>
            </a:r>
            <a:endParaRPr b="1"/>
          </a:p>
        </p:txBody>
      </p:sp>
      <p:sp>
        <p:nvSpPr>
          <p:cNvPr id="307" name="Google Shape;307;p3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7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Summary on SQL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7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b="0"/>
              <a:t>There are a maximum of six clauses that could be used in a SELECT stmt.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br>
              <a:rPr lang="en-AU" sz="2000" b="0"/>
            </a:br>
            <a:r>
              <a:rPr lang="en-AU" sz="2000" b="1"/>
              <a:t>SELECT</a:t>
            </a:r>
            <a:r>
              <a:rPr lang="en-AU" sz="2000" b="0"/>
              <a:t> &lt;attribute and function list&gt;</a:t>
            </a:r>
            <a:br>
              <a:rPr lang="en-AU" sz="2000" b="0"/>
            </a:br>
            <a:r>
              <a:rPr lang="en-AU" sz="2000" b="1"/>
              <a:t>FROM</a:t>
            </a:r>
            <a:r>
              <a:rPr lang="en-AU" sz="2000" b="0"/>
              <a:t> &lt;table list&gt;</a:t>
            </a:r>
            <a:br>
              <a:rPr lang="en-AU" sz="2000" b="0"/>
            </a:br>
            <a:r>
              <a:rPr lang="en-AU" sz="2000" b="0"/>
              <a:t>[ </a:t>
            </a:r>
            <a:r>
              <a:rPr lang="en-AU" sz="2000" b="1"/>
              <a:t>WHERE</a:t>
            </a:r>
            <a:r>
              <a:rPr lang="en-AU" sz="2000" b="0"/>
              <a:t> &lt;condition&gt; ]</a:t>
            </a:r>
            <a:br>
              <a:rPr lang="en-AU" sz="2000" b="0"/>
            </a:br>
            <a:r>
              <a:rPr lang="en-AU" sz="2000" b="0"/>
              <a:t>[ </a:t>
            </a:r>
            <a:r>
              <a:rPr lang="en-AU" sz="2000" b="1"/>
              <a:t>GROUP BY </a:t>
            </a:r>
            <a:r>
              <a:rPr lang="en-AU" sz="2000" b="0"/>
              <a:t>&lt;grouping attribute(s)&gt; ]</a:t>
            </a:r>
            <a:br>
              <a:rPr lang="en-AU" sz="2000" b="0"/>
            </a:br>
            <a:r>
              <a:rPr lang="en-AU" sz="2000" b="0"/>
              <a:t>[ </a:t>
            </a:r>
            <a:r>
              <a:rPr lang="en-AU" sz="2000" b="1"/>
              <a:t>HAVING</a:t>
            </a:r>
            <a:r>
              <a:rPr lang="en-AU" sz="2000" b="0"/>
              <a:t> &lt;group condition&gt; ]</a:t>
            </a:r>
            <a:br>
              <a:rPr lang="en-AU" sz="2000" b="0"/>
            </a:br>
            <a:r>
              <a:rPr lang="en-AU" sz="2000" b="0"/>
              <a:t>[ </a:t>
            </a:r>
            <a:r>
              <a:rPr lang="en-AU" sz="2000" b="1"/>
              <a:t>ORDER BY </a:t>
            </a:r>
            <a:r>
              <a:rPr lang="en-AU" sz="2000" b="0"/>
              <a:t>&lt;attribute list&gt; ];</a:t>
            </a:r>
            <a:r>
              <a:rPr lang="en-AU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>
                <a:solidFill>
                  <a:srgbClr val="000000"/>
                </a:solidFill>
              </a:rPr>
              <a:t>Note on notation: c</a:t>
            </a:r>
            <a:r>
              <a:rPr lang="en-AU" sz="2000" b="0">
                <a:solidFill>
                  <a:srgbClr val="000000"/>
                </a:solidFill>
              </a:rPr>
              <a:t>lauses between square brackets [ ... ] being optional</a:t>
            </a:r>
            <a:endParaRPr/>
          </a:p>
        </p:txBody>
      </p:sp>
      <p:sp>
        <p:nvSpPr>
          <p:cNvPr id="315" name="Google Shape;315;p3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9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Create Table Statement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9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A relational database can store a lot of relations, each relation is created with the </a:t>
            </a:r>
            <a:r>
              <a:rPr lang="en-AU" b="1" i="1"/>
              <a:t>create table</a:t>
            </a:r>
            <a:r>
              <a:rPr lang="en-AU"/>
              <a:t> statement.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create a relation that stores info about people.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solidFill>
                  <a:srgbClr val="0070C0"/>
                </a:solidFill>
              </a:rPr>
              <a:t>CREATE TABLE person(</a:t>
            </a:r>
            <a:endParaRPr/>
          </a:p>
          <a:p>
            <a:pPr marL="201168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drivers_license VARCHAR(20) PRIMARY KEY,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01168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name VARCHAR(20)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01168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84048" lvl="1" indent="-558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0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Drop Table Command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0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When a relational database no longer needs a relations, a relation can be deleted from the database using the </a:t>
            </a:r>
            <a:r>
              <a:rPr lang="en-AU" b="1" i="1"/>
              <a:t>drop</a:t>
            </a:r>
            <a:r>
              <a:rPr lang="en-AU"/>
              <a:t> </a:t>
            </a:r>
            <a:r>
              <a:rPr lang="en-AU" b="1" i="1"/>
              <a:t>table</a:t>
            </a:r>
            <a:r>
              <a:rPr lang="en-AU"/>
              <a:t> statement.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 b="1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b="1">
                <a:solidFill>
                  <a:srgbClr val="0070C0"/>
                </a:solidFill>
              </a:rPr>
              <a:t>DROP TABLE </a:t>
            </a:r>
            <a:r>
              <a:rPr lang="en-AU" sz="2000">
                <a:solidFill>
                  <a:srgbClr val="0070C0"/>
                </a:solidFill>
              </a:rPr>
              <a:t>person;</a:t>
            </a:r>
            <a:endParaRPr sz="2000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i="1"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i="1"/>
              <a:t>Note: Just like create, </a:t>
            </a:r>
            <a:r>
              <a:rPr lang="en-AU" b="1" i="1"/>
              <a:t>drop </a:t>
            </a:r>
            <a:r>
              <a:rPr lang="en-AU" i="1"/>
              <a:t>is the main command, where </a:t>
            </a:r>
            <a:r>
              <a:rPr lang="en-AU" b="1" i="1"/>
              <a:t>table </a:t>
            </a:r>
            <a:r>
              <a:rPr lang="en-AU" i="1"/>
              <a:t>is one of the many arguments drop takes. 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i="1"/>
          </a:p>
          <a:p>
            <a:pPr marL="9144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339" name="Google Shape;339;p4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Table Attributes - Domain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1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dirty="0">
                <a:latin typeface="Arial"/>
                <a:ea typeface="Arial"/>
                <a:cs typeface="Arial"/>
                <a:sym typeface="Arial"/>
              </a:rPr>
              <a:t>Within the create table command, we specify it’s the columns/attributes, declare properties of the table and the properties of each attribute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CREATE TABLE </a:t>
            </a:r>
            <a:r>
              <a:rPr lang="en-AU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r>
              <a:rPr lang="en-AU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 sz="20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AU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attribute1  datatype [properties],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attribute2  datatype [properties],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…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[table property1]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[table property2]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…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27</a:t>
            </a:fld>
            <a:endParaRPr/>
          </a:p>
        </p:txBody>
      </p:sp>
      <p:sp>
        <p:nvSpPr>
          <p:cNvPr id="348" name="Google Shape;348;p41"/>
          <p:cNvSpPr/>
          <p:nvPr/>
        </p:nvSpPr>
        <p:spPr>
          <a:xfrm>
            <a:off x="1617547" y="2771400"/>
            <a:ext cx="3886200" cy="1924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2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Table Attributes - Domain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2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dirty="0">
                <a:latin typeface="Arial"/>
                <a:ea typeface="Arial"/>
                <a:cs typeface="Arial"/>
                <a:sym typeface="Arial"/>
              </a:rPr>
              <a:t>The syntax requires that attribute in an SQL table must specify a domain. </a:t>
            </a:r>
            <a:br>
              <a:rPr lang="en-AU" dirty="0">
                <a:latin typeface="Arial"/>
                <a:ea typeface="Arial"/>
                <a:cs typeface="Arial"/>
                <a:sym typeface="Arial"/>
              </a:rPr>
            </a:br>
            <a:endParaRPr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CREATE TABLE </a:t>
            </a:r>
            <a:r>
              <a:rPr lang="en-AU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r>
              <a:rPr lang="en-AU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AU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attribute1  datatype [properties],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attribute2  datatype [properties],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…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[table property1]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[table property2]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…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-AU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800" dirty="0"/>
              <a:t>The domain puts constraints on the value that an attribute is allowed to take. Defining the </a:t>
            </a:r>
            <a:r>
              <a:rPr lang="en-AU" sz="1800" b="1" i="1" dirty="0"/>
              <a:t>data type </a:t>
            </a:r>
            <a:r>
              <a:rPr lang="en-AU" sz="1800" i="1" dirty="0"/>
              <a:t>specifies the domain</a:t>
            </a:r>
            <a:r>
              <a:rPr lang="en-AU" sz="1800" b="1" i="1" dirty="0"/>
              <a:t>.</a:t>
            </a:r>
            <a:endParaRPr sz="1800" dirty="0"/>
          </a:p>
        </p:txBody>
      </p:sp>
      <p:sp>
        <p:nvSpPr>
          <p:cNvPr id="356" name="Google Shape;356;p4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28</a:t>
            </a:fld>
            <a:endParaRPr/>
          </a:p>
        </p:txBody>
      </p:sp>
      <p:sp>
        <p:nvSpPr>
          <p:cNvPr id="357" name="Google Shape;357;p42"/>
          <p:cNvSpPr/>
          <p:nvPr/>
        </p:nvSpPr>
        <p:spPr>
          <a:xfrm>
            <a:off x="2772034" y="2054755"/>
            <a:ext cx="931500" cy="609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3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Attribute Constraints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3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dirty="0"/>
              <a:t>Attributes properties can be used to “enforce” more complex domain membership conditions. </a:t>
            </a:r>
            <a:endParaRPr dirty="0"/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CREATE TABLE </a:t>
            </a:r>
            <a:r>
              <a:rPr lang="en-AU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r>
              <a:rPr lang="en-AU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 sz="20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AU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attribute1  datatype [properties],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attribute2  datatype [properties],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…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[table property1]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[table property2]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…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29</a:t>
            </a:fld>
            <a:endParaRPr/>
          </a:p>
        </p:txBody>
      </p:sp>
      <p:sp>
        <p:nvSpPr>
          <p:cNvPr id="366" name="Google Shape;366;p43"/>
          <p:cNvSpPr/>
          <p:nvPr/>
        </p:nvSpPr>
        <p:spPr>
          <a:xfrm>
            <a:off x="3894437" y="2289468"/>
            <a:ext cx="1371600" cy="838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4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Attribute Constraints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4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By default, the NULL value is a member of all data types.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Example: </a:t>
            </a: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CREATE TABLE Likes (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drinker VARCHAR(20) </a:t>
            </a: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NOT NULL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beer VARCHAR(30) </a:t>
            </a:r>
            <a:endParaRPr sz="2000"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  <a:p>
            <a:pPr marL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examples: UNIQUE, CHECK, DEFAULT, …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Declaring Primary Keys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5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Declare primary key constraint with the table property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primary key 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(Ai, ..., )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Example: declare the name of a person to be primary key</a:t>
            </a:r>
            <a:br>
              <a:rPr lang="en-AU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CREATE TABLE Person (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name VARCHAR(20),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PRIMARY KEY 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(name)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b="1">
                <a:latin typeface="Arial"/>
                <a:ea typeface="Arial"/>
                <a:cs typeface="Arial"/>
                <a:sym typeface="Arial"/>
              </a:rPr>
              <a:t>Primary key </a:t>
            </a:r>
            <a:r>
              <a:rPr lang="en-AU" sz="2000">
                <a:latin typeface="Arial"/>
                <a:ea typeface="Arial"/>
                <a:cs typeface="Arial"/>
                <a:sym typeface="Arial"/>
              </a:rPr>
              <a:t>declaration on an attribute ensures</a:t>
            </a:r>
            <a:r>
              <a:rPr lang="en-AU" sz="2000" b="1">
                <a:latin typeface="Arial"/>
                <a:ea typeface="Arial"/>
                <a:cs typeface="Arial"/>
                <a:sym typeface="Arial"/>
              </a:rPr>
              <a:t> not null </a:t>
            </a:r>
            <a:r>
              <a:rPr lang="en-AU" sz="2000"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AU" sz="2000" b="1">
                <a:latin typeface="Arial"/>
                <a:ea typeface="Arial"/>
                <a:cs typeface="Arial"/>
                <a:sym typeface="Arial"/>
              </a:rPr>
              <a:t> unique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there an equivalent syntax as an attribute property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Declaring Foreign Keys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6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Declare foreign keys with the foreign key constraint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foreign key 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(Aj, ..., ) </a:t>
            </a: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r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Example: declare the name of a person to be primary key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CREATE TABLE employee (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name VARCHAR(20),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works_at VARCHAR(20),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FOREIGN KEY 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(works_at)  </a:t>
            </a: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company(id)</a:t>
            </a: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there an equivalent syntax as an attribute property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7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Declaring Foreign Keys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7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9950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Declaring foreign keys assures referential integrity.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Foreign a key:</a:t>
            </a:r>
            <a:endParaRPr/>
          </a:p>
          <a:p>
            <a:pPr marL="34290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specify Relation (Attribute) to which it refers.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For instance, if we want to delete a tuple from Beers, and there are tuples in Sells that refer to it, we could either:</a:t>
            </a:r>
            <a:endParaRPr/>
          </a:p>
          <a:p>
            <a:pPr marL="34290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reject the deletion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34290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cascade the deletion and remove Sells records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34290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set-NULL the foreign key attribute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Can force cascade via </a:t>
            </a:r>
            <a:r>
              <a:rPr lang="en-AU" b="1"/>
              <a:t>ON DELETE CASCADE</a:t>
            </a:r>
            <a:r>
              <a:rPr lang="en-AU"/>
              <a:t> after REFERENCES.</a:t>
            </a:r>
            <a:endParaRPr/>
          </a:p>
        </p:txBody>
      </p:sp>
      <p:sp>
        <p:nvSpPr>
          <p:cNvPr id="397" name="Google Shape;397;p4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8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Declaring Foreign Keys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8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800"/>
              <a:t>The FOREIGN KEY constraint is used to prevent actions that would destroy links between tables.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800"/>
              <a:t>If you delete a value of a primary key that is referred to in other tables as a foreign key, you risk violating the referential integrity. There are several ways to handle this. </a:t>
            </a:r>
            <a:endParaRPr sz="18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800"/>
              <a:t>If you want prefer to delete all records referring to the foreign key value in the database, you can specify ON DELETE CASCADE</a:t>
            </a:r>
            <a:br>
              <a:rPr lang="en-AU" sz="1800"/>
            </a:br>
            <a:endParaRPr sz="1800">
              <a:solidFill>
                <a:srgbClr val="0070C0"/>
              </a:solidFill>
            </a:endParaRPr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CREATE TABLE </a:t>
            </a:r>
            <a:r>
              <a:rPr lang="en-A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</a:t>
            </a:r>
            <a:r>
              <a:rPr lang="en-AU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name VARCHAR(20),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ateburger VARCHAR(20),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FOREIGN KEY(</a:t>
            </a:r>
            <a:r>
              <a:rPr lang="en-A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ateburger</a:t>
            </a:r>
            <a:r>
              <a:rPr lang="en-AU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)  REFERENCES </a:t>
            </a:r>
            <a:r>
              <a:rPr lang="en-A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burgers</a:t>
            </a:r>
            <a:r>
              <a:rPr lang="en-AU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A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Bid</a:t>
            </a:r>
            <a:r>
              <a:rPr lang="en-AU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AU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ON DELETE CASCADE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9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Insert Tuple(s) using values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9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7727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The </a:t>
            </a:r>
            <a:r>
              <a:rPr lang="en-AU" b="1"/>
              <a:t>INSERT</a:t>
            </a:r>
            <a:r>
              <a:rPr lang="en-AU"/>
              <a:t> command inserts new tuple(s) into a table </a:t>
            </a:r>
            <a:endParaRPr/>
          </a:p>
          <a:p>
            <a:pPr marL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INTO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Relation </a:t>
            </a: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VALUES 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(val1, val2, val3, ...)</a:t>
            </a:r>
            <a:endParaRPr/>
          </a:p>
          <a:p>
            <a:pPr marL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(val1, val2, val3, ...) is a tuple of values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Add the fact that Justin likes ’Old’.</a:t>
            </a:r>
            <a:endParaRPr/>
          </a:p>
          <a:p>
            <a:pPr marL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INSERT INTO Likes VALUES (’Justin’, ’Old’);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127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The following are the same</a:t>
            </a:r>
            <a:endParaRPr/>
          </a:p>
          <a:p>
            <a:pPr marL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INSERT INTO Sells (price,bar) VALUES (2.50, ’Coogee Bay Hotel’);</a:t>
            </a:r>
            <a:endParaRPr/>
          </a:p>
          <a:p>
            <a:pPr marL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INSERT INTO Sells (bar,price) VALUES (’Coogee Bay Hotel’, 2.50);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i="1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i="1"/>
              <a:t>Note: The order of the attributes in VALUES can be different from the SQL table definition as long as the order is specified in the INTO clause</a:t>
            </a:r>
            <a:r>
              <a:rPr lang="en-AU"/>
              <a:t>.</a:t>
            </a:r>
            <a:endParaRPr/>
          </a:p>
        </p:txBody>
      </p:sp>
      <p:sp>
        <p:nvSpPr>
          <p:cNvPr id="413" name="Google Shape;413;p4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0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Insert Tuple(s) using values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50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800" b="1"/>
              <a:t>Basic attribute constraint checking by SQL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800"/>
              <a:t>E.g., suppose the table specified that drinkers’ phone numbers cannot be NULL.</a:t>
            </a:r>
            <a:br>
              <a:rPr lang="en-AU" sz="1800"/>
            </a:br>
            <a:endParaRPr sz="1800"/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ALTER TABLE </a:t>
            </a:r>
            <a:r>
              <a:rPr lang="en-AU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Drinkers </a:t>
            </a:r>
            <a:r>
              <a:rPr lang="en-AU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ALTER COLUMN </a:t>
            </a:r>
            <a:r>
              <a:rPr lang="en-AU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phone SET NOT NULL;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800"/>
              <a:t>And then try to insert a new drinker whose phone number we don’t know:</a:t>
            </a:r>
            <a:br>
              <a:rPr lang="en-AU" sz="1800"/>
            </a:br>
            <a:endParaRPr sz="1800"/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INSERT INTO </a:t>
            </a:r>
            <a:r>
              <a:rPr lang="en-AU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Drinkers(name, addr) </a:t>
            </a:r>
            <a:r>
              <a:rPr lang="en-AU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VALUES</a:t>
            </a:r>
            <a:r>
              <a:rPr lang="en-AU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(’Zoe’, ’Manly’);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ERROR:  null value in column "phone" violates not-null constraint</a:t>
            </a:r>
            <a:br>
              <a:rPr lang="en-AU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DETAIL:  Failing row contains (Zoe, Manly, null).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5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1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Insert Tuple(s) using Select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51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We can use the result of a query to perform insertion of multiple tuples at once.</a:t>
            </a:r>
            <a:endParaRPr/>
          </a:p>
          <a:p>
            <a:pPr marL="34290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INTO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Relation ( Subquery );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Condition: Tuples of subquery </a:t>
            </a:r>
            <a:r>
              <a:rPr lang="en-AU" b="1"/>
              <a:t>must be projected into a suitable format </a:t>
            </a:r>
            <a:r>
              <a:rPr lang="en-AU"/>
              <a:t>(by matching the tuple-type of Relation ).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A </a:t>
            </a:r>
            <a:r>
              <a:rPr lang="en-AU" b="1" i="1"/>
              <a:t>subquery:</a:t>
            </a:r>
            <a:endParaRPr/>
          </a:p>
          <a:p>
            <a:pPr marL="34290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a query that is nested inside an outer query: SELECT , INSERT , UPDATE , or DELETE statement.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Subqueries:</a:t>
            </a:r>
            <a:endParaRPr/>
          </a:p>
          <a:p>
            <a:pPr marL="34290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can also be nested inside another subqueries.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34290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are very helpful.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5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2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Insert Tuple(s) using Select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52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For Example: Populate a relation of John’s potential drinking buddies (i.e. people who go to the same bars as John).</a:t>
            </a:r>
            <a:br>
              <a:rPr lang="en-AU"/>
            </a:br>
            <a:endParaRPr/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CREATE TABLE 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DrinkingBuddies (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name varchar(20)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INSERT INTO 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DrinkingBuddies(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SELECT DISTINCT f2.drinker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FROM Frequents f1, Frequents f2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WHERE f1.drinker = ’John’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	AND f2.drinker != ’John’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	AND f1.bar = f2.bar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5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38</a:t>
            </a:fld>
            <a:endParaRPr/>
          </a:p>
        </p:txBody>
      </p:sp>
      <p:sp>
        <p:nvSpPr>
          <p:cNvPr id="438" name="Google Shape;438;p52"/>
          <p:cNvSpPr/>
          <p:nvPr/>
        </p:nvSpPr>
        <p:spPr>
          <a:xfrm>
            <a:off x="1186886" y="3553654"/>
            <a:ext cx="4038600" cy="16290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3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Delete Tuple(s)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3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The DELETE operation removes all tuples from Table that satisfy a condition.</a:t>
            </a:r>
            <a:endParaRPr/>
          </a:p>
          <a:p>
            <a:pPr marL="34290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Table </a:t>
            </a:r>
            <a:b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Condition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Justin no longer likes Sparkling Ale.</a:t>
            </a:r>
            <a:endParaRPr/>
          </a:p>
          <a:p>
            <a:pPr marL="34290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Likes</a:t>
            </a:r>
            <a:b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drinker = ’Justin’</a:t>
            </a:r>
            <a:b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AND beer = ’Sparkling Ale’;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Omitting the WHERE Clause deletes all tuples from relation R.</a:t>
            </a:r>
            <a:endParaRPr/>
          </a:p>
          <a:p>
            <a:pPr marL="34290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DELETE FROM 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R;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34290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This doesn’t drop the table, the table still remains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i="1">
                <a:solidFill>
                  <a:schemeClr val="dk1"/>
                </a:solidFill>
              </a:rPr>
              <a:t>Note: Delete is not the same as Drop</a:t>
            </a:r>
            <a:endParaRPr/>
          </a:p>
        </p:txBody>
      </p:sp>
      <p:sp>
        <p:nvSpPr>
          <p:cNvPr id="446" name="Google Shape;446;p5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4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Delete Tuple(s)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4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800" dirty="0"/>
              <a:t>Semantics of the above Deletion: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800" dirty="0"/>
              <a:t>Evaluation of DELETE FROM R WHERE Cond can be viewed as:</a:t>
            </a:r>
            <a:br>
              <a:rPr lang="en-AU" sz="1800" dirty="0"/>
            </a:br>
            <a:endParaRPr sz="1800" dirty="0"/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i="1" dirty="0">
                <a:latin typeface="Arial"/>
                <a:ea typeface="Arial"/>
                <a:cs typeface="Arial"/>
                <a:sym typeface="Arial"/>
              </a:rPr>
              <a:t>FOR EACH tuple T in R DO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i="1" dirty="0">
                <a:latin typeface="Arial"/>
                <a:ea typeface="Arial"/>
                <a:cs typeface="Arial"/>
                <a:sym typeface="Arial"/>
              </a:rPr>
              <a:t>	IF T satisfies Cond THEN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i="1" dirty="0">
                <a:latin typeface="Arial"/>
                <a:ea typeface="Arial"/>
                <a:cs typeface="Arial"/>
                <a:sym typeface="Arial"/>
              </a:rPr>
              <a:t>	       make a note of this T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i="1" dirty="0">
                <a:latin typeface="Arial"/>
                <a:ea typeface="Arial"/>
                <a:cs typeface="Arial"/>
                <a:sym typeface="Arial"/>
              </a:rPr>
              <a:t>	END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i="1" dirty="0">
                <a:latin typeface="Arial"/>
                <a:ea typeface="Arial"/>
                <a:cs typeface="Arial"/>
                <a:sym typeface="Arial"/>
              </a:rPr>
              <a:t>END</a:t>
            </a:r>
            <a:br>
              <a:rPr lang="en-AU" i="1" dirty="0">
                <a:latin typeface="Arial"/>
                <a:ea typeface="Arial"/>
                <a:cs typeface="Arial"/>
                <a:sym typeface="Arial"/>
              </a:rPr>
            </a:br>
            <a:endParaRPr i="1"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i="1" dirty="0">
                <a:latin typeface="Arial"/>
                <a:ea typeface="Arial"/>
                <a:cs typeface="Arial"/>
                <a:sym typeface="Arial"/>
              </a:rPr>
              <a:t>FOR EACH noted tuple T DO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i="1" dirty="0">
                <a:latin typeface="Arial"/>
                <a:ea typeface="Arial"/>
                <a:cs typeface="Arial"/>
                <a:sym typeface="Arial"/>
              </a:rPr>
              <a:t>	remove T from relation R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i="1" dirty="0">
                <a:latin typeface="Arial"/>
                <a:ea typeface="Arial"/>
                <a:cs typeface="Arial"/>
                <a:sym typeface="Arial"/>
              </a:rPr>
              <a:t>END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5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40</a:t>
            </a:fld>
            <a:endParaRPr/>
          </a:p>
        </p:txBody>
      </p:sp>
      <p:sp>
        <p:nvSpPr>
          <p:cNvPr id="455" name="Google Shape;455;p54"/>
          <p:cNvSpPr/>
          <p:nvPr/>
        </p:nvSpPr>
        <p:spPr>
          <a:xfrm>
            <a:off x="1918810" y="2787514"/>
            <a:ext cx="2506200" cy="3171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54"/>
          <p:cNvSpPr/>
          <p:nvPr/>
        </p:nvSpPr>
        <p:spPr>
          <a:xfrm>
            <a:off x="766119" y="3695200"/>
            <a:ext cx="3581400" cy="11421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5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Update Value(s) in Tuple(s)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55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If you have an tuple but want to change part of its values, use the UPDATE command.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Updates specified attributes in specified tuples of a relation: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 b="1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b="1">
                <a:solidFill>
                  <a:srgbClr val="0070C0"/>
                </a:solidFill>
              </a:rPr>
              <a:t>UPDATE</a:t>
            </a:r>
            <a:r>
              <a:rPr lang="en-AU" sz="2000">
                <a:solidFill>
                  <a:srgbClr val="0070C0"/>
                </a:solidFill>
              </a:rPr>
              <a:t> R</a:t>
            </a:r>
            <a:br>
              <a:rPr lang="en-AU" sz="2000">
                <a:solidFill>
                  <a:srgbClr val="0070C0"/>
                </a:solidFill>
              </a:rPr>
            </a:br>
            <a:r>
              <a:rPr lang="en-AU" sz="2000" b="1">
                <a:solidFill>
                  <a:srgbClr val="0070C0"/>
                </a:solidFill>
              </a:rPr>
              <a:t>SET</a:t>
            </a:r>
            <a:r>
              <a:rPr lang="en-AU" sz="2000">
                <a:solidFill>
                  <a:srgbClr val="0070C0"/>
                </a:solidFill>
              </a:rPr>
              <a:t> list of assignments</a:t>
            </a:r>
            <a:br>
              <a:rPr lang="en-AU" sz="2000">
                <a:solidFill>
                  <a:srgbClr val="0070C0"/>
                </a:solidFill>
              </a:rPr>
            </a:br>
            <a:r>
              <a:rPr lang="en-AU" sz="2000" b="1">
                <a:solidFill>
                  <a:srgbClr val="0070C0"/>
                </a:solidFill>
              </a:rPr>
              <a:t>WHERE</a:t>
            </a:r>
            <a:r>
              <a:rPr lang="en-AU" sz="2000">
                <a:solidFill>
                  <a:srgbClr val="0070C0"/>
                </a:solidFill>
              </a:rPr>
              <a:t> Condition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John moves to Coogee.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 b="1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b="1">
                <a:solidFill>
                  <a:srgbClr val="0070C0"/>
                </a:solidFill>
              </a:rPr>
              <a:t>UPDATE</a:t>
            </a:r>
            <a:r>
              <a:rPr lang="en-AU" sz="2000">
                <a:solidFill>
                  <a:srgbClr val="0070C0"/>
                </a:solidFill>
              </a:rPr>
              <a:t> Drinkers</a:t>
            </a:r>
            <a:br>
              <a:rPr lang="en-AU" sz="2000">
                <a:solidFill>
                  <a:srgbClr val="0070C0"/>
                </a:solidFill>
              </a:rPr>
            </a:br>
            <a:r>
              <a:rPr lang="en-AU" sz="2000" b="1">
                <a:solidFill>
                  <a:srgbClr val="0070C0"/>
                </a:solidFill>
              </a:rPr>
              <a:t>SET</a:t>
            </a:r>
            <a:r>
              <a:rPr lang="en-AU" sz="2000">
                <a:solidFill>
                  <a:srgbClr val="0070C0"/>
                </a:solidFill>
              </a:rPr>
              <a:t> addr = ’Coogee’ , phone = ’9665-4321’</a:t>
            </a:r>
            <a:br>
              <a:rPr lang="en-AU" sz="2000">
                <a:solidFill>
                  <a:srgbClr val="0070C0"/>
                </a:solidFill>
              </a:rPr>
            </a:br>
            <a:r>
              <a:rPr lang="en-AU" sz="2000" b="1">
                <a:solidFill>
                  <a:srgbClr val="0070C0"/>
                </a:solidFill>
              </a:rPr>
              <a:t>WHERE</a:t>
            </a:r>
            <a:r>
              <a:rPr lang="en-AU" sz="2000">
                <a:solidFill>
                  <a:srgbClr val="0070C0"/>
                </a:solidFill>
              </a:rPr>
              <a:t> name = ’John’;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Note: </a:t>
            </a:r>
            <a:r>
              <a:rPr lang="en-AU">
                <a:solidFill>
                  <a:srgbClr val="FF0000"/>
                </a:solidFill>
              </a:rPr>
              <a:t>Careful</a:t>
            </a:r>
            <a:r>
              <a:rPr lang="en-AU"/>
              <a:t> because all tuples relation R that satisfies Condition has the assignments applied to it.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5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6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Update Value(s) in Tuple(s)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6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Can update many tuples at once (all tuples that satisfy condition)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Make $3 the maximum price for beer.</a:t>
            </a:r>
            <a:endParaRPr/>
          </a:p>
          <a:p>
            <a:pPr marL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Sells</a:t>
            </a:r>
            <a:b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price = 3.00</a:t>
            </a:r>
            <a:b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price &gt; 3.00;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Increase all beer prices by 10%.</a:t>
            </a:r>
            <a:endParaRPr/>
          </a:p>
          <a:p>
            <a:pPr marL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Sells</a:t>
            </a:r>
            <a:b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price = price * 1.10;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5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7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SQL Views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57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Tables (created by CREATE TABLE) are </a:t>
            </a:r>
            <a:r>
              <a:rPr lang="en-AU" b="1" i="1"/>
              <a:t>base relations</a:t>
            </a:r>
            <a:br>
              <a:rPr lang="en-AU" b="1" i="1"/>
            </a:br>
            <a:endParaRPr b="1" i="1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Views are </a:t>
            </a:r>
            <a:r>
              <a:rPr lang="en-AU" b="1" i="1"/>
              <a:t>virtual relations </a:t>
            </a:r>
            <a:r>
              <a:rPr lang="en-AU"/>
              <a:t>in SQL. </a:t>
            </a:r>
            <a:br>
              <a:rPr lang="en-AU"/>
            </a:br>
            <a:br>
              <a:rPr lang="en-AU"/>
            </a:br>
            <a:r>
              <a:rPr lang="en-AU"/>
              <a:t>Views are derived from base relations and does not take up space in the DBMS. Base relations are physically stored in the DBMS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View are defined via: </a:t>
            </a:r>
            <a:br>
              <a:rPr lang="en-AU" sz="2000">
                <a:latin typeface="Arial"/>
                <a:ea typeface="Arial"/>
                <a:cs typeface="Arial"/>
                <a:sym typeface="Arial"/>
              </a:rPr>
            </a:b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CREATE VIEW View_name AS Query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Views may be removed via: </a:t>
            </a:r>
            <a:br>
              <a:rPr lang="en-AU" sz="2000">
                <a:latin typeface="Arial"/>
                <a:ea typeface="Arial"/>
                <a:cs typeface="Arial"/>
                <a:sym typeface="Arial"/>
              </a:rPr>
            </a:br>
            <a: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DROP VIEW View_name</a:t>
            </a:r>
            <a:br>
              <a:rPr lang="en-AU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8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Motivation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58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an avid CUB drinker might not be interested in any other kinds of beer.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b="1">
                <a:solidFill>
                  <a:srgbClr val="0070C0"/>
                </a:solidFill>
              </a:rPr>
              <a:t>CREATE VIEW </a:t>
            </a:r>
            <a:r>
              <a:rPr lang="en-AU">
                <a:solidFill>
                  <a:srgbClr val="0070C0"/>
                </a:solidFill>
              </a:rPr>
              <a:t>MyBeers </a:t>
            </a:r>
            <a:r>
              <a:rPr lang="en-AU" b="1">
                <a:solidFill>
                  <a:srgbClr val="0070C0"/>
                </a:solidFill>
              </a:rPr>
              <a:t>AS</a:t>
            </a:r>
            <a:br>
              <a:rPr lang="en-AU" b="1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SELECT name, manf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FROM Beers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WHERE manf = ’Carlton’;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NAME.  		MANF</a:t>
            </a:r>
            <a:br>
              <a:rPr lang="en-AU"/>
            </a:br>
            <a:r>
              <a:rPr lang="en-AU"/>
              <a:t>------------------------- 	------------</a:t>
            </a:r>
            <a:br>
              <a:rPr lang="en-AU"/>
            </a:br>
            <a:r>
              <a:rPr lang="en-AU"/>
              <a:t>Crown Lager 		Carlton</a:t>
            </a:r>
            <a:br>
              <a:rPr lang="en-AU"/>
            </a:br>
            <a:r>
              <a:rPr lang="en-AU"/>
              <a:t>Fosters Lager 		Carlton</a:t>
            </a:r>
            <a:br>
              <a:rPr lang="en-AU"/>
            </a:br>
            <a:r>
              <a:rPr lang="en-AU"/>
              <a:t>Invalid Stout 		Carlton</a:t>
            </a:r>
            <a:br>
              <a:rPr lang="en-AU"/>
            </a:br>
            <a:r>
              <a:rPr lang="en-AU"/>
              <a:t>Melbourne Bitter 	Carlton</a:t>
            </a:r>
            <a:br>
              <a:rPr lang="en-AU"/>
            </a:br>
            <a:r>
              <a:rPr lang="en-AU"/>
              <a:t>Victoria Bitter 		Carlton</a:t>
            </a:r>
            <a:endParaRPr/>
          </a:p>
        </p:txBody>
      </p:sp>
      <p:sp>
        <p:nvSpPr>
          <p:cNvPr id="487" name="Google Shape;487;p5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9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Motivation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59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we don’t really all the other columns of inner-city hotels.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b="1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b="1">
                <a:solidFill>
                  <a:srgbClr val="0070C0"/>
                </a:solidFill>
              </a:rPr>
              <a:t>CREATE VIEW </a:t>
            </a:r>
            <a:r>
              <a:rPr lang="en-AU">
                <a:solidFill>
                  <a:srgbClr val="0070C0"/>
                </a:solidFill>
              </a:rPr>
              <a:t>InnerCityHotels </a:t>
            </a:r>
            <a:r>
              <a:rPr lang="en-AU" b="1">
                <a:solidFill>
                  <a:srgbClr val="0070C0"/>
                </a:solidFill>
              </a:rPr>
              <a:t>AS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SELECT name, license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FROM Bars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WHERE addr = ’The Rocks’ OR addr = ’Sydney’;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NAME 			LICENSE</a:t>
            </a:r>
            <a:br>
              <a:rPr lang="en-AU"/>
            </a:br>
            <a:r>
              <a:rPr lang="en-AU"/>
              <a:t>------------------------------ 	----------</a:t>
            </a:r>
            <a:br>
              <a:rPr lang="en-AU"/>
            </a:br>
            <a:r>
              <a:rPr lang="en-AU"/>
              <a:t>Australia Hotel		123456</a:t>
            </a:r>
            <a:br>
              <a:rPr lang="en-AU"/>
            </a:br>
            <a:r>
              <a:rPr lang="en-AU"/>
              <a:t>Lord Nelson		123888</a:t>
            </a:r>
            <a:br>
              <a:rPr lang="en-AU"/>
            </a:br>
            <a:r>
              <a:rPr lang="en-AU"/>
              <a:t>Marble Bar		122123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Note: a view can help if you are not interested in all attributes of a base relation.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495" name="Google Shape;495;p5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0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Querying Views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0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Using the InnerCityHotels view.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b="1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b="1">
                <a:solidFill>
                  <a:srgbClr val="0070C0"/>
                </a:solidFill>
              </a:rPr>
              <a:t>CREATE VIEW </a:t>
            </a:r>
            <a:r>
              <a:rPr lang="en-AU">
                <a:solidFill>
                  <a:srgbClr val="0070C0"/>
                </a:solidFill>
              </a:rPr>
              <a:t>InnerCityHotels </a:t>
            </a:r>
            <a:r>
              <a:rPr lang="en-AU" b="1">
                <a:solidFill>
                  <a:srgbClr val="0070C0"/>
                </a:solidFill>
              </a:rPr>
              <a:t>AS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SELECT name, license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FROM Bars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	WHERE addr IN (’The Rocks’, ’Sydney’);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Views can be used in queries just as if they were base (stored) relations.</a:t>
            </a:r>
            <a:endParaRPr sz="2000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>
                <a:solidFill>
                  <a:srgbClr val="0070C0"/>
                </a:solidFill>
              </a:rPr>
              <a:t>SELECT pub FROM InnerCityHotels WHERE lic = ’123456’;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This makes views especially useful, can you think of an usages?</a:t>
            </a:r>
            <a:endParaRPr/>
          </a:p>
        </p:txBody>
      </p:sp>
      <p:sp>
        <p:nvSpPr>
          <p:cNvPr id="503" name="Google Shape;503;p6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1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Views Update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61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AU" sz="1800" b="1">
                <a:solidFill>
                  <a:srgbClr val="0070C0"/>
                </a:solidFill>
              </a:rPr>
              <a:t>SELECT * FROM </a:t>
            </a:r>
            <a:r>
              <a:rPr lang="en-AU" sz="1800" b="1" i="1">
                <a:solidFill>
                  <a:srgbClr val="0070C0"/>
                </a:solidFill>
              </a:rPr>
              <a:t>InnerCityHotels</a:t>
            </a:r>
            <a:r>
              <a:rPr lang="en-AU" sz="1800" b="1">
                <a:solidFill>
                  <a:srgbClr val="0070C0"/>
                </a:solidFill>
              </a:rPr>
              <a:t>;</a:t>
            </a:r>
            <a:br>
              <a:rPr lang="en-AU" sz="1800" b="1">
                <a:solidFill>
                  <a:srgbClr val="0070C0"/>
                </a:solidFill>
              </a:rPr>
            </a:br>
            <a:endParaRPr sz="1800" b="1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AU" sz="1800"/>
              <a:t>NAME 		LICENSE</a:t>
            </a:r>
            <a:br>
              <a:rPr lang="en-AU" sz="1800"/>
            </a:br>
            <a:r>
              <a:rPr lang="en-AU" sz="1800"/>
              <a:t>-------------- 	----------</a:t>
            </a:r>
            <a:br>
              <a:rPr lang="en-AU" sz="1800"/>
            </a:br>
            <a:r>
              <a:rPr lang="en-AU" sz="1800"/>
              <a:t>Australia Hotel 	123456</a:t>
            </a:r>
            <a:br>
              <a:rPr lang="en-AU" sz="1800"/>
            </a:br>
            <a:r>
              <a:rPr lang="en-AU" sz="1800"/>
              <a:t>Marble Bar 	12212</a:t>
            </a:r>
            <a:br>
              <a:rPr lang="en-AU" sz="1800"/>
            </a:br>
            <a:r>
              <a:rPr lang="en-AU" sz="1800"/>
              <a:t>Lord Nelson	</a:t>
            </a:r>
            <a:r>
              <a:rPr lang="en-AU" sz="1800">
                <a:highlight>
                  <a:srgbClr val="FFFF00"/>
                </a:highlight>
              </a:rPr>
              <a:t>13</a:t>
            </a:r>
            <a:r>
              <a:rPr lang="en-AU" sz="1800"/>
              <a:t>	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AU" sz="1800">
                <a:solidFill>
                  <a:srgbClr val="0070C0"/>
                </a:solidFill>
              </a:rPr>
              <a:t>UPDATE </a:t>
            </a:r>
            <a:r>
              <a:rPr lang="en-AU" sz="1800" i="1" u="sng">
                <a:solidFill>
                  <a:srgbClr val="FF6037"/>
                </a:solidFill>
              </a:rPr>
              <a:t>Bars</a:t>
            </a:r>
            <a:r>
              <a:rPr lang="en-AU" sz="1800">
                <a:solidFill>
                  <a:srgbClr val="0070C0"/>
                </a:solidFill>
              </a:rPr>
              <a:t> SET license=‘111223’ WHERE name=‘Lord Nelson’;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AU" sz="1800" b="1">
                <a:solidFill>
                  <a:srgbClr val="0070C0"/>
                </a:solidFill>
              </a:rPr>
              <a:t>SELECT * FROM </a:t>
            </a:r>
            <a:r>
              <a:rPr lang="en-AU" sz="1800" b="1" i="1">
                <a:solidFill>
                  <a:srgbClr val="0070C0"/>
                </a:solidFill>
              </a:rPr>
              <a:t>InnerCityHotels</a:t>
            </a:r>
            <a:r>
              <a:rPr lang="en-AU" sz="1800" b="1">
                <a:solidFill>
                  <a:srgbClr val="0070C0"/>
                </a:solidFill>
              </a:rPr>
              <a:t>;</a:t>
            </a:r>
            <a:br>
              <a:rPr lang="en-AU" sz="1800" b="1">
                <a:solidFill>
                  <a:srgbClr val="0070C0"/>
                </a:solidFill>
              </a:rPr>
            </a:br>
            <a:endParaRPr sz="1800" b="1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AU" sz="1800"/>
              <a:t>NAME 		LICENSE</a:t>
            </a:r>
            <a:br>
              <a:rPr lang="en-AU" sz="1800"/>
            </a:br>
            <a:r>
              <a:rPr lang="en-AU" sz="1800"/>
              <a:t>-------------- 	----------</a:t>
            </a:r>
            <a:br>
              <a:rPr lang="en-AU" sz="1800"/>
            </a:br>
            <a:r>
              <a:rPr lang="en-AU" sz="1800"/>
              <a:t>Australia Hotel 	123456</a:t>
            </a:r>
            <a:br>
              <a:rPr lang="en-AU" sz="1800"/>
            </a:br>
            <a:r>
              <a:rPr lang="en-AU" sz="1800"/>
              <a:t>Marble Bar 	12212</a:t>
            </a:r>
            <a:br>
              <a:rPr lang="en-AU" sz="1800"/>
            </a:br>
            <a:r>
              <a:rPr lang="en-AU" sz="1800"/>
              <a:t>Lord Nelson	</a:t>
            </a:r>
            <a:r>
              <a:rPr lang="en-AU" sz="1800">
                <a:highlight>
                  <a:srgbClr val="FFFF00"/>
                </a:highlight>
              </a:rPr>
              <a:t>111223</a:t>
            </a:r>
            <a:r>
              <a:rPr lang="en-AU" sz="1800"/>
              <a:t>	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AU" sz="1800"/>
              <a:t>Conclusion: Views update themselves </a:t>
            </a:r>
            <a:r>
              <a:rPr lang="en-AU" sz="1800" b="1"/>
              <a:t>automatically</a:t>
            </a:r>
            <a:r>
              <a:rPr lang="en-AU" sz="1800"/>
              <a:t>, if changes occur in the underlying relation(s).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endParaRPr sz="1800"/>
          </a:p>
        </p:txBody>
      </p:sp>
      <p:sp>
        <p:nvSpPr>
          <p:cNvPr id="511" name="Google Shape;511;p6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47</a:t>
            </a:fld>
            <a:endParaRPr/>
          </a:p>
        </p:txBody>
      </p:sp>
      <p:sp>
        <p:nvSpPr>
          <p:cNvPr id="512" name="Google Shape;512;p61"/>
          <p:cNvSpPr txBox="1"/>
          <p:nvPr/>
        </p:nvSpPr>
        <p:spPr>
          <a:xfrm>
            <a:off x="5167182" y="1273699"/>
            <a:ext cx="4572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Recall View Definition: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CREATE VIEW InnerCityHotels AS</a:t>
            </a:r>
            <a:br>
              <a:rPr lang="en-AU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	SELECT name, license</a:t>
            </a:r>
            <a:br>
              <a:rPr lang="en-AU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	FROM </a:t>
            </a:r>
            <a:r>
              <a:rPr lang="en-AU" sz="1400" b="0" i="0" u="sng" strike="noStrike" cap="none">
                <a:solidFill>
                  <a:srgbClr val="FF6037"/>
                </a:solidFill>
                <a:latin typeface="Arial"/>
                <a:ea typeface="Arial"/>
                <a:cs typeface="Arial"/>
                <a:sym typeface="Arial"/>
              </a:rPr>
              <a:t>Bars</a:t>
            </a:r>
            <a:br>
              <a:rPr lang="en-AU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	WHERE 	addr = ’The Rocks’ OR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		addr = ’Sydney’;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61"/>
          <p:cNvSpPr/>
          <p:nvPr/>
        </p:nvSpPr>
        <p:spPr>
          <a:xfrm>
            <a:off x="5182790" y="1191319"/>
            <a:ext cx="3780000" cy="1601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2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Schema Change in SQL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62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Sometimes, we want to make changes to the table schema.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b="0" i="0"/>
              <a:t>The definition of a base table or of other named schema elements can be changed by using the </a:t>
            </a:r>
            <a:r>
              <a:rPr lang="en-AU" b="1" i="0"/>
              <a:t>ALTER</a:t>
            </a:r>
            <a:r>
              <a:rPr lang="en-AU" b="0" i="0"/>
              <a:t> command.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34290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Add column(s) of table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Delete column(s) of table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AU" sz="2000">
                <a:latin typeface="Arial"/>
                <a:ea typeface="Arial"/>
                <a:cs typeface="Arial"/>
                <a:sym typeface="Arial"/>
              </a:rPr>
              <a:t>Modify column(s) of table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Can be accomplished via the </a:t>
            </a:r>
            <a:r>
              <a:rPr lang="en-AU" b="1"/>
              <a:t>ALTER TABLE </a:t>
            </a:r>
            <a:r>
              <a:rPr lang="en-AU"/>
              <a:t>operation: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rgbClr val="FF6037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>
                <a:solidFill>
                  <a:srgbClr val="FF6037"/>
                </a:solidFill>
              </a:rPr>
              <a:t>(you don’t have to alter tables in the upcoming project)</a:t>
            </a:r>
            <a:endParaRPr i="1"/>
          </a:p>
        </p:txBody>
      </p:sp>
      <p:sp>
        <p:nvSpPr>
          <p:cNvPr id="521" name="Google Shape;521;p6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3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Example: Add New Column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63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</a:t>
            </a:r>
            <a:r>
              <a:rPr lang="en-AU" b="1"/>
              <a:t>Add column</a:t>
            </a:r>
            <a:r>
              <a:rPr lang="en-AU"/>
              <a:t> phone numbers </a:t>
            </a:r>
            <a:r>
              <a:rPr lang="en-AU" b="1"/>
              <a:t>to table</a:t>
            </a:r>
            <a:r>
              <a:rPr lang="en-AU"/>
              <a:t> hotels.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 b="1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000" b="1">
                <a:solidFill>
                  <a:srgbClr val="0070C0"/>
                </a:solidFill>
              </a:rPr>
              <a:t>ALTER TABLE </a:t>
            </a:r>
            <a:r>
              <a:rPr lang="en-AU" sz="2000">
                <a:solidFill>
                  <a:srgbClr val="0070C0"/>
                </a:solidFill>
              </a:rPr>
              <a:t>Bars</a:t>
            </a:r>
            <a:br>
              <a:rPr lang="en-AU" sz="2000">
                <a:solidFill>
                  <a:srgbClr val="0070C0"/>
                </a:solidFill>
              </a:rPr>
            </a:br>
            <a:r>
              <a:rPr lang="en-AU" sz="2000" b="1">
                <a:solidFill>
                  <a:srgbClr val="0070C0"/>
                </a:solidFill>
              </a:rPr>
              <a:t>ADD</a:t>
            </a:r>
            <a:r>
              <a:rPr lang="en-AU" sz="2000">
                <a:solidFill>
                  <a:srgbClr val="0070C0"/>
                </a:solidFill>
              </a:rPr>
              <a:t> phone char(10) DEFAULT ’Unlisted’;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This appends a new column to the table and sets value for this attribute to </a:t>
            </a:r>
            <a:r>
              <a:rPr lang="en-AU" i="1"/>
              <a:t>’Unlisted</a:t>
            </a:r>
            <a:r>
              <a:rPr lang="en-AU"/>
              <a:t>’ in every tuple.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i="1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i="1"/>
              <a:t>Note: If no default values is given, values new column is set to all NULL.</a:t>
            </a:r>
            <a:endParaRPr/>
          </a:p>
        </p:txBody>
      </p:sp>
      <p:sp>
        <p:nvSpPr>
          <p:cNvPr id="529" name="Google Shape;529;p6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4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Example: Modify Column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64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6737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Example: Changing the primary key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>
                <a:solidFill>
                  <a:srgbClr val="0070C0"/>
                </a:solidFill>
              </a:rPr>
              <a:t>ALTER TABLE Persons DROP PRIMARY KEY; 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chemeClr val="dk1"/>
                </a:solidFill>
              </a:rPr>
              <a:t>OR</a:t>
            </a:r>
            <a:br>
              <a:rPr lang="en-AU">
                <a:solidFill>
                  <a:srgbClr val="0070C0"/>
                </a:solidFill>
              </a:rPr>
            </a:br>
            <a:r>
              <a:rPr lang="en-AU">
                <a:solidFill>
                  <a:srgbClr val="0070C0"/>
                </a:solidFill>
              </a:rPr>
              <a:t>ALTER TABLE Persons ADD PRIMARY KEY (ID);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Note</a:t>
            </a:r>
            <a:r>
              <a:rPr lang="en-AU" i="1"/>
              <a:t>:</a:t>
            </a:r>
            <a:r>
              <a:rPr lang="en-AU" b="1" i="1"/>
              <a:t> Typically, any changes need to be allowable with respect to any existing data. </a:t>
            </a:r>
            <a:br>
              <a:rPr lang="en-AU"/>
            </a:br>
            <a:br>
              <a:rPr lang="en-AU"/>
            </a:br>
            <a:r>
              <a:rPr lang="en-AU"/>
              <a:t>In this case: any values in the new primary key column must obey NOT NULL, UNQIUE constraint.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So before you can specify the new primary key, you must update the table to delete all NULL, or non-unique values. e.g.,</a:t>
            </a:r>
            <a:r>
              <a:rPr lang="en-AU" i="1">
                <a:solidFill>
                  <a:srgbClr val="0070C0"/>
                </a:solidFill>
              </a:rPr>
              <a:t> UPDATE table SET col = 0 WHERE col IS NULL; </a:t>
            </a:r>
            <a:r>
              <a:rPr lang="en-AU"/>
              <a:t>(assuming col is numerical)</a:t>
            </a:r>
            <a:endParaRPr/>
          </a:p>
        </p:txBody>
      </p:sp>
      <p:sp>
        <p:nvSpPr>
          <p:cNvPr id="537" name="Google Shape;537;p6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AU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5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Create Index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65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/>
              <a:t>Index helps to speed up retrieval of tuples (will be covered later).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>
                <a:solidFill>
                  <a:srgbClr val="0000CD"/>
                </a:solidFill>
              </a:rPr>
              <a:t>CREATE</a:t>
            </a:r>
            <a:r>
              <a:rPr lang="en-AU">
                <a:solidFill>
                  <a:schemeClr val="dk1"/>
                </a:solidFill>
              </a:rPr>
              <a:t> </a:t>
            </a:r>
            <a:r>
              <a:rPr lang="en-AU">
                <a:solidFill>
                  <a:srgbClr val="0000CD"/>
                </a:solidFill>
              </a:rPr>
              <a:t>INDEX</a:t>
            </a:r>
            <a:r>
              <a:rPr lang="en-AU">
                <a:solidFill>
                  <a:schemeClr val="dk1"/>
                </a:solidFill>
              </a:rPr>
              <a:t> </a:t>
            </a:r>
            <a:r>
              <a:rPr lang="en-AU" i="1">
                <a:solidFill>
                  <a:schemeClr val="dk1"/>
                </a:solidFill>
              </a:rPr>
              <a:t>index_name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>
                <a:solidFill>
                  <a:srgbClr val="0000CD"/>
                </a:solidFill>
              </a:rPr>
              <a:t>ON</a:t>
            </a:r>
            <a:r>
              <a:rPr lang="en-AU">
                <a:solidFill>
                  <a:schemeClr val="dk1"/>
                </a:solidFill>
              </a:rPr>
              <a:t> </a:t>
            </a:r>
            <a:r>
              <a:rPr lang="en-AU" i="1">
                <a:solidFill>
                  <a:schemeClr val="dk1"/>
                </a:solidFill>
              </a:rPr>
              <a:t>table_name</a:t>
            </a:r>
            <a:r>
              <a:rPr lang="en-AU">
                <a:solidFill>
                  <a:schemeClr val="dk1"/>
                </a:solidFill>
              </a:rPr>
              <a:t> (</a:t>
            </a:r>
            <a:r>
              <a:rPr lang="en-AU" i="1">
                <a:solidFill>
                  <a:schemeClr val="dk1"/>
                </a:solidFill>
              </a:rPr>
              <a:t>column1</a:t>
            </a:r>
            <a:r>
              <a:rPr lang="en-AU">
                <a:solidFill>
                  <a:schemeClr val="dk1"/>
                </a:solidFill>
              </a:rPr>
              <a:t>, </a:t>
            </a:r>
            <a:r>
              <a:rPr lang="en-AU" i="1">
                <a:solidFill>
                  <a:schemeClr val="dk1"/>
                </a:solidFill>
              </a:rPr>
              <a:t>column2</a:t>
            </a:r>
            <a:r>
              <a:rPr lang="en-AU">
                <a:solidFill>
                  <a:schemeClr val="dk1"/>
                </a:solidFill>
              </a:rPr>
              <a:t>, ...);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>
                <a:solidFill>
                  <a:srgbClr val="0000CD"/>
                </a:solidFill>
              </a:rPr>
              <a:t>CREATE</a:t>
            </a:r>
            <a:r>
              <a:rPr lang="en-AU">
                <a:solidFill>
                  <a:schemeClr val="dk1"/>
                </a:solidFill>
              </a:rPr>
              <a:t> </a:t>
            </a:r>
            <a:r>
              <a:rPr lang="en-AU">
                <a:solidFill>
                  <a:srgbClr val="0000CD"/>
                </a:solidFill>
              </a:rPr>
              <a:t>UNIQUE</a:t>
            </a:r>
            <a:r>
              <a:rPr lang="en-AU">
                <a:solidFill>
                  <a:schemeClr val="dk1"/>
                </a:solidFill>
              </a:rPr>
              <a:t> </a:t>
            </a:r>
            <a:r>
              <a:rPr lang="en-AU">
                <a:solidFill>
                  <a:srgbClr val="0000CD"/>
                </a:solidFill>
              </a:rPr>
              <a:t>INDEX</a:t>
            </a:r>
            <a:r>
              <a:rPr lang="en-AU">
                <a:solidFill>
                  <a:schemeClr val="dk1"/>
                </a:solidFill>
              </a:rPr>
              <a:t> </a:t>
            </a:r>
            <a:r>
              <a:rPr lang="en-AU" i="1">
                <a:solidFill>
                  <a:schemeClr val="dk1"/>
                </a:solidFill>
              </a:rPr>
              <a:t>index_name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AU">
                <a:solidFill>
                  <a:srgbClr val="0000CD"/>
                </a:solidFill>
              </a:rPr>
              <a:t>ON</a:t>
            </a:r>
            <a:r>
              <a:rPr lang="en-AU">
                <a:solidFill>
                  <a:schemeClr val="dk1"/>
                </a:solidFill>
              </a:rPr>
              <a:t> </a:t>
            </a:r>
            <a:r>
              <a:rPr lang="en-AU" i="1">
                <a:solidFill>
                  <a:schemeClr val="dk1"/>
                </a:solidFill>
              </a:rPr>
              <a:t>table_name</a:t>
            </a:r>
            <a:r>
              <a:rPr lang="en-AU">
                <a:solidFill>
                  <a:schemeClr val="dk1"/>
                </a:solidFill>
              </a:rPr>
              <a:t> (</a:t>
            </a:r>
            <a:r>
              <a:rPr lang="en-AU" i="1">
                <a:solidFill>
                  <a:schemeClr val="dk1"/>
                </a:solidFill>
              </a:rPr>
              <a:t>column1</a:t>
            </a:r>
            <a:r>
              <a:rPr lang="en-AU">
                <a:solidFill>
                  <a:schemeClr val="dk1"/>
                </a:solidFill>
              </a:rPr>
              <a:t>, </a:t>
            </a:r>
            <a:r>
              <a:rPr lang="en-AU" i="1">
                <a:solidFill>
                  <a:schemeClr val="dk1"/>
                </a:solidFill>
              </a:rPr>
              <a:t>column2</a:t>
            </a:r>
            <a:r>
              <a:rPr lang="en-AU">
                <a:solidFill>
                  <a:schemeClr val="dk1"/>
                </a:solidFill>
              </a:rPr>
              <a:t>, ...);  </a:t>
            </a:r>
            <a:endParaRPr/>
          </a:p>
        </p:txBody>
      </p:sp>
      <p:sp>
        <p:nvSpPr>
          <p:cNvPr id="545" name="Google Shape;545;p6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51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6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Learning Outcomes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66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Courier New"/>
              <a:buChar char="o"/>
            </a:pPr>
            <a:r>
              <a:rPr lang="en-AU" sz="2200"/>
              <a:t>Basic queries in SQL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Courier New"/>
              <a:buChar char="o"/>
            </a:pPr>
            <a:r>
              <a:rPr lang="en-AU" sz="2200"/>
              <a:t>Querying multiple tables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Courier New"/>
              <a:buChar char="o"/>
            </a:pPr>
            <a:r>
              <a:rPr lang="en-AU" sz="2200"/>
              <a:t>Aggregate queries 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Courier New"/>
              <a:buChar char="o"/>
            </a:pPr>
            <a:r>
              <a:rPr lang="en-AU" sz="2200"/>
              <a:t>Insert/delete/update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Courier New"/>
              <a:buChar char="o"/>
            </a:pPr>
            <a:r>
              <a:rPr lang="en-AU" sz="2200"/>
              <a:t>Change schemas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Courier New"/>
              <a:buChar char="o"/>
            </a:pPr>
            <a:r>
              <a:rPr lang="en-AU" sz="2200"/>
              <a:t>Views  </a:t>
            </a:r>
            <a:endParaRPr sz="2200"/>
          </a:p>
        </p:txBody>
      </p:sp>
      <p:sp>
        <p:nvSpPr>
          <p:cNvPr id="552" name="Google Shape;552;p6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AU"/>
              <a:t>52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红橙色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4024</Words>
  <Application>Microsoft Office PowerPoint</Application>
  <PresentationFormat>全屏显示(4:3)</PresentationFormat>
  <Paragraphs>624</Paragraphs>
  <Slides>52</Slides>
  <Notes>52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8" baseType="lpstr">
      <vt:lpstr>Times New Roman</vt:lpstr>
      <vt:lpstr>Arial</vt:lpstr>
      <vt:lpstr>Calibri</vt:lpstr>
      <vt:lpstr>Helvetica Neue</vt:lpstr>
      <vt:lpstr>Courier New</vt:lpstr>
      <vt:lpstr>回顾</vt:lpstr>
      <vt:lpstr>SQL (Part 2)</vt:lpstr>
      <vt:lpstr>Querying With Subqueries</vt:lpstr>
      <vt:lpstr>Querying Without Subqueries</vt:lpstr>
      <vt:lpstr>Query with Subquery</vt:lpstr>
      <vt:lpstr>IN</vt:lpstr>
      <vt:lpstr>Exists</vt:lpstr>
      <vt:lpstr>All</vt:lpstr>
      <vt:lpstr>Quantifiers</vt:lpstr>
      <vt:lpstr>Set Operations</vt:lpstr>
      <vt:lpstr>DIVIDE in SQL?</vt:lpstr>
      <vt:lpstr>DIVIDE in SQL?</vt:lpstr>
      <vt:lpstr>Aggregate Functions in SQL</vt:lpstr>
      <vt:lpstr>Aggregation in SQL</vt:lpstr>
      <vt:lpstr>Common Aggregations</vt:lpstr>
      <vt:lpstr>Null Values and Aggregates</vt:lpstr>
      <vt:lpstr>Aggregation &amp; Null Values</vt:lpstr>
      <vt:lpstr>Grouping and Aggregation</vt:lpstr>
      <vt:lpstr>Grouping and Aggregation</vt:lpstr>
      <vt:lpstr>Grouping and Aggregation</vt:lpstr>
      <vt:lpstr>Grouping and Aggregation</vt:lpstr>
      <vt:lpstr>Grouping and Aggregation</vt:lpstr>
      <vt:lpstr>Group by and Having</vt:lpstr>
      <vt:lpstr>Order By</vt:lpstr>
      <vt:lpstr>Summary on SQL</vt:lpstr>
      <vt:lpstr>Create Table Statement</vt:lpstr>
      <vt:lpstr>Drop Table Command</vt:lpstr>
      <vt:lpstr>Table Attributes - Domain</vt:lpstr>
      <vt:lpstr>Table Attributes - Domain</vt:lpstr>
      <vt:lpstr>Attribute Constraints</vt:lpstr>
      <vt:lpstr>Attribute Constraints</vt:lpstr>
      <vt:lpstr>Declaring Primary Keys</vt:lpstr>
      <vt:lpstr>Declaring Foreign Keys</vt:lpstr>
      <vt:lpstr>Declaring Foreign Keys</vt:lpstr>
      <vt:lpstr>Declaring Foreign Keys</vt:lpstr>
      <vt:lpstr>Insert Tuple(s) using values</vt:lpstr>
      <vt:lpstr>Insert Tuple(s) using values</vt:lpstr>
      <vt:lpstr>Insert Tuple(s) using Select</vt:lpstr>
      <vt:lpstr>Insert Tuple(s) using Select</vt:lpstr>
      <vt:lpstr>Delete Tuple(s)</vt:lpstr>
      <vt:lpstr>Delete Tuple(s)</vt:lpstr>
      <vt:lpstr>Update Value(s) in Tuple(s)</vt:lpstr>
      <vt:lpstr>Update Value(s) in Tuple(s)</vt:lpstr>
      <vt:lpstr>SQL Views</vt:lpstr>
      <vt:lpstr>Motivation</vt:lpstr>
      <vt:lpstr>Motivation</vt:lpstr>
      <vt:lpstr>Querying Views</vt:lpstr>
      <vt:lpstr>Views Update</vt:lpstr>
      <vt:lpstr>Schema Change in SQL</vt:lpstr>
      <vt:lpstr>Example: Add New Column</vt:lpstr>
      <vt:lpstr>Example: Modify Column</vt:lpstr>
      <vt:lpstr>Create Index</vt:lpstr>
      <vt:lpstr>Learning Outcomes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(Part 2)</dc:title>
  <cp:lastModifiedBy>Dell</cp:lastModifiedBy>
  <cp:revision>4</cp:revision>
  <cp:lastPrinted>2023-10-16T04:36:43Z</cp:lastPrinted>
  <dcterms:modified xsi:type="dcterms:W3CDTF">2024-10-21T08:58:59Z</dcterms:modified>
</cp:coreProperties>
</file>