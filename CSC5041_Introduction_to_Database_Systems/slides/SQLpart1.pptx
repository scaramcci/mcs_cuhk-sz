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</p:sldIdLst>
  <p:sldSz cx="9144000" cy="6858000" type="screen4x3"/>
  <p:notesSz cx="9929813" cy="6797675"/>
  <p:embeddedFontLst>
    <p:embeddedFont>
      <p:font typeface="Helvetica Neue" panose="02010600030101010101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B3DD13-401A-4EB5-8E65-41FF77D2AF8B}">
  <a:tblStyle styleId="{97B3DD13-401A-4EB5-8E65-41FF77D2AF8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9411DDE-512D-47A7-880F-55A0FE0D8701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E6E6E6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6E6E6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Arial"/>
          <a:ea typeface="Arial"/>
          <a:cs typeface="Arial"/>
        </a:font>
        <a:schemeClr val="dk1"/>
      </a:tcTxStyle>
      <a:tcStyle>
        <a:tcBdr/>
      </a:tcStyle>
    </a:seCell>
    <a:swCell>
      <a:tcTxStyle b="on" i="off">
        <a:font>
          <a:latin typeface="Arial"/>
          <a:ea typeface="Arial"/>
          <a:cs typeface="Arial"/>
        </a:font>
        <a:schemeClr val="dk1"/>
      </a:tcTxStyle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3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24597" y="0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3098e57983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2313" y="508000"/>
            <a:ext cx="3405187" cy="255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3098e57983_2_0:notes"/>
          <p:cNvSpPr txBox="1">
            <a:spLocks noGrp="1"/>
          </p:cNvSpPr>
          <p:nvPr>
            <p:ph type="body" idx="1"/>
          </p:nvPr>
        </p:nvSpPr>
        <p:spPr>
          <a:xfrm>
            <a:off x="992984" y="3228895"/>
            <a:ext cx="7943850" cy="305895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13098e57983_2_0:notes"/>
          <p:cNvSpPr txBox="1">
            <a:spLocks noGrp="1"/>
          </p:cNvSpPr>
          <p:nvPr>
            <p:ph type="sldNum" idx="12"/>
          </p:nvPr>
        </p:nvSpPr>
        <p:spPr>
          <a:xfrm>
            <a:off x="5624604" y="6456612"/>
            <a:ext cx="4302919" cy="340106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45e18a144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45e18a144d_0_7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g245e18a144d_0_7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45e18a144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245e18a144d_0_14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g245e18a144d_0_14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45e18a144d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45e18a144d_0_21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245e18a144d_0_21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45e18a144d_0_28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245e18a144d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45e18a144d_0_34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g245e18a144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45e18a144d_0_43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g245e18a144d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45e18a144d_0_50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g245e18a144d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45e18a144d_0_59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g245e18a144d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45e18a144d_0_66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245e18a144d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45e18a144d_0_74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245e18a144d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45e18a144d_0_86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245e18a144d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45e18a144d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245e18a144d_0_92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g245e18a144d_0_92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45e18a144d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245e18a144d_0_99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g245e18a144d_0_99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45e18a144d_0_106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g245e18a144d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45e18a144d_0_112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g245e18a144d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45e18a144d_0_118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g245e18a144d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45e18a144d_0_124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g245e18a144d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45e18a144d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245e18a144d_0_130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7" name="Google Shape;257;g245e18a144d_0_130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45e18a144d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g245e18a144d_0_137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g245e18a144d_0_137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45e18a144d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245e18a144d_0_144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g245e18a144d_0_144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45e18a144d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45e18a144d_0_151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g245e18a144d_0_151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45e18a144d_0_158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8" name="Google Shape;288;g245e18a144d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45e18a144d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245e18a144d_0_164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6" name="Google Shape;296;g245e18a144d_0_164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45e18a144d_0_171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g245e18a144d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45e18a144d_0_177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" name="Google Shape;310;g245e18a144d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45e18a144d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g245e18a144d_0_183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8" name="Google Shape;318;g245e18a144d_0_183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45e18a144d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g245e18a144d_0_190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6" name="Google Shape;326;g245e18a144d_0_190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45e18a144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g245e18a144d_0_199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6" name="Google Shape;336;g245e18a144d_0_199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45e18a144d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g245e18a144d_0_209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7" name="Google Shape;347;g245e18a144d_0_209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45e18a144d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245e18a144d_0_222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69" name="Google Shape;369;g245e18a144d_0_222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45e18a144d_0_229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32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6" name="Google Shape;376;g245e18a144d_0_229:notes"/>
          <p:cNvSpPr/>
          <p:nvPr/>
        </p:nvSpPr>
        <p:spPr>
          <a:xfrm>
            <a:off x="5741824" y="0"/>
            <a:ext cx="4390229" cy="344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7" name="Google Shape;377;g245e18a144d_0_229:notes"/>
          <p:cNvSpPr/>
          <p:nvPr/>
        </p:nvSpPr>
        <p:spPr>
          <a:xfrm>
            <a:off x="5741824" y="6556924"/>
            <a:ext cx="4390229" cy="344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50" tIns="45200" rIns="92050" bIns="452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245e18a144d_0_229:notes"/>
          <p:cNvSpPr/>
          <p:nvPr/>
        </p:nvSpPr>
        <p:spPr>
          <a:xfrm>
            <a:off x="1" y="6556924"/>
            <a:ext cx="4390229" cy="344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9" name="Google Shape;379;g245e18a144d_0_229:notes"/>
          <p:cNvSpPr/>
          <p:nvPr/>
        </p:nvSpPr>
        <p:spPr>
          <a:xfrm>
            <a:off x="1" y="0"/>
            <a:ext cx="4390229" cy="344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0" name="Google Shape;380;g245e18a144d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6450" y="522288"/>
            <a:ext cx="3438525" cy="257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g245e18a144d_0_229:notes"/>
          <p:cNvSpPr txBox="1">
            <a:spLocks noGrp="1"/>
          </p:cNvSpPr>
          <p:nvPr>
            <p:ph type="body" idx="1"/>
          </p:nvPr>
        </p:nvSpPr>
        <p:spPr>
          <a:xfrm>
            <a:off x="1349261" y="3278462"/>
            <a:ext cx="7433460" cy="310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50" tIns="45200" rIns="92050" bIns="452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45e18a144d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g245e18a144d_0_242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91" name="Google Shape;391;g245e18a144d_0_242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45e18a144d_0_252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g245e18a144d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45e18a144d_0_261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35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1" name="Google Shape;411;g245e18a144d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46450" y="522288"/>
            <a:ext cx="3438525" cy="2578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2" name="Google Shape;412;g245e18a144d_0_261:notes"/>
          <p:cNvSpPr txBox="1">
            <a:spLocks noGrp="1"/>
          </p:cNvSpPr>
          <p:nvPr>
            <p:ph type="body" idx="1"/>
          </p:nvPr>
        </p:nvSpPr>
        <p:spPr>
          <a:xfrm>
            <a:off x="1349261" y="3278462"/>
            <a:ext cx="7433460" cy="310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45e18a144d_0_268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36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9" name="Google Shape;419;g245e18a144d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0" name="Google Shape;420;g245e18a144d_0_268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45e18a144d_0_276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8" name="Google Shape;428;g245e18a144d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45e18a144d_0_282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5" name="Google Shape;435;g245e18a144d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45e18a144d_0_288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2" name="Google Shape;442;g245e18a144d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45e18a144d_0_295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0" name="Google Shape;450;g245e18a144d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45e18a144d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" name="Google Shape;460;g245e18a144d_0_304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1" name="Google Shape;461;g245e18a144d_0_304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45e18a144d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2" name="Google Shape;472;g245e18a144d_0_315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3" name="Google Shape;473;g245e18a144d_0_315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45e18a144d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245e18a144d_0_330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9" name="Google Shape;489;g245e18a144d_0_330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45e18a144d_0_337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6" name="Google Shape;496;g245e18a144d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45e18a144d_0_343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3" name="Google Shape;503;g245e18a144d_0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45e18a144d_0_350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46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1" name="Google Shape;511;g245e18a144d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g245e18a144d_0_350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45e18a144d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1" name="Google Shape;531;g245e18a144d_0_369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2" name="Google Shape;532;g245e18a144d_0_369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45e18a144d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g245e18a144d_0_376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0" name="Google Shape;540;g245e18a144d_0_376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45e18a144d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7" name="Google Shape;547;g245e18a144d_0_383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8" name="Google Shape;548;g245e18a144d_0_383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45e18a144d_0_390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5" name="Google Shape;555;g245e18a144d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45e18a144d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2" name="Google Shape;562;g245e18a144d_0_396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3" name="Google Shape;563;g245e18a144d_0_396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45e18a144d_0_406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52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3" name="Google Shape;573;g245e18a144d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4" name="Google Shape;574;g245e18a144d_0_406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45e18a144d_0_417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53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5" name="Google Shape;585;g245e18a144d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6" name="Google Shape;586;g245e18a144d_0_417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245e18a144d_0_428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54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7" name="Google Shape;597;g245e18a144d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8" name="Google Shape;598;g245e18a144d_0_428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245e18a144d_0_443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55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3" name="Google Shape;613;g245e18a144d_0_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4" name="Google Shape;614;g245e18a144d_0_443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245e18a144d_0_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2" name="Google Shape;622;g245e18a144d_0_451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3" name="Google Shape;623;g245e18a144d_0_451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45e18a144d_0_461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57</a:t>
            </a:fld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3" name="Google Shape;633;g245e18a144d_0_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4" name="Google Shape;634;g245e18a144d_0_461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45e18a144d_0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398837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2" name="Google Shape;642;g245e18a144d_0_469:notes"/>
          <p:cNvSpPr txBox="1">
            <a:spLocks noGrp="1"/>
          </p:cNvSpPr>
          <p:nvPr>
            <p:ph type="body" idx="1"/>
          </p:nvPr>
        </p:nvSpPr>
        <p:spPr>
          <a:xfrm>
            <a:off x="992982" y="3228895"/>
            <a:ext cx="794385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3" name="Google Shape;643;g245e18a144d_0_469:notes"/>
          <p:cNvSpPr txBox="1">
            <a:spLocks noGrp="1"/>
          </p:cNvSpPr>
          <p:nvPr>
            <p:ph type="sldNum" idx="12"/>
          </p:nvPr>
        </p:nvSpPr>
        <p:spPr>
          <a:xfrm>
            <a:off x="5624597" y="6456612"/>
            <a:ext cx="4302919" cy="3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标题幻灯片" type="title">
  <p:cSld name="TITL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Times New Roman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p2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8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1" cy="4726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节标题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Times New Roman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5" name="Google Shape;45;p5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5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1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2"/>
          </p:nvPr>
        </p:nvSpPr>
        <p:spPr>
          <a:xfrm>
            <a:off x="4663440" y="1845735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2"/>
          </p:nvPr>
        </p:nvSpPr>
        <p:spPr>
          <a:xfrm>
            <a:off x="822960" y="2582334"/>
            <a:ext cx="370332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body" idx="3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4"/>
          </p:nvPr>
        </p:nvSpPr>
        <p:spPr>
          <a:xfrm>
            <a:off x="4663440" y="2582334"/>
            <a:ext cx="370332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空白" type="blank">
  <p:cSld name="BLANK"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内容与标题" type="objTx">
  <p:cSld name="OBJECT_WITH_CAPTION_TEXT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3600450" y="731520"/>
            <a:ext cx="486918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2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ft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图片与标题" type="picTx">
  <p:cSld name="PICTURE_WITH_CAPTION_TEXT"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0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>
            <a:spLocks noGrp="1"/>
          </p:cNvSpPr>
          <p:nvPr>
            <p:ph type="pic" idx="2"/>
          </p:nvPr>
        </p:nvSpPr>
        <p:spPr>
          <a:xfrm>
            <a:off x="12" y="0"/>
            <a:ext cx="9143989" cy="4915076"/>
          </a:xfrm>
          <a:prstGeom prst="rect">
            <a:avLst/>
          </a:prstGeom>
          <a:solidFill>
            <a:srgbClr val="DDD9C3"/>
          </a:solidFill>
          <a:ln>
            <a:noFill/>
          </a:ln>
        </p:spPr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822960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 rot="5400000">
            <a:off x="2193712" y="-303953"/>
            <a:ext cx="4802294" cy="754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竖排标题与文本" type="vertTitleAndTx">
  <p:cSld name="VERTICAL_TITLE_AND_VERTICAL_TEXT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2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title"/>
          </p:nvPr>
        </p:nvSpPr>
        <p:spPr>
          <a:xfrm rot="5400000">
            <a:off x="4649564" y="2306414"/>
            <a:ext cx="575989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2"/>
          <p:cNvSpPr txBox="1">
            <a:spLocks noGrp="1"/>
          </p:cNvSpPr>
          <p:nvPr>
            <p:ph type="body" idx="1"/>
          </p:nvPr>
        </p:nvSpPr>
        <p:spPr>
          <a:xfrm rot="5400000">
            <a:off x="649064" y="391889"/>
            <a:ext cx="575989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 1">
  <p:cSld name="标题和内容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rgbClr val="DC5E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  <a:defRPr sz="48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822959" y="1066800"/>
            <a:ext cx="7543801" cy="4802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"/>
          <p:cNvCxnSpPr/>
          <p:nvPr/>
        </p:nvCxnSpPr>
        <p:spPr>
          <a:xfrm>
            <a:off x="914400" y="990600"/>
            <a:ext cx="74752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cs/current/sql-keywords-appendix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mode.com/sql-tutorial/sql-where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mode.com/sql-tutorial/sql-joi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Times New Roman"/>
              <a:buNone/>
            </a:pPr>
            <a:r>
              <a:rPr lang="en-US" sz="6600">
                <a:solidFill>
                  <a:schemeClr val="dk2"/>
                </a:solidFill>
              </a:rPr>
              <a:t>SQL</a:t>
            </a:r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Summary </a:t>
            </a:r>
            <a:r>
              <a:rPr lang="en-US" altLang="zh-CN" dirty="0"/>
              <a:t>of Earlier Contents</a:t>
            </a:r>
            <a:endParaRPr dirty="0"/>
          </a:p>
        </p:txBody>
      </p:sp>
      <p:sp>
        <p:nvSpPr>
          <p:cNvPr id="120" name="Google Shape;120;p15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b="1" dirty="0"/>
              <a:t>Relational Model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urier New"/>
              <a:buChar char="o"/>
            </a:pPr>
            <a:r>
              <a:rPr lang="en-US" dirty="0"/>
              <a:t>Relations, Tuples, Attributes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urier New"/>
              <a:buChar char="o"/>
            </a:pPr>
            <a:r>
              <a:rPr lang="en-US" dirty="0"/>
              <a:t>Integrity Constraints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urier New"/>
              <a:buChar char="o"/>
            </a:pPr>
            <a:r>
              <a:rPr lang="en-US" dirty="0"/>
              <a:t>ER to Relational Mapping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b="1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b="1" dirty="0"/>
              <a:t>Relational Algebra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urier New"/>
              <a:buChar char="o"/>
            </a:pPr>
            <a:r>
              <a:rPr lang="en-US" dirty="0"/>
              <a:t>Select, Project, Union, Intersection, Difference, Cartesian Product, Join, Divide, Rename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urier New"/>
              <a:buChar char="o"/>
            </a:pPr>
            <a:r>
              <a:rPr lang="en-US" dirty="0"/>
              <a:t>Basic Operators vs Extended Operators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urier New"/>
              <a:buChar char="o"/>
            </a:pPr>
            <a:r>
              <a:rPr lang="en-US" dirty="0"/>
              <a:t>Aggregation</a:t>
            </a:r>
            <a:endParaRPr dirty="0"/>
          </a:p>
        </p:txBody>
      </p:sp>
      <p:sp>
        <p:nvSpPr>
          <p:cNvPr id="121" name="Google Shape;121;p1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/>
              <a:t>SQL-99</a:t>
            </a:r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body" idx="1"/>
          </p:nvPr>
        </p:nvSpPr>
        <p:spPr>
          <a:xfrm>
            <a:off x="838200" y="1143000"/>
            <a:ext cx="7543800" cy="4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/>
              <a:t>SQL = </a:t>
            </a:r>
            <a:r>
              <a:rPr lang="en-US" b="1" i="1"/>
              <a:t>Structured Query Language </a:t>
            </a:r>
            <a:r>
              <a:rPr lang="en-US"/>
              <a:t>(pronounced “sequel”).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/>
              <a:t>Developed at IBM (San Jose Lab) during the 1970’s, and standardised during the 1980’s.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/>
              <a:t>A </a:t>
            </a:r>
            <a:r>
              <a:rPr lang="en-US" b="1"/>
              <a:t>standard</a:t>
            </a:r>
            <a:r>
              <a:rPr lang="en-US"/>
              <a:t> language for </a:t>
            </a:r>
            <a:r>
              <a:rPr lang="en-US" i="1"/>
              <a:t>querying and manipulating relational DBMSs</a:t>
            </a:r>
            <a:r>
              <a:rPr lang="en-US"/>
              <a:t>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/>
              <a:t>Interactive via GUI or command line or embedded in programs.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b="1"/>
              <a:t>Declarative</a:t>
            </a:r>
            <a:r>
              <a:rPr lang="en-US"/>
              <a:t>, based on relational algebra.</a:t>
            </a:r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/>
              <a:t>SQL in Relational DBMS</a:t>
            </a:r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In relational databases, what does SQL do?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b="1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/>
              <a:t>A data definition language (DDL)</a:t>
            </a: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CREATE TABLE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DROP TABLE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…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b="1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/>
              <a:t>A data manipulation language (DML)</a:t>
            </a: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SELECT (keywords relating to select: GROUP BY, HAVING, ORDER BY…), INSERT, DELETE, UPDATE, ALTER, …</a:t>
            </a:r>
            <a:endParaRPr i="1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Other Commands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indexes, constraints, views, triggers, transactions, authorization, …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/>
              <a:t>Sample Database</a:t>
            </a:r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body" idx="1"/>
          </p:nvPr>
        </p:nvSpPr>
        <p:spPr>
          <a:xfrm>
            <a:off x="838200" y="1066800"/>
            <a:ext cx="7743900" cy="50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To illustrate the features of SQL, we use a small example database below: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Beers(</a:t>
            </a:r>
            <a:r>
              <a:rPr lang="en-US" i="1" u="sng"/>
              <a:t>name</a:t>
            </a:r>
            <a:r>
              <a:rPr lang="en-US"/>
              <a:t>, manf)		Bars(</a:t>
            </a:r>
            <a:r>
              <a:rPr lang="en-US" i="1" u="sng"/>
              <a:t>name</a:t>
            </a:r>
            <a:r>
              <a:rPr lang="en-US"/>
              <a:t>, addr, license)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Drinkers(</a:t>
            </a:r>
            <a:r>
              <a:rPr lang="en-US" i="1" u="sng"/>
              <a:t>name</a:t>
            </a:r>
            <a:r>
              <a:rPr lang="en-US"/>
              <a:t>, addr, phone)	Likes(</a:t>
            </a:r>
            <a:r>
              <a:rPr lang="en-US" i="1" u="sng"/>
              <a:t>drinker, beer</a:t>
            </a:r>
            <a:r>
              <a:rPr lang="en-US"/>
              <a:t>)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Sells(</a:t>
            </a:r>
            <a:r>
              <a:rPr lang="en-US" i="1" u="sng"/>
              <a:t>bar, beer</a:t>
            </a:r>
            <a:r>
              <a:rPr lang="en-US"/>
              <a:t>, price)		Frequents(</a:t>
            </a:r>
            <a:r>
              <a:rPr lang="en-US" i="1" u="sng"/>
              <a:t>drinker, bar</a:t>
            </a:r>
            <a:r>
              <a:rPr lang="en-US"/>
              <a:t>)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keys are in </a:t>
            </a:r>
            <a:r>
              <a:rPr lang="en-US" b="1" i="1"/>
              <a:t>italic</a:t>
            </a:r>
            <a:r>
              <a:rPr lang="en-US"/>
              <a:t> font and highlighted by </a:t>
            </a:r>
            <a:r>
              <a:rPr lang="en-US" b="1"/>
              <a:t>underscore</a:t>
            </a:r>
            <a:r>
              <a:rPr lang="en-US"/>
              <a:t>.</a:t>
            </a:r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Sample Database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(cont)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aphicFrame>
        <p:nvGraphicFramePr>
          <p:cNvPr id="151" name="Google Shape;151;p19"/>
          <p:cNvGraphicFramePr/>
          <p:nvPr/>
        </p:nvGraphicFramePr>
        <p:xfrm>
          <a:off x="2133600" y="1524000"/>
          <a:ext cx="4876800" cy="2103200"/>
        </p:xfrm>
        <a:graphic>
          <a:graphicData uri="http://schemas.openxmlformats.org/drawingml/2006/table">
            <a:tbl>
              <a:tblPr firstRow="1" bandRow="1">
                <a:noFill/>
                <a:tableStyleId>{97B3DD13-401A-4EB5-8E65-41FF77D2AF8B}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Name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Addr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License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Australia Hotel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The Rocks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123456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Coogee Bay Hotel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Coogee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966500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Lord Nelson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The Rocks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123888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Marble Bar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Sydney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122123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Regent Hotel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Kingsford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987654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Royal Hotel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Randwick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938500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2" name="Google Shape;152;p19"/>
          <p:cNvGraphicFramePr/>
          <p:nvPr/>
        </p:nvGraphicFramePr>
        <p:xfrm>
          <a:off x="2133600" y="3943866"/>
          <a:ext cx="5105400" cy="1447750"/>
        </p:xfrm>
        <a:graphic>
          <a:graphicData uri="http://schemas.openxmlformats.org/drawingml/2006/table">
            <a:tbl>
              <a:tblPr firstRow="1" bandRow="1">
                <a:noFill/>
                <a:tableStyleId>{97B3DD13-401A-4EB5-8E65-41FF77D2AF8B}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Name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Addr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Phone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Adam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Randwick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9385-4444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Gernot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Newtown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9415-3378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Clovelly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9665-1234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Justin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Mosman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9845-4321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3" name="Google Shape;153;p19"/>
          <p:cNvSpPr txBox="1"/>
          <p:nvPr/>
        </p:nvSpPr>
        <p:spPr>
          <a:xfrm>
            <a:off x="1219200" y="2335768"/>
            <a:ext cx="83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952500" y="4343400"/>
            <a:ext cx="125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Drinkers: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Sample Database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(cont)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aphicFrame>
        <p:nvGraphicFramePr>
          <p:cNvPr id="161" name="Google Shape;161;p20"/>
          <p:cNvGraphicFramePr/>
          <p:nvPr/>
        </p:nvGraphicFramePr>
        <p:xfrm>
          <a:off x="2438400" y="1219200"/>
          <a:ext cx="3810000" cy="4813935"/>
        </p:xfrm>
        <a:graphic>
          <a:graphicData uri="http://schemas.openxmlformats.org/drawingml/2006/table">
            <a:tbl>
              <a:tblPr firstRow="1" bandRow="1">
                <a:noFill/>
                <a:tableStyleId>{97B3DD13-401A-4EB5-8E65-41FF77D2AF8B}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Name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Manf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80/-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Caledonian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Bigfoot Barley Wine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Sierra Nevada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Burragorang Bock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George IV Inn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Crown Lager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Fosters Lager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Invalid Stout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Melbourne Bitter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New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Toohey’s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Old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Toohey’s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Old Admiral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Lord Nelson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Pale Ale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Sierra Nevada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Premium Lager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Cascade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Red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Toohey’s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Sheaf Stout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Toohey’s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Sparkling Ale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Cooper’s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Stout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Cooper’s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Three Sheets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Lord Nelson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Victoria Bitter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162" name="Google Shape;162;p20"/>
          <p:cNvSpPr txBox="1"/>
          <p:nvPr/>
        </p:nvSpPr>
        <p:spPr>
          <a:xfrm>
            <a:off x="1371600" y="1905000"/>
            <a:ext cx="114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Beers: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Sample Database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(cont)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aphicFrame>
        <p:nvGraphicFramePr>
          <p:cNvPr id="169" name="Google Shape;169;p21"/>
          <p:cNvGraphicFramePr/>
          <p:nvPr/>
        </p:nvGraphicFramePr>
        <p:xfrm>
          <a:off x="4495800" y="1524000"/>
          <a:ext cx="4495800" cy="4495800"/>
        </p:xfrm>
        <a:graphic>
          <a:graphicData uri="http://schemas.openxmlformats.org/drawingml/2006/table">
            <a:tbl>
              <a:tblPr firstRow="1" bandRow="1">
                <a:noFill/>
                <a:tableStyleId>{97B3DD13-401A-4EB5-8E65-41FF77D2AF8B}</a:tableStyleId>
              </a:tblPr>
              <a:tblGrid>
                <a:gridCol w="22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Drinker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Beer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Adam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Crown Lager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Adam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Fosters Lager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Adam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New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Gernot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Premium Lager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Gernot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Sparkling Ale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80/-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Bigfoot Barley Wine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Pale Ale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Three Sheets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Justin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Sparkling Ale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Justin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Victoria Bitter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70" name="Google Shape;170;p21"/>
          <p:cNvGraphicFramePr/>
          <p:nvPr/>
        </p:nvGraphicFramePr>
        <p:xfrm>
          <a:off x="914400" y="1854200"/>
          <a:ext cx="3429000" cy="2870200"/>
        </p:xfrm>
        <a:graphic>
          <a:graphicData uri="http://schemas.openxmlformats.org/drawingml/2006/table">
            <a:tbl>
              <a:tblPr firstRow="1" bandRow="1">
                <a:noFill/>
                <a:tableStyleId>{97B3DD13-401A-4EB5-8E65-41FF77D2AF8B}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Drinker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Bar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Adam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Coogee Bay Hotel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Gernot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Lord Nelson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Coogee Bay Hotel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Lord Nelson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Australia Hotel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Justin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Regent Hotel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Justin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Marble Bar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1" name="Google Shape;171;p21"/>
          <p:cNvSpPr txBox="1"/>
          <p:nvPr/>
        </p:nvSpPr>
        <p:spPr>
          <a:xfrm>
            <a:off x="4419600" y="1143000"/>
            <a:ext cx="121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838200" y="1447800"/>
            <a:ext cx="15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Frequents: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Sample Database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(cont)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aphicFrame>
        <p:nvGraphicFramePr>
          <p:cNvPr id="179" name="Google Shape;179;p22"/>
          <p:cNvGraphicFramePr/>
          <p:nvPr/>
        </p:nvGraphicFramePr>
        <p:xfrm>
          <a:off x="2209800" y="1066800"/>
          <a:ext cx="4876800" cy="5181600"/>
        </p:xfrm>
        <a:graphic>
          <a:graphicData uri="http://schemas.openxmlformats.org/drawingml/2006/table">
            <a:tbl>
              <a:tblPr firstRow="1" bandRow="1">
                <a:noFill/>
                <a:tableStyleId>{97B3DD13-401A-4EB5-8E65-41FF77D2AF8B}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Bar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Beer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Price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Australia Hotel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Burragorang Bock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3.5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Coogee Bay Hotel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New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2.25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Coogee Bay Hotel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Old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Coogee Bay Hotel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Sparkling Ale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2.8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Coogee Bay Hotel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Victoria Bitter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2.3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Lord Nelson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Three Sheets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3.75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Lord Nelson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Old Admiral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3.75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Marble Bar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New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2.8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Marble Bar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Old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2.8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Marble Bar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Victoria Bitter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2.8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Regent Hotel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New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2.2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Regent Hotel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Victoria Bitter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2.2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Royal Hotel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New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2.3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Royal Hotel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Old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2.3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Royal Hotel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Victoria Bitter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2.3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80" name="Google Shape;180;p22"/>
          <p:cNvSpPr txBox="1"/>
          <p:nvPr/>
        </p:nvSpPr>
        <p:spPr>
          <a:xfrm>
            <a:off x="914400" y="1447800"/>
            <a:ext cx="106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Sells: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aphicFrame>
        <p:nvGraphicFramePr>
          <p:cNvPr id="186" name="Google Shape;186;p23"/>
          <p:cNvGraphicFramePr/>
          <p:nvPr/>
        </p:nvGraphicFramePr>
        <p:xfrm>
          <a:off x="2438400" y="304800"/>
          <a:ext cx="3810000" cy="4813935"/>
        </p:xfrm>
        <a:graphic>
          <a:graphicData uri="http://schemas.openxmlformats.org/drawingml/2006/table">
            <a:tbl>
              <a:tblPr firstRow="1" bandRow="1">
                <a:noFill/>
                <a:tableStyleId>{97B3DD13-401A-4EB5-8E65-41FF77D2AF8B}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Name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Manf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80/-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Caledonian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Bigfoot Barley Wine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Sierra Nevada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Burragorang Bock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George IV Inn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Crown Lager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Fosters Lager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Invalid Stout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Melbourne Bitter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New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Toohey’s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Old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Toohey’s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Old Admiral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Lord Nelson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Pale Ale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Sierra Nevada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Premium Lager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Cascade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Red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Toohey’s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Sheaf Stout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Toohey’s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Sparkling Ale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Cooper’s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Stout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Cooper’s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Three Sheets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Lord Nelson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Victoria Bitter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187" name="Google Shape;187;p23"/>
          <p:cNvSpPr txBox="1"/>
          <p:nvPr/>
        </p:nvSpPr>
        <p:spPr>
          <a:xfrm>
            <a:off x="914400" y="1295400"/>
            <a:ext cx="114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Beers: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304800" y="-10886"/>
            <a:ext cx="16638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3"/>
          <p:cNvSpPr txBox="1"/>
          <p:nvPr/>
        </p:nvSpPr>
        <p:spPr>
          <a:xfrm>
            <a:off x="609600" y="5029200"/>
            <a:ext cx="83058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SQL Queries:  What beers are made by Toohey’s?”</a:t>
            </a:r>
            <a:br>
              <a:rPr lang="en-US"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95" name="Google Shape;195;p24"/>
          <p:cNvSpPr txBox="1"/>
          <p:nvPr/>
        </p:nvSpPr>
        <p:spPr>
          <a:xfrm>
            <a:off x="609600" y="5029200"/>
            <a:ext cx="83058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SQL Queries:  What beers are made by Toohey’s?”</a:t>
            </a:r>
            <a:br>
              <a:rPr lang="en-US"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SELECT Name FROM Beers WHERE Manf = ‘Toohey’’s’;</a:t>
            </a:r>
            <a:endParaRPr sz="2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6" name="Google Shape;196;p24"/>
          <p:cNvGraphicFramePr/>
          <p:nvPr/>
        </p:nvGraphicFramePr>
        <p:xfrm>
          <a:off x="2438400" y="304800"/>
          <a:ext cx="3810000" cy="4813935"/>
        </p:xfrm>
        <a:graphic>
          <a:graphicData uri="http://schemas.openxmlformats.org/drawingml/2006/table">
            <a:tbl>
              <a:tblPr firstRow="1" bandRow="1">
                <a:noFill/>
                <a:tableStyleId>{97B3DD13-401A-4EB5-8E65-41FF77D2AF8B}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Name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Manf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80/-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Caledonian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Bigfoot Barley Wine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Sierra Nevada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Burragorang Bock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George IV Inn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Crown Lager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Fosters Lager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Invalid Stout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Melbourne Bitter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New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Toohey’s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Old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Toohey’s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Old Admiral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Lord Nelson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Pale Ale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Sierra Nevada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Premium Lager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Cascade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Red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Toohey’s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Sheaf Stout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Toohey’s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Sparkling Ale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Cooper’s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Stout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Cooper’s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Three Sheets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Lord Nelson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Victoria Bitter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197" name="Google Shape;197;p24"/>
          <p:cNvSpPr txBox="1"/>
          <p:nvPr/>
        </p:nvSpPr>
        <p:spPr>
          <a:xfrm>
            <a:off x="914400" y="1295400"/>
            <a:ext cx="114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Beers: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24"/>
          <p:cNvCxnSpPr/>
          <p:nvPr/>
        </p:nvCxnSpPr>
        <p:spPr>
          <a:xfrm rot="10800000">
            <a:off x="5867400" y="2438400"/>
            <a:ext cx="12192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99" name="Google Shape;199;p24"/>
          <p:cNvCxnSpPr/>
          <p:nvPr/>
        </p:nvCxnSpPr>
        <p:spPr>
          <a:xfrm rot="10800000">
            <a:off x="5867400" y="2743200"/>
            <a:ext cx="12192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0" name="Google Shape;200;p24"/>
          <p:cNvCxnSpPr/>
          <p:nvPr/>
        </p:nvCxnSpPr>
        <p:spPr>
          <a:xfrm rot="10800000">
            <a:off x="5867400" y="3733800"/>
            <a:ext cx="12192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1" name="Google Shape;201;p24"/>
          <p:cNvCxnSpPr/>
          <p:nvPr/>
        </p:nvCxnSpPr>
        <p:spPr>
          <a:xfrm rot="10800000">
            <a:off x="5867400" y="4038600"/>
            <a:ext cx="12192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02" name="Google Shape;202;p24"/>
          <p:cNvSpPr/>
          <p:nvPr/>
        </p:nvSpPr>
        <p:spPr>
          <a:xfrm>
            <a:off x="304800" y="-10886"/>
            <a:ext cx="16638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SQL Queries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5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To answer the question “What beers are made by Toohey’s?”, we could ask: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endParaRPr sz="1800" b="1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</a:pPr>
            <a:r>
              <a:rPr lang="en-US" sz="1800" b="1">
                <a:solidFill>
                  <a:srgbClr val="0070C0"/>
                </a:solidFill>
              </a:rPr>
              <a:t>SELECT Name FROM Beers WHERE Manf = ‘Toohey’’s’;</a:t>
            </a:r>
            <a:endParaRPr sz="1800" b="1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This gives a subset of the Beers relation, displayed as: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45720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Name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--------------------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New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Old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Sheaf Stout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</a:pPr>
            <a:endParaRPr sz="1800">
              <a:solidFill>
                <a:schemeClr val="accent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</a:pPr>
            <a:r>
              <a:rPr lang="en-US" sz="1800">
                <a:solidFill>
                  <a:schemeClr val="accent3"/>
                </a:solidFill>
              </a:rPr>
              <a:t>Quotes are escaped by doubling them (‘ ‘)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209" name="Google Shape;209;p2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Basic SELECT Structure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To retrieve information from a database, there is a basic query structure, known as the </a:t>
            </a:r>
            <a:r>
              <a:rPr lang="en-US" sz="1800" b="1" i="1"/>
              <a:t>select </a:t>
            </a:r>
            <a:r>
              <a:rPr lang="en-US" sz="1800"/>
              <a:t>statement.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32"/>
              <a:buNone/>
            </a:pPr>
            <a:r>
              <a:rPr lang="en-US" sz="1800">
                <a:solidFill>
                  <a:srgbClr val="0070C0"/>
                </a:solidFill>
              </a:rPr>
              <a:t>SELECT &lt;Attribute list&gt;</a:t>
            </a:r>
            <a:br>
              <a:rPr lang="en-US" sz="1800">
                <a:solidFill>
                  <a:srgbClr val="0070C0"/>
                </a:solidFill>
              </a:rPr>
            </a:br>
            <a:r>
              <a:rPr lang="en-US" sz="1800">
                <a:solidFill>
                  <a:srgbClr val="0070C0"/>
                </a:solidFill>
              </a:rPr>
              <a:t>FROM &lt;Table list&gt;</a:t>
            </a:r>
            <a:br>
              <a:rPr lang="en-US" sz="1800">
                <a:solidFill>
                  <a:srgbClr val="0070C0"/>
                </a:solidFill>
              </a:rPr>
            </a:br>
            <a:r>
              <a:rPr lang="en-US" sz="1800">
                <a:solidFill>
                  <a:srgbClr val="0070C0"/>
                </a:solidFill>
              </a:rPr>
              <a:t>WHERE &lt;Condition&gt;</a:t>
            </a:r>
            <a:endParaRPr sz="1800"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1800"/>
              <a:t>&lt;attribute list&gt;: list of attributes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1800"/>
              <a:t>&lt;table list&gt;: list of relations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1800"/>
              <a:t>&lt;condition&gt;: list of conditions (Boolean expression)</a:t>
            </a:r>
            <a:endParaRPr/>
          </a:p>
          <a:p>
            <a:pPr marL="285750" lvl="0" indent="-158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None/>
            </a:pPr>
            <a:endParaRPr sz="18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SELECT statement is also known as a </a:t>
            </a:r>
            <a:r>
              <a:rPr lang="en-US" sz="1800" b="1" i="1"/>
              <a:t>select-from-where block</a:t>
            </a:r>
            <a:r>
              <a:rPr lang="en-US" sz="1800" i="1"/>
              <a:t>. </a:t>
            </a:r>
            <a:r>
              <a:rPr lang="en-US" sz="1800"/>
              <a:t>The result of this statement is a table, which is typically displayed on output.</a:t>
            </a:r>
            <a:endParaRPr sz="18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The SELECT statement contains the functionality of </a:t>
            </a:r>
            <a:r>
              <a:rPr lang="en-US" sz="1800" i="1"/>
              <a:t>select</a:t>
            </a:r>
            <a:r>
              <a:rPr lang="en-US" sz="1800"/>
              <a:t>, </a:t>
            </a:r>
            <a:r>
              <a:rPr lang="en-US" sz="1800" i="1"/>
              <a:t>project</a:t>
            </a:r>
            <a:r>
              <a:rPr lang="en-US" sz="1800"/>
              <a:t> and </a:t>
            </a:r>
            <a:r>
              <a:rPr lang="en-US" sz="1800" i="1"/>
              <a:t>join</a:t>
            </a:r>
            <a:r>
              <a:rPr lang="en-US" sz="1800"/>
              <a:t> from the relational algebra.</a:t>
            </a:r>
            <a:endParaRPr sz="1800"/>
          </a:p>
        </p:txBody>
      </p:sp>
      <p:sp>
        <p:nvSpPr>
          <p:cNvPr id="217" name="Google Shape;217;p2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SQL Identifiers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7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Names are used to identify objects such as tables, attributes, views, …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Identifiers in SQL use similar conventions to common programming languages:</a:t>
            </a:r>
            <a:endParaRPr/>
          </a:p>
          <a:p>
            <a:pPr marL="342900" lvl="1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 sequence of </a:t>
            </a: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alpha-numerics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starting with an alphabetic,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342900" lvl="1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case-sensitive,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342900" lvl="1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reserve word </a:t>
            </a: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disallowed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…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342900" lvl="1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Whether you can use sign (@), dollar sign ($), number sign (#), or underscore (_) depends on the standard.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SQL Keywords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8"/>
          <p:cNvSpPr txBox="1">
            <a:spLocks noGrp="1"/>
          </p:cNvSpPr>
          <p:nvPr>
            <p:ph type="body" idx="1"/>
          </p:nvPr>
        </p:nvSpPr>
        <p:spPr>
          <a:xfrm>
            <a:off x="914400" y="1066800"/>
            <a:ext cx="75438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 of the frequently-used ones</a:t>
            </a:r>
            <a:endParaRPr/>
          </a:p>
          <a:p>
            <a:pPr marL="147320" lvl="1" indent="-147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ourier New"/>
              <a:buChar char="o"/>
            </a:pPr>
            <a:r>
              <a:rPr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ALTER    AND    CREATE</a:t>
            </a: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47320" lvl="1" indent="-147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ourier New"/>
              <a:buChar char="o"/>
            </a:pPr>
            <a:r>
              <a:rPr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FROM    INSERT    NOT    OR </a:t>
            </a: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47320" lvl="1" indent="-147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ourier New"/>
              <a:buChar char="o"/>
            </a:pPr>
            <a:r>
              <a:rPr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SELECT    TABLE    WHERE</a:t>
            </a: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For PostgreSQL Keywords see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https://www.postgresql.org/docs/current/sql-keywords-appendix.html</a:t>
            </a:r>
            <a:r>
              <a:rPr lang="en-US"/>
              <a:t> .</a:t>
            </a:r>
            <a:endParaRPr/>
          </a:p>
        </p:txBody>
      </p:sp>
      <p:sp>
        <p:nvSpPr>
          <p:cNvPr id="232" name="Google Shape;232;p2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SQL Data Types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9"/>
          <p:cNvSpPr txBox="1">
            <a:spLocks noGrp="1"/>
          </p:cNvSpPr>
          <p:nvPr>
            <p:ph type="body" idx="1"/>
          </p:nvPr>
        </p:nvSpPr>
        <p:spPr>
          <a:xfrm>
            <a:off x="914400" y="1066800"/>
            <a:ext cx="75438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All attributes in SQL relations have </a:t>
            </a:r>
            <a:r>
              <a:rPr lang="en-US" b="1"/>
              <a:t>domain</a:t>
            </a:r>
            <a:r>
              <a:rPr lang="en-US"/>
              <a:t> specified.</a:t>
            </a: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SQL supports a small set of useful built-in data types: strings, numbers, dates, bit-strings.</a:t>
            </a: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Self defined data type is allowed in PostgreSQL.</a:t>
            </a: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Various type conversions are available</a:t>
            </a:r>
            <a:endParaRPr/>
          </a:p>
          <a:p>
            <a:pPr marL="147320" lvl="1" indent="-14732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date to string, string to date, integer to real ...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147320" lvl="1" indent="-14732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applied automatically “where they make sense”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SQL Data Types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0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o"/>
            </a:pPr>
            <a:r>
              <a:rPr lang="en-US" sz="2400"/>
              <a:t>Basic domain (type) checking is performed automatically.</a:t>
            </a:r>
            <a:endParaRPr sz="240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o"/>
            </a:pPr>
            <a:r>
              <a:rPr lang="en-US" sz="2400"/>
              <a:t>Constraints can be used to “enforce” more complex domain membership conditions. </a:t>
            </a:r>
            <a:endParaRPr sz="2400"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urier New"/>
              <a:buChar char="o"/>
            </a:pPr>
            <a:r>
              <a:rPr lang="en-US" sz="2400"/>
              <a:t>The NULL value is a member of all data types.</a:t>
            </a:r>
            <a:endParaRPr sz="2400"/>
          </a:p>
        </p:txBody>
      </p:sp>
      <p:sp>
        <p:nvSpPr>
          <p:cNvPr id="246" name="Google Shape;246;p3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SQL Data Types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1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Comparison operators are defined on all types.</a:t>
            </a:r>
            <a:endParaRPr sz="1800"/>
          </a:p>
          <a:p>
            <a:pPr marL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	&lt;	&gt;	&lt;=	&gt;=	=	!=</a:t>
            </a: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Boolean operators </a:t>
            </a:r>
            <a:r>
              <a:rPr lang="en-US" sz="1800" b="1"/>
              <a:t>AND, OR, NOT</a:t>
            </a:r>
            <a:r>
              <a:rPr lang="en-US" sz="1800"/>
              <a:t> are available within WHERE expressions to combine results of comparisons.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Comparison against NULL yields FALSE.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Can explicitly test for NULL using:</a:t>
            </a:r>
            <a:endParaRPr sz="1800"/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 i="1">
                <a:latin typeface="Arial"/>
                <a:ea typeface="Arial"/>
                <a:cs typeface="Arial"/>
                <a:sym typeface="Arial"/>
              </a:rPr>
              <a:t>	attr</a:t>
            </a:r>
            <a:r>
              <a:rPr lang="en-US" b="1">
                <a:latin typeface="Arial"/>
                <a:ea typeface="Arial"/>
                <a:cs typeface="Arial"/>
                <a:sym typeface="Arial"/>
              </a:rPr>
              <a:t> IS NULL 		</a:t>
            </a:r>
            <a:r>
              <a:rPr lang="en-US" b="1" i="1">
                <a:latin typeface="Arial"/>
                <a:ea typeface="Arial"/>
                <a:cs typeface="Arial"/>
                <a:sym typeface="Arial"/>
              </a:rPr>
              <a:t>attr</a:t>
            </a:r>
            <a:r>
              <a:rPr lang="en-US" b="1">
                <a:latin typeface="Arial"/>
                <a:ea typeface="Arial"/>
                <a:cs typeface="Arial"/>
                <a:sym typeface="Arial"/>
              </a:rPr>
              <a:t> IS NOT NULL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Most data types also have type-specific operations available (e.g., arithmetic for numbers).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Which operations are actually applied depends on the implementation.</a:t>
            </a:r>
            <a:endParaRPr sz="1800"/>
          </a:p>
        </p:txBody>
      </p:sp>
      <p:sp>
        <p:nvSpPr>
          <p:cNvPr id="253" name="Google Shape;253;p3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Data Types - Numeric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2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 options for specifying the attributes for holding numeric values:</a:t>
            </a:r>
            <a:br>
              <a:rPr lang="en-US"/>
            </a:b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If you need integers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smallint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(2 byte integer)</a:t>
            </a:r>
            <a:endParaRPr sz="1800"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(4 byte integer)</a:t>
            </a:r>
            <a:endParaRPr sz="1800"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bigint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(8 byte integer)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If you need real numbers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real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(4 byte floating point)</a:t>
            </a:r>
            <a:endParaRPr sz="1800"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double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(8 byte floating point)</a:t>
            </a:r>
            <a:endParaRPr sz="1800"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numeric (&lt;precision&gt; , &lt;scale&gt;)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2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&lt;precision&gt;: specify significant digits in the whole number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2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&lt;scale&gt;: specify digits after the decimal point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Data Types – String Literal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3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Example of a string literal: </a:t>
            </a:r>
            <a:r>
              <a:rPr lang="en-US">
                <a:solidFill>
                  <a:srgbClr val="0070C0"/>
                </a:solidFill>
              </a:rPr>
              <a:t>‘John’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A string literal is </a:t>
            </a:r>
            <a:r>
              <a:rPr lang="en-US" b="1"/>
              <a:t>a sequence of zero or more characters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In SQL, you specify a literal by enclosing it in single quotes.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Two kinds of string literals are available: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 b="1" i="1">
                <a:latin typeface="Arial"/>
                <a:ea typeface="Arial"/>
                <a:cs typeface="Arial"/>
                <a:sym typeface="Arial"/>
              </a:rPr>
              <a:t>CHAR(n) </a:t>
            </a:r>
            <a:r>
              <a:rPr lang="en-US" sz="2000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 length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left-justified blank-padded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 b="1" i="1">
                <a:latin typeface="Arial"/>
                <a:ea typeface="Arial"/>
                <a:cs typeface="Arial"/>
                <a:sym typeface="Arial"/>
              </a:rPr>
              <a:t>VARCHAR(n)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can be between 0 and n length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no padding</a:t>
            </a: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String literals are case sensitive: </a:t>
            </a:r>
            <a:r>
              <a:rPr lang="en-US">
                <a:solidFill>
                  <a:srgbClr val="0070C0"/>
                </a:solidFill>
              </a:rPr>
              <a:t>‘John’ != ‘JOHN ’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i="1">
              <a:solidFill>
                <a:schemeClr val="dk1"/>
              </a:solidFill>
            </a:endParaRPr>
          </a:p>
        </p:txBody>
      </p:sp>
      <p:sp>
        <p:nvSpPr>
          <p:cNvPr id="269" name="Google Shape;269;p3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String Operators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4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>
                <a:solidFill>
                  <a:srgbClr val="0070C0"/>
                </a:solidFill>
              </a:rPr>
              <a:t>string </a:t>
            </a:r>
            <a:r>
              <a:rPr lang="en-US" b="1">
                <a:solidFill>
                  <a:srgbClr val="0070C0"/>
                </a:solidFill>
              </a:rPr>
              <a:t>|| </a:t>
            </a:r>
            <a:r>
              <a:rPr lang="en-US">
                <a:solidFill>
                  <a:srgbClr val="0070C0"/>
                </a:solidFill>
              </a:rPr>
              <a:t>string </a:t>
            </a:r>
            <a:r>
              <a:rPr lang="en-US"/>
              <a:t>… concatenate two strings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i="1">
                <a:solidFill>
                  <a:srgbClr val="0070C0"/>
                </a:solidFill>
              </a:rPr>
              <a:t>LENGTH (string) </a:t>
            </a:r>
            <a:r>
              <a:rPr lang="en-US"/>
              <a:t>... return length of string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i="1">
                <a:solidFill>
                  <a:srgbClr val="0070C0"/>
                </a:solidFill>
              </a:rPr>
              <a:t>SUBSTR (string, start, length) </a:t>
            </a:r>
            <a:r>
              <a:rPr lang="en-US"/>
              <a:t>... extract chars from within string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Example: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‘Post’|| ‘greSQL’ -&gt; PostgreSQL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substring('Thomas' from 2 for 3) -&gt; hom</a:t>
            </a: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01168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01168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SQL Like Operator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5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 i="1">
                <a:solidFill>
                  <a:srgbClr val="0070C0"/>
                </a:solidFill>
              </a:rPr>
              <a:t>str LIKE pattern </a:t>
            </a:r>
            <a:r>
              <a:rPr lang="en-US"/>
              <a:t>... matches string to pattern</a:t>
            </a: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Two kinds of string </a:t>
            </a:r>
            <a:r>
              <a:rPr lang="en-US" b="1" i="1">
                <a:solidFill>
                  <a:srgbClr val="0070C0"/>
                </a:solidFill>
              </a:rPr>
              <a:t>pattern-matching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symbol _ (underscore) matches any single characters</a:t>
            </a:r>
            <a:endParaRPr/>
          </a:p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symbol % (percent) matches zero or more characters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Practice</a:t>
            </a:r>
            <a:endParaRPr/>
          </a:p>
          <a:p>
            <a:pPr marL="342900" lvl="1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String LIKE ‘Ja%’ 		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Strings beginning with ‘Ja’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342900" lvl="1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String LIKE  ‘_i%’ 		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Strings with ‘i’ as 2nd letter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342900" lvl="1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String LIKE ‘%o%o%’ 	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Strings contains two ‘o’s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SQL Dates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6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Dates are simply specially-formatted strings, with a range of operations to implement date semantics.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Format is typically </a:t>
            </a:r>
            <a:r>
              <a:rPr lang="en-US" sz="1800" b="1"/>
              <a:t>DD-Mon-YYYY</a:t>
            </a:r>
            <a:r>
              <a:rPr lang="en-US" sz="1800"/>
              <a:t>, e.g., ’18-Aug-1998’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Accepts other formats </a:t>
            </a:r>
            <a:endParaRPr sz="1800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Comparison operators implement before (&lt;) and after (&gt;).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 b="1"/>
              <a:t>(start1, end1) OVERLAPS (start2, end2)</a:t>
            </a: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This expression yields true when two time periods (defined by their endpoints) overlap, false when they do not overlap.</a:t>
            </a:r>
            <a:endParaRPr sz="1800"/>
          </a:p>
          <a:p>
            <a:pPr marL="28575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SELECT (DATE '2001-02-16', DATE '2001-12-21') OVERLAPS (DATE '2001-10-30', DATE '2002-10-30');  -&gt;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Result: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true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Converting Data Types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7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Conversions between data types are an important skill to know.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E.g., division of one integer with an integer 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Various type conversions are available: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integer to real ...</a:t>
            </a:r>
            <a:endParaRPr sz="1800"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string to integer …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SQL supports a small set of useful built-in data types,  e.g., numbers, strings, dates...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You can define your own type in SQL.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84048" lvl="1" indent="-5587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8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Tuple and Set Literals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8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Tuple and set constants are both written as: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	(val1, val2, val3, ... )</a:t>
            </a: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The correct interpretation is worked out from the context.</a:t>
            </a:r>
            <a:endParaRPr sz="1800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Examples:</a:t>
            </a:r>
            <a:endParaRPr sz="1800"/>
          </a:p>
          <a:p>
            <a:pPr marL="45720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Student(stude#, name, course)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( 2177364, ’Jack Smith’, ’BSc’)	 -- tuple literal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84048" lvl="1" indent="-6857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SELECT name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FROM Employees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WHERE job IN (’Lecturer’, ’Tutor’, ’Professor’); 	-- set literal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Querying a Single Relation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9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Formal semantics (relational algebra):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start with relation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in FROM clause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apply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σ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using Condition in WHERE clause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apply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using Attributes in SELECT clause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" lvl="0" indent="2286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91440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lang="en-US" sz="2000" i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Attributes</a:t>
            </a: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US" sz="2000" i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2000" i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Conditions</a:t>
            </a: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Querying a Single Relation</a:t>
            </a:r>
            <a:endParaRPr sz="402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0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Operationally, we think in terms of a tuple variable ranging over all tuples of the relation.</a:t>
            </a:r>
            <a:endParaRPr sz="1800"/>
          </a:p>
          <a:p>
            <a:pPr marL="0" lvl="0" indent="0" algn="l" rtl="0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1800" b="1"/>
              <a:t>Operational semantics of SQL SELECT (single relation)</a:t>
            </a:r>
            <a:br>
              <a:rPr lang="en-US" sz="1800" b="1"/>
            </a:br>
            <a:endParaRPr sz="1800" b="1"/>
          </a:p>
          <a:p>
            <a:pPr marL="201168" lvl="1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latin typeface="Arial"/>
                <a:ea typeface="Arial"/>
                <a:cs typeface="Arial"/>
                <a:sym typeface="Arial"/>
              </a:rPr>
              <a:t>FOR EACH tuple T in R DO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01168" lvl="1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latin typeface="Arial"/>
                <a:ea typeface="Arial"/>
                <a:cs typeface="Arial"/>
                <a:sym typeface="Arial"/>
              </a:rPr>
              <a:t>	check whether T satisfies the condition in the WHERE clause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01168" lvl="1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latin typeface="Arial"/>
                <a:ea typeface="Arial"/>
                <a:cs typeface="Arial"/>
                <a:sym typeface="Arial"/>
              </a:rPr>
              <a:t>	IF it does THEN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01168" lvl="1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latin typeface="Arial"/>
                <a:ea typeface="Arial"/>
                <a:cs typeface="Arial"/>
                <a:sym typeface="Arial"/>
              </a:rPr>
              <a:t>		print the attributes of T that are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01168" lvl="1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latin typeface="Arial"/>
                <a:ea typeface="Arial"/>
                <a:cs typeface="Arial"/>
                <a:sym typeface="Arial"/>
              </a:rPr>
              <a:t>		specified in the SELECT clause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01168" lvl="1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latin typeface="Arial"/>
                <a:ea typeface="Arial"/>
                <a:cs typeface="Arial"/>
                <a:sym typeface="Arial"/>
              </a:rPr>
              <a:t>	END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01168" lvl="1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>
                <a:latin typeface="Arial"/>
                <a:ea typeface="Arial"/>
                <a:cs typeface="Arial"/>
                <a:sym typeface="Arial"/>
              </a:rPr>
              <a:t>END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1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Projection by SELECT Clause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1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900"/>
              <a:t>The </a:t>
            </a:r>
            <a:r>
              <a:rPr lang="en-US" sz="1900" b="1"/>
              <a:t>select</a:t>
            </a:r>
            <a:r>
              <a:rPr lang="en-US" sz="1900"/>
              <a:t> clause lists the attributes desired in the result of a query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corresponds to the </a:t>
            </a:r>
            <a:r>
              <a:rPr lang="en-US" sz="19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projection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operation of the relational algebra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900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Give all the names of all drinkers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b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SELECT Name </a:t>
            </a:r>
            <a:br>
              <a:rPr lang="en-US" sz="19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FROM Drinkers;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br>
              <a:rPr lang="en-US" sz="1900">
                <a:solidFill>
                  <a:srgbClr val="0070C0"/>
                </a:solidFill>
              </a:rPr>
            </a:br>
            <a:endParaRPr sz="1900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900" i="1">
                <a:solidFill>
                  <a:schemeClr val="dk1"/>
                </a:solidFill>
              </a:rPr>
              <a:t>Note: FROM is always necessary with SELECT, whereas WHERE is optional.</a:t>
            </a:r>
            <a:endParaRPr sz="1900"/>
          </a:p>
        </p:txBody>
      </p:sp>
      <p:sp>
        <p:nvSpPr>
          <p:cNvPr id="330" name="Google Shape;330;p4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graphicFrame>
        <p:nvGraphicFramePr>
          <p:cNvPr id="331" name="Google Shape;331;p41"/>
          <p:cNvGraphicFramePr/>
          <p:nvPr/>
        </p:nvGraphicFramePr>
        <p:xfrm>
          <a:off x="4926328" y="3429000"/>
          <a:ext cx="2895575" cy="1381085"/>
        </p:xfrm>
        <a:graphic>
          <a:graphicData uri="http://schemas.openxmlformats.org/drawingml/2006/table">
            <a:tbl>
              <a:tblPr firstRow="1" bandRow="1">
                <a:noFill/>
                <a:tableStyleId>{97B3DD13-401A-4EB5-8E65-41FF77D2AF8B}</a:tableStyleId>
              </a:tblPr>
              <a:tblGrid>
                <a:gridCol w="67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Name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Addr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Phone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Adam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Randwick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9385-4444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Gernot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Newtown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9415-3378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Clovelly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9665-1234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Justin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Mosman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9845-4321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2" name="Google Shape;332;p41"/>
          <p:cNvSpPr txBox="1"/>
          <p:nvPr/>
        </p:nvSpPr>
        <p:spPr>
          <a:xfrm>
            <a:off x="4781550" y="3059668"/>
            <a:ext cx="15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Drinkers: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2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Projection by SELECT Clause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2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900"/>
              <a:t>The </a:t>
            </a:r>
            <a:r>
              <a:rPr lang="en-US" sz="1900" b="1"/>
              <a:t>select</a:t>
            </a:r>
            <a:r>
              <a:rPr lang="en-US" sz="1900"/>
              <a:t> clause lists the attributes desired in the result of a query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corresponds to the </a:t>
            </a:r>
            <a:r>
              <a:rPr lang="en-US" sz="19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projection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operation of the relational algebra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900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Give all the names of all drinkers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b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SELECT Name </a:t>
            </a:r>
            <a:br>
              <a:rPr lang="en-US" sz="19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FROM Drinkers;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br>
              <a:rPr lang="en-US" sz="1900">
                <a:solidFill>
                  <a:srgbClr val="0070C0"/>
                </a:solidFill>
              </a:rPr>
            </a:br>
            <a:endParaRPr sz="1900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900" i="1">
                <a:solidFill>
                  <a:schemeClr val="dk1"/>
                </a:solidFill>
              </a:rPr>
              <a:t>Note: FROM is always necessary with SELECT, whereas WHERE is optional.</a:t>
            </a:r>
            <a:endParaRPr sz="1900"/>
          </a:p>
        </p:txBody>
      </p:sp>
      <p:sp>
        <p:nvSpPr>
          <p:cNvPr id="340" name="Google Shape;340;p4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graphicFrame>
        <p:nvGraphicFramePr>
          <p:cNvPr id="341" name="Google Shape;341;p42"/>
          <p:cNvGraphicFramePr/>
          <p:nvPr/>
        </p:nvGraphicFramePr>
        <p:xfrm>
          <a:off x="4926328" y="3429000"/>
          <a:ext cx="2895575" cy="1381085"/>
        </p:xfrm>
        <a:graphic>
          <a:graphicData uri="http://schemas.openxmlformats.org/drawingml/2006/table">
            <a:tbl>
              <a:tblPr firstRow="1" bandRow="1">
                <a:noFill/>
                <a:tableStyleId>{97B3DD13-401A-4EB5-8E65-41FF77D2AF8B}</a:tableStyleId>
              </a:tblPr>
              <a:tblGrid>
                <a:gridCol w="67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Name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Addr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Phone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Adam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Randwick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9385-4444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Gernot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Newtown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9415-3378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Clovelly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9665-1234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Justin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Mosman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9845-4321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2" name="Google Shape;342;p42"/>
          <p:cNvSpPr/>
          <p:nvPr/>
        </p:nvSpPr>
        <p:spPr>
          <a:xfrm>
            <a:off x="4895850" y="3389774"/>
            <a:ext cx="701100" cy="1487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2"/>
          <p:cNvSpPr txBox="1"/>
          <p:nvPr/>
        </p:nvSpPr>
        <p:spPr>
          <a:xfrm>
            <a:off x="4781550" y="3059668"/>
            <a:ext cx="15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Drinkers: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Projection by SELECT Clause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3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Example: Give me both names and addresses of drinkers!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0070C0"/>
                </a:solidFill>
              </a:rPr>
              <a:t>SELECT Name, Addr</a:t>
            </a:r>
            <a:r>
              <a:rPr lang="en-US" b="1">
                <a:solidFill>
                  <a:srgbClr val="0070C0"/>
                </a:solidFill>
              </a:rPr>
              <a:t> </a:t>
            </a:r>
            <a:br>
              <a:rPr lang="en-US">
                <a:solidFill>
                  <a:srgbClr val="0070C0"/>
                </a:solidFill>
              </a:rPr>
            </a:br>
            <a:r>
              <a:rPr lang="en-US">
                <a:solidFill>
                  <a:srgbClr val="0070C0"/>
                </a:solidFill>
              </a:rPr>
              <a:t>FROM Drinkers;</a:t>
            </a:r>
            <a:endParaRPr/>
          </a:p>
          <a:p>
            <a:pPr marL="384048" lvl="1" indent="-5587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An asterisk in the select clause denotes “all attributes”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0070C0"/>
                </a:solidFill>
              </a:rPr>
              <a:t>SELECT </a:t>
            </a:r>
            <a:r>
              <a:rPr lang="en-US" b="1">
                <a:solidFill>
                  <a:srgbClr val="0070C0"/>
                </a:solidFill>
              </a:rPr>
              <a:t>*</a:t>
            </a:r>
            <a:r>
              <a:rPr lang="en-US">
                <a:solidFill>
                  <a:srgbClr val="0070C0"/>
                </a:solidFill>
              </a:rPr>
              <a:t> </a:t>
            </a:r>
            <a:br>
              <a:rPr lang="en-US">
                <a:solidFill>
                  <a:srgbClr val="0070C0"/>
                </a:solidFill>
              </a:rPr>
            </a:br>
            <a:r>
              <a:rPr lang="en-US">
                <a:solidFill>
                  <a:srgbClr val="0070C0"/>
                </a:solidFill>
              </a:rPr>
              <a:t>FROM Drinkers;</a:t>
            </a:r>
            <a:endParaRPr/>
          </a:p>
          <a:p>
            <a:pPr marL="384048" lvl="1" indent="-5587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352" name="Google Shape;352;p43"/>
          <p:cNvSpPr txBox="1"/>
          <p:nvPr/>
        </p:nvSpPr>
        <p:spPr>
          <a:xfrm>
            <a:off x="3423805" y="1609964"/>
            <a:ext cx="15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Drinkers: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3" name="Google Shape;353;p43"/>
          <p:cNvGraphicFramePr/>
          <p:nvPr/>
        </p:nvGraphicFramePr>
        <p:xfrm>
          <a:off x="3505200" y="2017395"/>
          <a:ext cx="3395050" cy="1381085"/>
        </p:xfrm>
        <a:graphic>
          <a:graphicData uri="http://schemas.openxmlformats.org/drawingml/2006/table">
            <a:tbl>
              <a:tblPr firstRow="1" bandRow="1">
                <a:noFill/>
                <a:tableStyleId>{97B3DD13-401A-4EB5-8E65-41FF77D2AF8B}</a:tableStyleId>
              </a:tblPr>
              <a:tblGrid>
                <a:gridCol w="88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Name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Addr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Phone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Adam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Randwick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9385-4444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Gernot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Newtown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9415-3378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Clovelly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9665-1234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Justin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Mosman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9845-4321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4" name="Google Shape;354;p43"/>
          <p:cNvSpPr/>
          <p:nvPr/>
        </p:nvSpPr>
        <p:spPr>
          <a:xfrm>
            <a:off x="3505200" y="1961300"/>
            <a:ext cx="1976100" cy="1487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3"/>
          <p:cNvSpPr txBox="1"/>
          <p:nvPr/>
        </p:nvSpPr>
        <p:spPr>
          <a:xfrm>
            <a:off x="3433098" y="4256252"/>
            <a:ext cx="15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Drinkers: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6" name="Google Shape;356;p43"/>
          <p:cNvGraphicFramePr/>
          <p:nvPr/>
        </p:nvGraphicFramePr>
        <p:xfrm>
          <a:off x="3514493" y="4663683"/>
          <a:ext cx="3395050" cy="1381085"/>
        </p:xfrm>
        <a:graphic>
          <a:graphicData uri="http://schemas.openxmlformats.org/drawingml/2006/table">
            <a:tbl>
              <a:tblPr firstRow="1" bandRow="1">
                <a:noFill/>
                <a:tableStyleId>{97B3DD13-401A-4EB5-8E65-41FF77D2AF8B}</a:tableStyleId>
              </a:tblPr>
              <a:tblGrid>
                <a:gridCol w="88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Name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Addr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Phone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Adam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Randwick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9385-4444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Gernot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Newtown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9415-3378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Clovelly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9665-1234</a:t>
                      </a:r>
                      <a:endParaRPr sz="1200" u="none" strike="noStrike" cap="none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Justin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Mosman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9845-4321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7" name="Google Shape;357;p43"/>
          <p:cNvSpPr/>
          <p:nvPr/>
        </p:nvSpPr>
        <p:spPr>
          <a:xfrm>
            <a:off x="3514493" y="4607588"/>
            <a:ext cx="3395100" cy="1487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5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DISTINCT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5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SQL allows duplicates in relations and in query results.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/>
              <a:t>allows a table to have two or more tuples that are identical in all their attribute values.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lang="en-US"/>
              <a:t>In general, an SQL table can be a simple set of tuples, or a multiset of tuples.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C00000"/>
                </a:solidFill>
              </a:rPr>
              <a:t>Set: {a, b, c} </a:t>
            </a:r>
            <a:br>
              <a:rPr lang="en-US">
                <a:solidFill>
                  <a:srgbClr val="C00000"/>
                </a:solidFill>
              </a:rPr>
            </a:br>
            <a:r>
              <a:rPr lang="en-US">
                <a:solidFill>
                  <a:srgbClr val="C00000"/>
                </a:solidFill>
              </a:rPr>
              <a:t>Multiset: {a, a, b, b, c, a, a, b, c, c …}</a:t>
            </a:r>
            <a:endParaRPr/>
          </a:p>
        </p:txBody>
      </p:sp>
      <p:sp>
        <p:nvSpPr>
          <p:cNvPr id="373" name="Google Shape;373;p4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6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DISTINCT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6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To eliminate duplicates in the query results, insert the keyword </a:t>
            </a:r>
            <a:r>
              <a:rPr lang="en-US" sz="1800" b="1" i="1"/>
              <a:t>distinct</a:t>
            </a:r>
            <a:r>
              <a:rPr lang="en-US" sz="1800"/>
              <a:t> after select.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Example: Find the names of all departments and remove duplicates.</a:t>
            </a:r>
            <a:endParaRPr sz="1800" b="1">
              <a:solidFill>
                <a:srgbClr val="0070C0"/>
              </a:solidFill>
            </a:endParaRPr>
          </a:p>
          <a:p>
            <a:pPr marL="91440" lvl="0" indent="-9144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 sz="1800" b="1">
                <a:solidFill>
                  <a:srgbClr val="0070C0"/>
                </a:solidFill>
              </a:rPr>
              <a:t>SELECT </a:t>
            </a:r>
            <a:r>
              <a:rPr lang="en-US" sz="1800" b="1" i="1">
                <a:solidFill>
                  <a:srgbClr val="0070C0"/>
                </a:solidFill>
              </a:rPr>
              <a:t>DISTINCT</a:t>
            </a:r>
            <a:r>
              <a:rPr lang="en-US" sz="1800" b="1">
                <a:solidFill>
                  <a:srgbClr val="0070C0"/>
                </a:solidFill>
              </a:rPr>
              <a:t> </a:t>
            </a:r>
            <a:r>
              <a:rPr lang="en-US" sz="1800">
                <a:solidFill>
                  <a:srgbClr val="0070C0"/>
                </a:solidFill>
              </a:rPr>
              <a:t>dept_name from instructor</a:t>
            </a:r>
            <a:endParaRPr sz="1800"/>
          </a:p>
          <a:p>
            <a:pPr marL="91440" lvl="0" indent="3556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1800"/>
          </a:p>
        </p:txBody>
      </p:sp>
      <p:sp>
        <p:nvSpPr>
          <p:cNvPr id="385" name="Google Shape;385;p4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386" name="Google Shape;386;p46" descr="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362" y="2829137"/>
            <a:ext cx="3925886" cy="3040063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6"/>
          <p:cNvSpPr txBox="1"/>
          <p:nvPr/>
        </p:nvSpPr>
        <p:spPr>
          <a:xfrm>
            <a:off x="1914450" y="5702300"/>
            <a:ext cx="5048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" marR="0" lvl="0" indent="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Question: When are duplicates useful?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7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Selection by Where Clause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7"/>
          <p:cNvSpPr txBox="1">
            <a:spLocks noGrp="1"/>
          </p:cNvSpPr>
          <p:nvPr>
            <p:ph type="body" idx="1"/>
          </p:nvPr>
        </p:nvSpPr>
        <p:spPr>
          <a:xfrm>
            <a:off x="822959" y="1143000"/>
            <a:ext cx="754380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Find the beers manufactured by Toohey’s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b="1">
                <a:solidFill>
                  <a:srgbClr val="0070C0"/>
                </a:solidFill>
              </a:rPr>
              <a:t>SELECT</a:t>
            </a:r>
            <a:r>
              <a:rPr lang="en-US">
                <a:solidFill>
                  <a:srgbClr val="0070C0"/>
                </a:solidFill>
              </a:rPr>
              <a:t> Name</a:t>
            </a:r>
            <a:br>
              <a:rPr lang="en-US">
                <a:solidFill>
                  <a:srgbClr val="0070C0"/>
                </a:solidFill>
              </a:rPr>
            </a:br>
            <a:r>
              <a:rPr lang="en-US" b="1">
                <a:solidFill>
                  <a:srgbClr val="0070C0"/>
                </a:solidFill>
              </a:rPr>
              <a:t>FROM</a:t>
            </a:r>
            <a:r>
              <a:rPr lang="en-US">
                <a:solidFill>
                  <a:srgbClr val="0070C0"/>
                </a:solidFill>
              </a:rPr>
              <a:t> Beers </a:t>
            </a:r>
            <a:br>
              <a:rPr lang="en-US">
                <a:solidFill>
                  <a:srgbClr val="0070C0"/>
                </a:solidFill>
              </a:rPr>
            </a:br>
            <a:r>
              <a:rPr lang="en-US" b="1">
                <a:solidFill>
                  <a:srgbClr val="0070C0"/>
                </a:solidFill>
              </a:rPr>
              <a:t>WHERE</a:t>
            </a:r>
            <a:r>
              <a:rPr lang="en-US">
                <a:solidFill>
                  <a:srgbClr val="0070C0"/>
                </a:solidFill>
              </a:rPr>
              <a:t> Manf = ‘Toohey’’s’;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The “typical” SELECT query:</a:t>
            </a:r>
            <a:endParaRPr/>
          </a:p>
          <a:p>
            <a:pPr marL="45720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/>
              <a:t>SELECT a1, a2, a3</a:t>
            </a:r>
            <a:endParaRPr/>
          </a:p>
          <a:p>
            <a:pPr marL="45720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/>
              <a:t>FROM Rel</a:t>
            </a:r>
            <a:endParaRPr/>
          </a:p>
          <a:p>
            <a:pPr marL="45720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/>
              <a:t>WHERE Cond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</a:pPr>
            <a:r>
              <a:rPr lang="en-US"/>
              <a:t>This corresponds to select followed by project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</a:pPr>
            <a:r>
              <a:rPr lang="en-US" i="1"/>
              <a:t>	π</a:t>
            </a:r>
            <a:r>
              <a:rPr lang="en-US" baseline="-25000"/>
              <a:t>{a1,a2,a3}</a:t>
            </a:r>
            <a:r>
              <a:rPr lang="en-US"/>
              <a:t>(</a:t>
            </a:r>
            <a:r>
              <a:rPr lang="en-US" i="1"/>
              <a:t>σ</a:t>
            </a:r>
            <a:r>
              <a:rPr lang="en-US" baseline="-25000"/>
              <a:t>Cond</a:t>
            </a:r>
            <a:r>
              <a:rPr lang="en-US"/>
              <a:t>(</a:t>
            </a:r>
            <a:r>
              <a:rPr lang="en-US" i="1"/>
              <a:t>Rel</a:t>
            </a:r>
            <a:r>
              <a:rPr lang="en-US"/>
              <a:t>))</a:t>
            </a:r>
            <a:endParaRPr/>
          </a:p>
        </p:txBody>
      </p:sp>
      <p:sp>
        <p:nvSpPr>
          <p:cNvPr id="395" name="Google Shape;395;p4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graphicFrame>
        <p:nvGraphicFramePr>
          <p:cNvPr id="396" name="Google Shape;396;p47"/>
          <p:cNvGraphicFramePr/>
          <p:nvPr/>
        </p:nvGraphicFramePr>
        <p:xfrm>
          <a:off x="5445525" y="2100590"/>
          <a:ext cx="3448150" cy="1597785"/>
        </p:xfrm>
        <a:graphic>
          <a:graphicData uri="http://schemas.openxmlformats.org/drawingml/2006/table">
            <a:tbl>
              <a:tblPr firstRow="1" bandRow="1">
                <a:noFill/>
                <a:tableStyleId>{97B3DD13-401A-4EB5-8E65-41FF77D2AF8B}</a:tableStyleId>
              </a:tblPr>
              <a:tblGrid>
                <a:gridCol w="172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Name</a:t>
                      </a:r>
                      <a:endParaRPr sz="1400" u="none" strike="noStrike" cap="none"/>
                    </a:p>
                  </a:txBody>
                  <a:tcPr marL="8625" marR="8625" marT="86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Manf</a:t>
                      </a:r>
                      <a:endParaRPr sz="1400" u="none" strike="noStrike" cap="none"/>
                    </a:p>
                  </a:txBody>
                  <a:tcPr marL="8625" marR="8625" marT="86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80/-</a:t>
                      </a:r>
                      <a:endParaRPr sz="1400" u="none" strike="noStrike" cap="none"/>
                    </a:p>
                  </a:txBody>
                  <a:tcPr marL="8625" marR="8625" marT="86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Caledonian</a:t>
                      </a:r>
                      <a:endParaRPr sz="1400" u="none" strike="noStrike" cap="none"/>
                    </a:p>
                  </a:txBody>
                  <a:tcPr marL="8625" marR="8625" marT="86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Premium Lager</a:t>
                      </a:r>
                      <a:endParaRPr sz="1400" u="none" strike="noStrike" cap="none"/>
                    </a:p>
                  </a:txBody>
                  <a:tcPr marL="8625" marR="8625" marT="86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Cascade</a:t>
                      </a:r>
                      <a:endParaRPr sz="1400" u="none" strike="noStrike" cap="none"/>
                    </a:p>
                  </a:txBody>
                  <a:tcPr marL="8625" marR="8625" marT="86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Red</a:t>
                      </a:r>
                      <a:endParaRPr sz="1400" u="none" strike="noStrike" cap="none"/>
                    </a:p>
                  </a:txBody>
                  <a:tcPr marL="8625" marR="8625" marT="86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Toohey’s</a:t>
                      </a:r>
                      <a:endParaRPr sz="1400" u="none" strike="noStrike" cap="none"/>
                    </a:p>
                  </a:txBody>
                  <a:tcPr marL="8625" marR="8625" marT="86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Sheaf Stout</a:t>
                      </a:r>
                      <a:endParaRPr sz="1400" u="none" strike="noStrike" cap="none"/>
                    </a:p>
                  </a:txBody>
                  <a:tcPr marL="8625" marR="8625" marT="86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Toohey’s</a:t>
                      </a:r>
                      <a:endParaRPr sz="1400" u="none" strike="noStrike" cap="none"/>
                    </a:p>
                  </a:txBody>
                  <a:tcPr marL="8625" marR="8625" marT="86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Sparkling Ale</a:t>
                      </a:r>
                      <a:endParaRPr sz="1400" u="none" strike="noStrike" cap="none"/>
                    </a:p>
                  </a:txBody>
                  <a:tcPr marL="8625" marR="8625" marT="86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Cooper’s</a:t>
                      </a:r>
                      <a:endParaRPr sz="1400" u="none" strike="noStrike" cap="none"/>
                    </a:p>
                  </a:txBody>
                  <a:tcPr marL="8625" marR="8625" marT="86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Victoria Bitter</a:t>
                      </a:r>
                      <a:endParaRPr sz="1400" u="none" strike="noStrike" cap="none"/>
                    </a:p>
                  </a:txBody>
                  <a:tcPr marL="8625" marR="8625" marT="86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400" u="none" strike="noStrike" cap="none"/>
                    </a:p>
                  </a:txBody>
                  <a:tcPr marL="8625" marR="8625" marT="86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7" name="Google Shape;397;p47"/>
          <p:cNvSpPr txBox="1"/>
          <p:nvPr/>
        </p:nvSpPr>
        <p:spPr>
          <a:xfrm>
            <a:off x="4496483" y="2539816"/>
            <a:ext cx="114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Beers: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47"/>
          <p:cNvSpPr/>
          <p:nvPr/>
        </p:nvSpPr>
        <p:spPr>
          <a:xfrm>
            <a:off x="5445500" y="2788488"/>
            <a:ext cx="3448200" cy="461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8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Example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8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45924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Find the price that </a:t>
            </a:r>
            <a:r>
              <a:rPr lang="en-US" sz="1800" b="1"/>
              <a:t>Regent Hotel </a:t>
            </a:r>
            <a:r>
              <a:rPr lang="en-US" sz="1800"/>
              <a:t>charges for </a:t>
            </a:r>
            <a:r>
              <a:rPr lang="en-US" sz="1800" b="1"/>
              <a:t>New</a:t>
            </a:r>
            <a:endParaRPr sz="2200"/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SELECT price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FROM Sells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WHERE bar = ’Regent Hotel’ AND beer = ’New’;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PRICE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----------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2.2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The condition can be an arbitrarily complex boolean-valued expression using the operators mentioned previously.</a:t>
            </a:r>
            <a:endParaRPr sz="2200"/>
          </a:p>
        </p:txBody>
      </p:sp>
      <p:sp>
        <p:nvSpPr>
          <p:cNvPr id="405" name="Google Shape;405;p4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406" name="Google Shape;406;p48"/>
          <p:cNvSpPr/>
          <p:nvPr/>
        </p:nvSpPr>
        <p:spPr>
          <a:xfrm>
            <a:off x="6553200" y="4800600"/>
            <a:ext cx="1295400" cy="228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8"/>
          <p:cNvSpPr/>
          <p:nvPr/>
        </p:nvSpPr>
        <p:spPr>
          <a:xfrm>
            <a:off x="5262275" y="4800600"/>
            <a:ext cx="1264500" cy="552300"/>
          </a:xfrm>
          <a:prstGeom prst="rect">
            <a:avLst/>
          </a:prstGeom>
          <a:noFill/>
          <a:ln w="2857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8" name="Google Shape;408;p48"/>
          <p:cNvGraphicFramePr/>
          <p:nvPr/>
        </p:nvGraphicFramePr>
        <p:xfrm>
          <a:off x="5262267" y="850900"/>
          <a:ext cx="3860775" cy="5348635"/>
        </p:xfrm>
        <a:graphic>
          <a:graphicData uri="http://schemas.openxmlformats.org/drawingml/2006/table">
            <a:tbl>
              <a:tblPr firstRow="1" bandRow="1">
                <a:noFill/>
                <a:tableStyleId>{97B3DD13-401A-4EB5-8E65-41FF77D2AF8B}</a:tableStyleId>
              </a:tblPr>
              <a:tblGrid>
                <a:gridCol w="128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8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Bar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Beer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Price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Australia Hotel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Burragorang Bock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3.5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Coogee Bay Hotel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New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2.25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Coogee Bay Hotel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Old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Coogee Bay Hotel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Sparkling Ale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2.8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Coogee Bay Hotel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Victoria Bitter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2.3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Lord Nelson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Three Sheets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3.75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Lord Nelson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Old Admiral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3.75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Marble Bar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New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2.8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Marble Bar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Old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2.8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Marble Bar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Victoria Bitter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2.8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Regent Hotel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New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2.2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Regent Hotel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Victoria Bitter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2.2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Royal Hotel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New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2.3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4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Royal Hotel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Old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2.3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4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Royal Hotel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Victoria Bitter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2.3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9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Null in SQL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9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/>
              <a:t>What happens when the condition makes a comparison with a null value?</a:t>
            </a:r>
            <a:br>
              <a:rPr lang="en-US" sz="1600"/>
            </a:br>
            <a:r>
              <a:rPr lang="en-US" sz="1600" b="1"/>
              <a:t>Comparisons</a:t>
            </a:r>
            <a:r>
              <a:rPr lang="en-US" sz="1600"/>
              <a:t> with null returns unknown</a:t>
            </a:r>
            <a:endParaRPr sz="1600"/>
          </a:p>
          <a:p>
            <a:pPr marL="285750" lvl="1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Example: 5 &lt; null, null &lt;&gt; null, null = null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600"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/>
              <a:t>Three-valued logic using the truth value unknown</a:t>
            </a:r>
            <a:endParaRPr sz="1600"/>
          </a:p>
          <a:p>
            <a:pPr marL="285750" lvl="1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: (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or true)   = true,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 (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or false)  =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,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 (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285750" lvl="1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: (true and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)  =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,    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   (false and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) = false,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   (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285750" lvl="1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:  (not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285750" lvl="1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“P is unknown” evaluates to true if predicate P evaluates as unknown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600"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/>
              <a:t>Result of where clause predicate is treated as </a:t>
            </a:r>
            <a:r>
              <a:rPr lang="en-US" sz="1600" b="1"/>
              <a:t>false</a:t>
            </a:r>
            <a:r>
              <a:rPr lang="en-US" sz="1600"/>
              <a:t> if it evaluates as unknown</a:t>
            </a:r>
            <a:endParaRPr sz="1600"/>
          </a:p>
        </p:txBody>
      </p:sp>
      <p:sp>
        <p:nvSpPr>
          <p:cNvPr id="416" name="Google Shape;416;p4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Example: Null Values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0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20120"/>
              <a:buNone/>
            </a:pPr>
            <a:r>
              <a:rPr lang="en-US" sz="1800" b="1"/>
              <a:t>SELECT</a:t>
            </a:r>
            <a:r>
              <a:rPr lang="en-US" sz="1800"/>
              <a:t> A3</a:t>
            </a:r>
            <a:br>
              <a:rPr lang="en-US" sz="1800"/>
            </a:br>
            <a:r>
              <a:rPr lang="en-US" sz="1800" b="1"/>
              <a:t>FROM </a:t>
            </a:r>
            <a:r>
              <a:rPr lang="en-US" sz="1800"/>
              <a:t>R</a:t>
            </a:r>
            <a:br>
              <a:rPr lang="en-US" sz="1800"/>
            </a:br>
            <a:r>
              <a:rPr lang="en-US" sz="1800" b="1"/>
              <a:t>WHERE </a:t>
            </a:r>
            <a:r>
              <a:rPr lang="en-US" sz="1800"/>
              <a:t>A1 + 5 &gt; A2 and A4 = ‘x’</a:t>
            </a:r>
            <a:endParaRPr sz="1800"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20120"/>
              <a:buNone/>
            </a:pPr>
            <a:endParaRPr sz="1800"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20120"/>
              <a:buNone/>
            </a:pPr>
            <a:r>
              <a:rPr lang="en-US" sz="1800"/>
              <a:t>When it evaluates the second tuple: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85750" lvl="0" indent="-285749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20120"/>
              <a:buFont typeface="Courier New"/>
              <a:buChar char="o"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Null + 5 -&gt; Null  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(for A1 + 5)</a:t>
            </a:r>
            <a:endParaRPr sz="1800"/>
          </a:p>
          <a:p>
            <a:pPr marL="285750" lvl="0" indent="-285749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20120"/>
              <a:buFont typeface="Courier New"/>
              <a:buChar char="o"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Null &gt; 4 -&gt; Null  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(for A1 + 5 &gt; A2)</a:t>
            </a:r>
            <a:endParaRPr sz="1800"/>
          </a:p>
          <a:p>
            <a:pPr marL="285750" lvl="0" indent="-285749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20120"/>
              <a:buFont typeface="Courier New"/>
              <a:buChar char="o"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Null = ‘x’ -&gt; Null 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(for A4 = ‘x’)</a:t>
            </a:r>
            <a:endParaRPr sz="1800"/>
          </a:p>
          <a:p>
            <a:pPr marL="285750" lvl="0" indent="-285749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20120"/>
              <a:buFont typeface="Courier New"/>
              <a:buChar char="o"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Null and Null -&gt; Null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(for A1 + 5 &gt; A2 and A4 = ‘x’)</a:t>
            </a:r>
            <a:endParaRPr sz="1800"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2012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Where clause results false since it is Null. So it does not output “beta”</a:t>
            </a: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20120"/>
              <a:buNone/>
            </a:pPr>
            <a:endParaRPr sz="1800"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20120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about the following?</a:t>
            </a:r>
            <a:b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select  A3</a:t>
            </a:r>
            <a:b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from  R</a:t>
            </a:r>
            <a:b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where (A1 + 5 &gt; A2 and A4 = ‘x’) is unknown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5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graphicFrame>
        <p:nvGraphicFramePr>
          <p:cNvPr id="425" name="Google Shape;425;p50"/>
          <p:cNvGraphicFramePr/>
          <p:nvPr/>
        </p:nvGraphicFramePr>
        <p:xfrm>
          <a:off x="6097588" y="1354138"/>
          <a:ext cx="2632075" cy="1981250"/>
        </p:xfrm>
        <a:graphic>
          <a:graphicData uri="http://schemas.openxmlformats.org/drawingml/2006/table">
            <a:tbl>
              <a:tblPr>
                <a:noFill/>
                <a:tableStyleId>{89411DDE-512D-47A7-880F-55A0FE0D8701}</a:tableStyleId>
              </a:tblPr>
              <a:tblGrid>
                <a:gridCol w="51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</a:rPr>
                        <a:t>A1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</a:rPr>
                        <a:t>A2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</a:rPr>
                        <a:t>A3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</a:rPr>
                        <a:t>A4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</a:rPr>
                        <a:t>alpha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</a:rPr>
                        <a:t>x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</a:rPr>
                        <a:t>beta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</a:rPr>
                        <a:t>gamma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</a:rPr>
                        <a:t> 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</a:rPr>
                        <a:t>delta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Helvetica Neue"/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</a:rPr>
                        <a:t>x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1"/>
          <p:cNvSpPr txBox="1">
            <a:spLocks noGrp="1"/>
          </p:cNvSpPr>
          <p:nvPr>
            <p:ph type="title"/>
          </p:nvPr>
        </p:nvSpPr>
        <p:spPr>
          <a:xfrm>
            <a:off x="822960" y="286605"/>
            <a:ext cx="7543800" cy="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Renaming via AS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1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In relational algebra we have the renaming operator ρ to avoid name clashes.</a:t>
            </a:r>
            <a:endParaRPr/>
          </a:p>
          <a:p>
            <a:pPr marL="0" lvl="0" indent="0" algn="l" rtl="0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/>
              <a:t>Example: </a:t>
            </a:r>
            <a:r>
              <a:rPr lang="en-US" i="1"/>
              <a:t>ρ</a:t>
            </a:r>
            <a:r>
              <a:rPr lang="en-US" i="1" baseline="-25000"/>
              <a:t>Beers</a:t>
            </a:r>
            <a:r>
              <a:rPr lang="en-US" baseline="-25000"/>
              <a:t>(</a:t>
            </a:r>
            <a:r>
              <a:rPr lang="en-US" i="1" baseline="-25000"/>
              <a:t>Brand, Brewer</a:t>
            </a:r>
            <a:r>
              <a:rPr lang="en-US" baseline="-25000"/>
              <a:t>)</a:t>
            </a:r>
            <a:r>
              <a:rPr lang="en-US"/>
              <a:t>(</a:t>
            </a:r>
            <a:r>
              <a:rPr lang="en-US" i="1"/>
              <a:t>Beers</a:t>
            </a:r>
            <a:r>
              <a:rPr lang="en-US"/>
              <a:t>)</a:t>
            </a:r>
            <a:endParaRPr/>
          </a:p>
          <a:p>
            <a:pPr marL="0" lvl="0" indent="0" algn="l" rtl="0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/>
              <a:t>Gives a new relation, with same data as </a:t>
            </a:r>
            <a:r>
              <a:rPr lang="en-US" i="1"/>
              <a:t>Beers</a:t>
            </a:r>
            <a:r>
              <a:rPr lang="en-US"/>
              <a:t>, but with attribute names changed.</a:t>
            </a:r>
            <a:endParaRPr/>
          </a:p>
          <a:p>
            <a:pPr marL="0" lvl="0" indent="0" algn="l" rtl="0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b="1"/>
              <a:t>SQL provides </a:t>
            </a:r>
            <a:r>
              <a:rPr lang="en-US" b="1" i="1"/>
              <a:t>AS</a:t>
            </a:r>
            <a:r>
              <a:rPr lang="en-US" b="1"/>
              <a:t> to achieve this; it is used in the SELECT part.</a:t>
            </a:r>
            <a:endParaRPr/>
          </a:p>
        </p:txBody>
      </p:sp>
      <p:sp>
        <p:nvSpPr>
          <p:cNvPr id="432" name="Google Shape;432;p5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2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Renaming via as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52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 dirty="0"/>
              <a:t>Example: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Beers(name,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manf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)</a:t>
            </a: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 dirty="0">
                <a:solidFill>
                  <a:srgbClr val="0070C0"/>
                </a:solidFill>
              </a:rPr>
              <a:t>    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SELECT name AS Brand, </a:t>
            </a:r>
            <a:r>
              <a:rPr lang="en-US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manf</a:t>
            </a:r>
            <a:r>
              <a:rPr lang="en-US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AS Brewer FROM Beers;</a:t>
            </a:r>
            <a:endParaRPr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BRAND 	 	BREWER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------------------------- 	--------------------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80/- 		Caledonian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Bigfoot Barley Wine 	Sierra Nevada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dirty="0" err="1">
                <a:latin typeface="Arial"/>
                <a:ea typeface="Arial"/>
                <a:cs typeface="Arial"/>
                <a:sym typeface="Arial"/>
              </a:rPr>
              <a:t>Burragorang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Bock 	George IV Inn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Crown Lager 	Carlton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Fosters Lager 	Carlton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Invalid Stout 		Carlton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…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5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3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2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Expressions as Values in Columns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53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 i="1" dirty="0"/>
              <a:t>AS</a:t>
            </a:r>
            <a:r>
              <a:rPr lang="en-US" b="1" dirty="0"/>
              <a:t> can also be used to introduce computed values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Example: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      Sells(bar, beer, price)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  SELECT bar, beer, price*120 AS </a:t>
            </a:r>
            <a:r>
              <a:rPr lang="en-US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PriceInYen</a:t>
            </a:r>
            <a:r>
              <a:rPr lang="en-US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  FROM Sells;</a:t>
            </a:r>
            <a:endParaRPr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700" dirty="0">
                <a:latin typeface="Arial"/>
                <a:ea typeface="Arial"/>
                <a:cs typeface="Arial"/>
                <a:sym typeface="Arial"/>
              </a:rPr>
              <a:t>BAR 		BEER 			</a:t>
            </a:r>
            <a:r>
              <a:rPr lang="en-US" altLang="zh-CN" sz="1700" dirty="0">
                <a:latin typeface="Arial"/>
                <a:ea typeface="Arial"/>
                <a:cs typeface="Arial"/>
                <a:sym typeface="Arial"/>
              </a:rPr>
              <a:t> PRICEINYEN </a:t>
            </a:r>
            <a:r>
              <a:rPr lang="en-US" sz="1700" dirty="0">
                <a:latin typeface="Arial"/>
                <a:ea typeface="Arial"/>
                <a:cs typeface="Arial"/>
                <a:sym typeface="Arial"/>
              </a:rPr>
              <a:t>	</a:t>
            </a:r>
            <a:endParaRPr sz="1700" dirty="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700" dirty="0">
                <a:latin typeface="Arial"/>
                <a:ea typeface="Arial"/>
                <a:cs typeface="Arial"/>
                <a:sym typeface="Arial"/>
              </a:rPr>
              <a:t>------------------ 		-----------------------		----------------</a:t>
            </a:r>
            <a:endParaRPr sz="1700" dirty="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700" dirty="0">
                <a:latin typeface="Arial"/>
                <a:ea typeface="Arial"/>
                <a:cs typeface="Arial"/>
                <a:sym typeface="Arial"/>
              </a:rPr>
              <a:t>Australia Hotel 	</a:t>
            </a:r>
            <a:r>
              <a:rPr lang="en-US" sz="1700" dirty="0" err="1">
                <a:latin typeface="Arial"/>
                <a:ea typeface="Arial"/>
                <a:cs typeface="Arial"/>
                <a:sym typeface="Arial"/>
              </a:rPr>
              <a:t>Burragorang</a:t>
            </a:r>
            <a:r>
              <a:rPr lang="en-US" sz="1700" dirty="0">
                <a:latin typeface="Arial"/>
                <a:ea typeface="Arial"/>
                <a:cs typeface="Arial"/>
                <a:sym typeface="Arial"/>
              </a:rPr>
              <a:t> Bock 		420</a:t>
            </a:r>
            <a:endParaRPr sz="1700" dirty="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700" dirty="0" err="1">
                <a:latin typeface="Arial"/>
                <a:ea typeface="Arial"/>
                <a:cs typeface="Arial"/>
                <a:sym typeface="Arial"/>
              </a:rPr>
              <a:t>Coogee</a:t>
            </a:r>
            <a:r>
              <a:rPr lang="en-US" sz="1700" dirty="0">
                <a:latin typeface="Arial"/>
                <a:ea typeface="Arial"/>
                <a:cs typeface="Arial"/>
                <a:sym typeface="Arial"/>
              </a:rPr>
              <a:t> Bay Hotel 	New			270</a:t>
            </a:r>
            <a:endParaRPr sz="1700" dirty="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700" dirty="0" err="1">
                <a:latin typeface="Arial"/>
                <a:ea typeface="Arial"/>
                <a:cs typeface="Arial"/>
                <a:sym typeface="Arial"/>
              </a:rPr>
              <a:t>Coogee</a:t>
            </a:r>
            <a:r>
              <a:rPr lang="en-US" sz="1700" dirty="0">
                <a:latin typeface="Arial"/>
                <a:ea typeface="Arial"/>
                <a:cs typeface="Arial"/>
                <a:sym typeface="Arial"/>
              </a:rPr>
              <a:t> Bay Hotel 	Old 			300</a:t>
            </a:r>
            <a:endParaRPr sz="1700" dirty="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700" dirty="0" err="1">
                <a:latin typeface="Arial"/>
                <a:ea typeface="Arial"/>
                <a:cs typeface="Arial"/>
                <a:sym typeface="Arial"/>
              </a:rPr>
              <a:t>Coogee</a:t>
            </a:r>
            <a:r>
              <a:rPr lang="en-US" sz="1700" dirty="0">
                <a:latin typeface="Arial"/>
                <a:ea typeface="Arial"/>
                <a:cs typeface="Arial"/>
                <a:sym typeface="Arial"/>
              </a:rPr>
              <a:t> Bay Hotel 	Sparkling Ale		336</a:t>
            </a:r>
            <a:endParaRPr sz="1700" dirty="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700" dirty="0" err="1">
                <a:latin typeface="Arial"/>
                <a:ea typeface="Arial"/>
                <a:cs typeface="Arial"/>
                <a:sym typeface="Arial"/>
              </a:rPr>
              <a:t>Coogee</a:t>
            </a:r>
            <a:r>
              <a:rPr lang="en-US" sz="1700" dirty="0">
                <a:latin typeface="Arial"/>
                <a:ea typeface="Arial"/>
                <a:cs typeface="Arial"/>
                <a:sym typeface="Arial"/>
              </a:rPr>
              <a:t> Bay Hotel 	Victoria Bitter		276</a:t>
            </a:r>
            <a:endParaRPr sz="1700" dirty="0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700" dirty="0">
                <a:latin typeface="Arial"/>
                <a:ea typeface="Arial"/>
                <a:cs typeface="Arial"/>
                <a:sym typeface="Arial"/>
              </a:rPr>
              <a:t>…</a:t>
            </a:r>
            <a:endParaRPr sz="17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5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447" name="Google Shape;447;p53"/>
          <p:cNvSpPr txBox="1"/>
          <p:nvPr/>
        </p:nvSpPr>
        <p:spPr>
          <a:xfrm>
            <a:off x="1378079" y="2936872"/>
            <a:ext cx="670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 Display but no change to the database 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4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Inserting Text in Result Table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54"/>
          <p:cNvSpPr txBox="1">
            <a:spLocks noGrp="1"/>
          </p:cNvSpPr>
          <p:nvPr>
            <p:ph type="body" idx="1"/>
          </p:nvPr>
        </p:nvSpPr>
        <p:spPr>
          <a:xfrm>
            <a:off x="671513" y="1143000"/>
            <a:ext cx="53484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Trick: to put text in output columns, use constant expression with </a:t>
            </a:r>
            <a:r>
              <a:rPr lang="en-US" sz="1800" i="1"/>
              <a:t>AS</a:t>
            </a:r>
            <a:r>
              <a:rPr lang="en-US" sz="1800"/>
              <a:t>.</a:t>
            </a:r>
            <a:endParaRPr/>
          </a:p>
          <a:p>
            <a:pPr marL="0" lvl="0" indent="0" algn="l" rtl="0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Example:</a:t>
            </a:r>
            <a:endParaRPr/>
          </a:p>
          <a:p>
            <a:pPr marL="0" lvl="0" indent="0" algn="l" rtl="0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Likes(</a:t>
            </a:r>
            <a:r>
              <a:rPr lang="en-US" sz="1800" u="sng"/>
              <a:t>drinker, beer</a:t>
            </a:r>
            <a:r>
              <a:rPr lang="en-US" sz="1800"/>
              <a:t>)</a:t>
            </a:r>
            <a:endParaRPr/>
          </a:p>
          <a:p>
            <a:pPr marL="0" lvl="0" indent="0" algn="l" rtl="0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SELECT drinker, ‘likes Cooper’’s’ AS WhoLikes</a:t>
            </a:r>
            <a:endParaRPr sz="180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FROM Likes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WHERE beer = ‘Sparkling Ale’;</a:t>
            </a:r>
            <a:endParaRPr/>
          </a:p>
          <a:p>
            <a:pPr marL="5715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5715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DRINKER 	WHOLIKES</a:t>
            </a:r>
            <a:endParaRPr/>
          </a:p>
          <a:p>
            <a:pPr marL="5715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---------------	 --------------</a:t>
            </a:r>
            <a:endParaRPr/>
          </a:p>
          <a:p>
            <a:pPr marL="5715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Gernot 		likes Cooper’s</a:t>
            </a:r>
            <a:endParaRPr/>
          </a:p>
          <a:p>
            <a:pPr marL="5715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Justin 		likes Cooper’s</a:t>
            </a:r>
            <a:endParaRPr/>
          </a:p>
        </p:txBody>
      </p:sp>
      <p:sp>
        <p:nvSpPr>
          <p:cNvPr id="454" name="Google Shape;454;p5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graphicFrame>
        <p:nvGraphicFramePr>
          <p:cNvPr id="455" name="Google Shape;455;p54"/>
          <p:cNvGraphicFramePr/>
          <p:nvPr/>
        </p:nvGraphicFramePr>
        <p:xfrm>
          <a:off x="5518150" y="1676400"/>
          <a:ext cx="3352800" cy="4191000"/>
        </p:xfrm>
        <a:graphic>
          <a:graphicData uri="http://schemas.openxmlformats.org/drawingml/2006/table">
            <a:tbl>
              <a:tblPr firstRow="1" bandRow="1">
                <a:noFill/>
                <a:tableStyleId>{97B3DD13-401A-4EB5-8E65-41FF77D2AF8B}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Drinker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Beer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Adam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Crown Lager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Adam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Fosters Lager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Adam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New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Gernot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Premium Lager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Gernot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Sparkling Ale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80/-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Bigfoot Barley Wine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Pale Ale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Three Sheets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Justin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Sparkling Ale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Justin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Victoria Bitter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56" name="Google Shape;456;p54"/>
          <p:cNvSpPr/>
          <p:nvPr/>
        </p:nvSpPr>
        <p:spPr>
          <a:xfrm>
            <a:off x="5518150" y="5181600"/>
            <a:ext cx="3352800" cy="3810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54"/>
          <p:cNvSpPr/>
          <p:nvPr/>
        </p:nvSpPr>
        <p:spPr>
          <a:xfrm>
            <a:off x="5524500" y="3429000"/>
            <a:ext cx="3352800" cy="3810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5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Querying Multi-relations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55"/>
          <p:cNvSpPr txBox="1">
            <a:spLocks noGrp="1"/>
          </p:cNvSpPr>
          <p:nvPr>
            <p:ph type="body" idx="1"/>
          </p:nvPr>
        </p:nvSpPr>
        <p:spPr>
          <a:xfrm>
            <a:off x="822954" y="1143000"/>
            <a:ext cx="4017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Question: Find the brewers whose beers John likes?</a:t>
            </a:r>
            <a:endParaRPr/>
          </a:p>
        </p:txBody>
      </p:sp>
      <p:sp>
        <p:nvSpPr>
          <p:cNvPr id="465" name="Google Shape;465;p5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graphicFrame>
        <p:nvGraphicFramePr>
          <p:cNvPr id="466" name="Google Shape;466;p55"/>
          <p:cNvGraphicFramePr/>
          <p:nvPr/>
        </p:nvGraphicFramePr>
        <p:xfrm>
          <a:off x="5206951" y="1420082"/>
          <a:ext cx="3759300" cy="4791800"/>
        </p:xfrm>
        <a:graphic>
          <a:graphicData uri="http://schemas.openxmlformats.org/drawingml/2006/table">
            <a:tbl>
              <a:tblPr firstRow="1" bandRow="1">
                <a:noFill/>
                <a:tableStyleId>{97B3DD13-401A-4EB5-8E65-41FF77D2AF8B}</a:tableStyleId>
              </a:tblPr>
              <a:tblGrid>
                <a:gridCol w="187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Manf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80/-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Caledonian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Bigfoot Barley Wine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Sierra Nevada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Burragorang Bock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George IV Inn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Crown Lager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Carlton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Fosters Lager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Carlton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Invalid Stout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Carlton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Melbourne Bitter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Carlton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Toohey’s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Old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Toohey’s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Old Admiral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Lord Nelson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Pale Ale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Sierra Nevada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Premium Lager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Cascade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Toohey’s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Sheaf Stout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Toohey’s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Sparkling Ale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Cooper’s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Stout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Cooper’s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Three Sheets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Lord Nelson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Victoria Bitter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Carlton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467" name="Google Shape;467;p55"/>
          <p:cNvSpPr txBox="1"/>
          <p:nvPr/>
        </p:nvSpPr>
        <p:spPr>
          <a:xfrm>
            <a:off x="5136802" y="1066897"/>
            <a:ext cx="114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Beers: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68" name="Google Shape;468;p55"/>
          <p:cNvGraphicFramePr/>
          <p:nvPr/>
        </p:nvGraphicFramePr>
        <p:xfrm>
          <a:off x="990076" y="1978522"/>
          <a:ext cx="3389300" cy="4303500"/>
        </p:xfrm>
        <a:graphic>
          <a:graphicData uri="http://schemas.openxmlformats.org/drawingml/2006/table">
            <a:tbl>
              <a:tblPr firstRow="1" bandRow="1">
                <a:noFill/>
                <a:tableStyleId>{97B3DD13-401A-4EB5-8E65-41FF77D2AF8B}</a:tableStyleId>
              </a:tblPr>
              <a:tblGrid>
                <a:gridCol w="169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Drinker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Beer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Adam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Crown Lager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Adam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Fosters Lager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Adam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New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Gernot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Premium Lager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Gernot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Sparkling Ale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80/-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Bigfoot Barley Wine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Pale Ale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Three Sheets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Justin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Sparkling Ale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Justin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Victoria Bitter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69" name="Google Shape;469;p55"/>
          <p:cNvSpPr txBox="1"/>
          <p:nvPr/>
        </p:nvSpPr>
        <p:spPr>
          <a:xfrm>
            <a:off x="184425" y="1920950"/>
            <a:ext cx="121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6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Querying Multi-relations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56"/>
          <p:cNvSpPr txBox="1">
            <a:spLocks noGrp="1"/>
          </p:cNvSpPr>
          <p:nvPr>
            <p:ph type="body" idx="1"/>
          </p:nvPr>
        </p:nvSpPr>
        <p:spPr>
          <a:xfrm>
            <a:off x="822954" y="1143000"/>
            <a:ext cx="4017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</a:rPr>
              <a:t>Question: Find the brewers whose beers John likes?</a:t>
            </a:r>
            <a:endParaRPr/>
          </a:p>
        </p:txBody>
      </p:sp>
      <p:sp>
        <p:nvSpPr>
          <p:cNvPr id="477" name="Google Shape;477;p5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graphicFrame>
        <p:nvGraphicFramePr>
          <p:cNvPr id="478" name="Google Shape;478;p56"/>
          <p:cNvGraphicFramePr/>
          <p:nvPr/>
        </p:nvGraphicFramePr>
        <p:xfrm>
          <a:off x="5206951" y="1420082"/>
          <a:ext cx="3759300" cy="4791800"/>
        </p:xfrm>
        <a:graphic>
          <a:graphicData uri="http://schemas.openxmlformats.org/drawingml/2006/table">
            <a:tbl>
              <a:tblPr firstRow="1" bandRow="1">
                <a:noFill/>
                <a:tableStyleId>{97B3DD13-401A-4EB5-8E65-41FF77D2AF8B}</a:tableStyleId>
              </a:tblPr>
              <a:tblGrid>
                <a:gridCol w="187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Manf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80/-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Caledonian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Bigfoot Barley Wine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Sierra Nevada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Burragorang Bock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George IV Inn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Crown Lager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Carlton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Fosters Lager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Carlton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Invalid Stout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Carlton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Melbourne Bitter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Carlton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Toohey’s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Old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Toohey’s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Old Admiral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Lord Nelson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Pale Ale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Sierra Nevada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Premium Lager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Cascade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Toohey’s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Sheaf Stout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Toohey’s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Sparkling Ale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Cooper’s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Stout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Cooper’s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Three Sheets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Lord Nelson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Victoria Bitter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Carlton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479" name="Google Shape;479;p56"/>
          <p:cNvSpPr txBox="1"/>
          <p:nvPr/>
        </p:nvSpPr>
        <p:spPr>
          <a:xfrm>
            <a:off x="5136802" y="1066897"/>
            <a:ext cx="114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Beers: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0" name="Google Shape;480;p56"/>
          <p:cNvGraphicFramePr/>
          <p:nvPr/>
        </p:nvGraphicFramePr>
        <p:xfrm>
          <a:off x="990076" y="1978522"/>
          <a:ext cx="3389300" cy="4303500"/>
        </p:xfrm>
        <a:graphic>
          <a:graphicData uri="http://schemas.openxmlformats.org/drawingml/2006/table">
            <a:tbl>
              <a:tblPr firstRow="1" bandRow="1">
                <a:noFill/>
                <a:tableStyleId>{97B3DD13-401A-4EB5-8E65-41FF77D2AF8B}</a:tableStyleId>
              </a:tblPr>
              <a:tblGrid>
                <a:gridCol w="169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Drinker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Beer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Adam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Crown Lager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Adam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Fosters Lager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Adam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New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Gernot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Premium Lager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Gernot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Sparkling Ale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80/-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Bigfoot Barley Wine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Pale Ale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John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Three Sheets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Justin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Sparkling Ale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Justin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Victoria Bitter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81" name="Google Shape;481;p56"/>
          <p:cNvSpPr txBox="1"/>
          <p:nvPr/>
        </p:nvSpPr>
        <p:spPr>
          <a:xfrm>
            <a:off x="184425" y="1920950"/>
            <a:ext cx="121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56"/>
          <p:cNvSpPr/>
          <p:nvPr/>
        </p:nvSpPr>
        <p:spPr>
          <a:xfrm>
            <a:off x="2647100" y="4130275"/>
            <a:ext cx="1732200" cy="1434600"/>
          </a:xfrm>
          <a:prstGeom prst="rect">
            <a:avLst/>
          </a:prstGeom>
          <a:noFill/>
          <a:ln w="28575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56"/>
          <p:cNvSpPr/>
          <p:nvPr/>
        </p:nvSpPr>
        <p:spPr>
          <a:xfrm>
            <a:off x="5206950" y="1673450"/>
            <a:ext cx="3808800" cy="506700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56"/>
          <p:cNvSpPr/>
          <p:nvPr/>
        </p:nvSpPr>
        <p:spPr>
          <a:xfrm>
            <a:off x="5190951" y="4248322"/>
            <a:ext cx="3759300" cy="190500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56"/>
          <p:cNvSpPr/>
          <p:nvPr/>
        </p:nvSpPr>
        <p:spPr>
          <a:xfrm>
            <a:off x="5197300" y="5753274"/>
            <a:ext cx="3759300" cy="195600"/>
          </a:xfrm>
          <a:prstGeom prst="rect">
            <a:avLst/>
          </a:prstGeom>
          <a:noFill/>
          <a:ln w="2857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7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/>
              <a:t>Querying Multi-relations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57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039"/>
            </a:stretch>
          </a:blipFill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 </a:t>
            </a:r>
            <a:endParaRPr/>
          </a:p>
        </p:txBody>
      </p:sp>
      <p:sp>
        <p:nvSpPr>
          <p:cNvPr id="493" name="Google Shape;493;p5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8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From Clause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58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For SQL </a:t>
            </a:r>
            <a:r>
              <a:rPr lang="en-US" i="1"/>
              <a:t>SELECT</a:t>
            </a:r>
            <a:r>
              <a:rPr lang="en-US"/>
              <a:t> statement on several relations: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lang="en-US" sz="2000" b="1" i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Attributes</a:t>
            </a:r>
            <a:endParaRPr sz="2000" b="1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2000" b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US" sz="2000" b="1" i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R1, R2, ...</a:t>
            </a:r>
            <a:endParaRPr sz="2000" b="1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2000" b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2000" b="1" i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endParaRPr sz="2000" b="1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Formal semantics (relational algebra):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start with </a:t>
            </a:r>
            <a:r>
              <a:rPr lang="en-US" b="1">
                <a:latin typeface="Arial"/>
                <a:ea typeface="Arial"/>
                <a:cs typeface="Arial"/>
                <a:sym typeface="Arial"/>
              </a:rPr>
              <a:t>Cartesian Product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i="1">
                <a:latin typeface="Arial"/>
                <a:ea typeface="Arial"/>
                <a:cs typeface="Arial"/>
                <a:sym typeface="Arial"/>
              </a:rPr>
              <a:t>R1 × R2 × ...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in FROM clause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apply </a:t>
            </a:r>
            <a:r>
              <a:rPr lang="en-US" i="1">
                <a:latin typeface="Arial"/>
                <a:ea typeface="Arial"/>
                <a:cs typeface="Arial"/>
                <a:sym typeface="Arial"/>
              </a:rPr>
              <a:t>σ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using Condition in WHERE clause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apply </a:t>
            </a:r>
            <a:r>
              <a:rPr lang="en-US" i="1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using Attributes in SELECT clause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5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9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Querying Multi-relations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59"/>
          <p:cNvSpPr txBox="1">
            <a:spLocks noGrp="1"/>
          </p:cNvSpPr>
          <p:nvPr>
            <p:ph type="body" idx="1"/>
          </p:nvPr>
        </p:nvSpPr>
        <p:spPr>
          <a:xfrm>
            <a:off x="914400" y="1219200"/>
            <a:ext cx="71445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 b="1"/>
              <a:t>Operational semantics of </a:t>
            </a:r>
            <a:r>
              <a:rPr lang="en-US" sz="1800" b="1" i="1"/>
              <a:t>SELECT </a:t>
            </a:r>
            <a:r>
              <a:rPr lang="en-US" sz="1800" b="1"/>
              <a:t>(multi-relations):</a:t>
            </a:r>
            <a:endParaRPr sz="1800" b="1"/>
          </a:p>
          <a:p>
            <a:pPr marL="45720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FOR EACH tuple T1 in R1 DO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FOR EACH tuple T2 in R2 DO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    ...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         check WHERE condition for current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         assignment of T1, T2, ... vars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         IF holds THEN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print attributes of T1, T2, ...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specified in SELECT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         END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     ...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END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END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5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508" name="Google Shape;508;p59"/>
          <p:cNvSpPr txBox="1"/>
          <p:nvPr/>
        </p:nvSpPr>
        <p:spPr>
          <a:xfrm>
            <a:off x="1379906" y="5848350"/>
            <a:ext cx="640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efficiency reasons,  it is not implemented in this way!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0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/>
              <a:t>Cartesian Product</a:t>
            </a:r>
            <a:endParaRPr/>
          </a:p>
        </p:txBody>
      </p:sp>
      <p:sp>
        <p:nvSpPr>
          <p:cNvPr id="515" name="Google Shape;515;p6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pic>
        <p:nvPicPr>
          <p:cNvPr id="516" name="Google Shape;516;p60" descr="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0275" y="1401957"/>
            <a:ext cx="3890963" cy="156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60"/>
          <p:cNvSpPr txBox="1"/>
          <p:nvPr/>
        </p:nvSpPr>
        <p:spPr>
          <a:xfrm>
            <a:off x="1795463" y="1079695"/>
            <a:ext cx="1227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60"/>
          <p:cNvSpPr txBox="1"/>
          <p:nvPr/>
        </p:nvSpPr>
        <p:spPr>
          <a:xfrm>
            <a:off x="6154738" y="1046357"/>
            <a:ext cx="1073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9" name="Google Shape;519;p60" descr="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1476570"/>
            <a:ext cx="3883026" cy="1447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0" name="Google Shape;520;p60"/>
          <p:cNvGrpSpPr/>
          <p:nvPr/>
        </p:nvGrpSpPr>
        <p:grpSpPr>
          <a:xfrm>
            <a:off x="1473233" y="3134056"/>
            <a:ext cx="6531122" cy="2952889"/>
            <a:chOff x="1454730" y="2888259"/>
            <a:chExt cx="6529816" cy="2952889"/>
          </a:xfrm>
        </p:grpSpPr>
        <p:pic>
          <p:nvPicPr>
            <p:cNvPr id="521" name="Google Shape;521;p60" descr="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454730" y="2973774"/>
              <a:ext cx="6529816" cy="28673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2" name="Google Shape;522;p60"/>
            <p:cNvSpPr/>
            <p:nvPr/>
          </p:nvSpPr>
          <p:spPr>
            <a:xfrm>
              <a:off x="1460500" y="2930525"/>
              <a:ext cx="798600" cy="385800"/>
            </a:xfrm>
            <a:prstGeom prst="ellipse">
              <a:avLst/>
            </a:prstGeom>
            <a:noFill/>
            <a:ln w="2540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3" name="Google Shape;523;p60"/>
            <p:cNvSpPr/>
            <p:nvPr/>
          </p:nvSpPr>
          <p:spPr>
            <a:xfrm>
              <a:off x="4436658" y="2888259"/>
              <a:ext cx="870000" cy="466800"/>
            </a:xfrm>
            <a:prstGeom prst="ellipse">
              <a:avLst/>
            </a:prstGeom>
            <a:noFill/>
            <a:ln w="2540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4" name="Google Shape;524;p60"/>
            <p:cNvSpPr txBox="1"/>
            <p:nvPr/>
          </p:nvSpPr>
          <p:spPr>
            <a:xfrm>
              <a:off x="3035599" y="3269277"/>
              <a:ext cx="820500" cy="25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Comp. Sci</a:t>
              </a:r>
              <a:endParaRPr sz="10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Comp. Sci</a:t>
              </a:r>
              <a:endParaRPr sz="10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Comp. Sci</a:t>
              </a:r>
              <a:endParaRPr sz="10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Comp. Sci</a:t>
              </a:r>
              <a:endParaRPr sz="10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Comp. Sci</a:t>
              </a:r>
              <a:endParaRPr sz="10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Comp. Sci</a:t>
              </a:r>
              <a:endParaRPr sz="10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Finance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Finance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Finance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Finance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Finance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Finance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60"/>
            <p:cNvSpPr txBox="1"/>
            <p:nvPr/>
          </p:nvSpPr>
          <p:spPr>
            <a:xfrm>
              <a:off x="3906983" y="3269277"/>
              <a:ext cx="560400" cy="25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65000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65000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65000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65000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65000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65000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90000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90000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90000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90000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90000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90000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60"/>
            <p:cNvSpPr txBox="1"/>
            <p:nvPr/>
          </p:nvSpPr>
          <p:spPr>
            <a:xfrm>
              <a:off x="4588654" y="3767989"/>
              <a:ext cx="566100" cy="184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12121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60"/>
            <p:cNvSpPr txBox="1"/>
            <p:nvPr/>
          </p:nvSpPr>
          <p:spPr>
            <a:xfrm>
              <a:off x="4604413" y="5044854"/>
              <a:ext cx="566100" cy="184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12121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8" name="Google Shape;528;p60"/>
          <p:cNvSpPr/>
          <p:nvPr/>
        </p:nvSpPr>
        <p:spPr>
          <a:xfrm>
            <a:off x="4446200" y="2120525"/>
            <a:ext cx="264300" cy="3297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1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Attribute Name Clashes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61"/>
          <p:cNvSpPr txBox="1">
            <a:spLocks noGrp="1"/>
          </p:cNvSpPr>
          <p:nvPr>
            <p:ph type="body" idx="1"/>
          </p:nvPr>
        </p:nvSpPr>
        <p:spPr>
          <a:xfrm>
            <a:off x="844188" y="1060450"/>
            <a:ext cx="7924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Two tables can have attributes with the same name.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Beers (</a:t>
            </a:r>
            <a:r>
              <a:rPr lang="en-US" sz="2000" b="1"/>
              <a:t>name</a:t>
            </a:r>
            <a:r>
              <a:rPr lang="en-US" sz="2000"/>
              <a:t>, manf) </a:t>
            </a:r>
            <a:br>
              <a:rPr lang="en-US" sz="2000"/>
            </a:br>
            <a:r>
              <a:rPr lang="en-US" sz="2000"/>
              <a:t>Bars (</a:t>
            </a:r>
            <a:r>
              <a:rPr lang="en-US" sz="2000" b="1"/>
              <a:t>name</a:t>
            </a:r>
            <a:r>
              <a:rPr lang="en-US" sz="2000"/>
              <a:t>, addr, license)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Problem: this ambiguity can lead to confusion if you write a query involving two tables with common column names: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if two same names appear in the WHERE clause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0070C0"/>
                </a:solidFill>
              </a:rPr>
              <a:t>SELECT Bars.name</a:t>
            </a:r>
            <a:br>
              <a:rPr lang="en-US">
                <a:solidFill>
                  <a:srgbClr val="0070C0"/>
                </a:solidFill>
              </a:rPr>
            </a:br>
            <a:r>
              <a:rPr lang="en-US">
                <a:solidFill>
                  <a:srgbClr val="0070C0"/>
                </a:solidFill>
              </a:rPr>
              <a:t>FROM Bars, Beers</a:t>
            </a:r>
            <a:br>
              <a:rPr lang="en-US">
                <a:solidFill>
                  <a:srgbClr val="0070C0"/>
                </a:solidFill>
              </a:rPr>
            </a:br>
            <a:r>
              <a:rPr lang="en-US">
                <a:solidFill>
                  <a:srgbClr val="0070C0"/>
                </a:solidFill>
              </a:rPr>
              <a:t>WHERE </a:t>
            </a:r>
            <a:r>
              <a:rPr lang="en-US" b="1">
                <a:solidFill>
                  <a:srgbClr val="0070C0"/>
                </a:solidFill>
              </a:rPr>
              <a:t>name = name</a:t>
            </a:r>
            <a:r>
              <a:rPr lang="en-US">
                <a:solidFill>
                  <a:srgbClr val="0070C0"/>
                </a:solidFill>
              </a:rPr>
              <a:t>;</a:t>
            </a:r>
            <a:endParaRPr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SQL: “</a:t>
            </a:r>
            <a:r>
              <a:rPr lang="en-US" sz="2000" b="1"/>
              <a:t>ERROR</a:t>
            </a:r>
            <a:r>
              <a:rPr lang="en-US" sz="2000"/>
              <a:t>: </a:t>
            </a:r>
            <a:r>
              <a:rPr lang="en-US" sz="2000">
                <a:solidFill>
                  <a:srgbClr val="FF0000"/>
                </a:solidFill>
              </a:rPr>
              <a:t>Ambiguous name column</a:t>
            </a:r>
            <a:r>
              <a:rPr lang="en-US" sz="2000"/>
              <a:t>”.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536" name="Google Shape;536;p6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2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Qualified Column Names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62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Solution: </a:t>
            </a:r>
            <a:r>
              <a:rPr lang="en-US" b="1"/>
              <a:t>disambiguate</a:t>
            </a:r>
            <a:r>
              <a:rPr lang="en-US"/>
              <a:t> attributes by specifying the relation name (giving a </a:t>
            </a:r>
            <a:r>
              <a:rPr lang="en-US" b="1" i="1"/>
              <a:t>qualified name </a:t>
            </a:r>
            <a:r>
              <a:rPr lang="en-US"/>
              <a:t>of a column)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e.g., Bars.name means the column name from table Bars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lang="en-US"/>
              <a:t>We typically qualify a column name to specify the table which the column comes from. (see previous example below)</a:t>
            </a:r>
            <a:endParaRPr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0070C0"/>
                </a:solidFill>
              </a:rPr>
              <a:t>SELECT Bars.name</a:t>
            </a:r>
            <a:br>
              <a:rPr lang="en-US">
                <a:solidFill>
                  <a:srgbClr val="0070C0"/>
                </a:solidFill>
              </a:rPr>
            </a:br>
            <a:r>
              <a:rPr lang="en-US">
                <a:solidFill>
                  <a:srgbClr val="0070C0"/>
                </a:solidFill>
              </a:rPr>
              <a:t>FROM Bars, Beers</a:t>
            </a:r>
            <a:br>
              <a:rPr lang="en-US">
                <a:solidFill>
                  <a:srgbClr val="0070C0"/>
                </a:solidFill>
              </a:rPr>
            </a:br>
            <a:r>
              <a:rPr lang="en-US">
                <a:solidFill>
                  <a:srgbClr val="0070C0"/>
                </a:solidFill>
              </a:rPr>
              <a:t>WHERE </a:t>
            </a:r>
            <a:r>
              <a:rPr lang="en-US" b="1">
                <a:solidFill>
                  <a:srgbClr val="0070C0"/>
                </a:solidFill>
              </a:rPr>
              <a:t>Bars.name = Beers.name</a:t>
            </a:r>
            <a:r>
              <a:rPr lang="en-US">
                <a:solidFill>
                  <a:srgbClr val="0070C0"/>
                </a:solidFill>
              </a:rPr>
              <a:t>;</a:t>
            </a:r>
            <a:endParaRPr/>
          </a:p>
          <a:p>
            <a:pPr marL="9144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544" name="Google Shape;544;p6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3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Qualified Column Names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63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6839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Question: can I use </a:t>
            </a:r>
            <a:r>
              <a:rPr lang="en-US" b="1" i="1"/>
              <a:t>qualified names </a:t>
            </a:r>
            <a:r>
              <a:rPr lang="en-US"/>
              <a:t>even if there is no ambiguity?</a:t>
            </a:r>
            <a:endParaRPr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0070C0"/>
                </a:solidFill>
              </a:rPr>
              <a:t>SELECT </a:t>
            </a:r>
            <a:r>
              <a:rPr lang="en-US" b="1">
                <a:solidFill>
                  <a:srgbClr val="0070C0"/>
                </a:solidFill>
              </a:rPr>
              <a:t>Sells.beer</a:t>
            </a:r>
            <a:br>
              <a:rPr lang="en-US">
                <a:solidFill>
                  <a:srgbClr val="0070C0"/>
                </a:solidFill>
              </a:rPr>
            </a:br>
            <a:r>
              <a:rPr lang="en-US">
                <a:solidFill>
                  <a:srgbClr val="0070C0"/>
                </a:solidFill>
              </a:rPr>
              <a:t>FROM Sells</a:t>
            </a:r>
            <a:br>
              <a:rPr lang="en-US">
                <a:solidFill>
                  <a:srgbClr val="0070C0"/>
                </a:solidFill>
              </a:rPr>
            </a:br>
            <a:r>
              <a:rPr lang="en-US">
                <a:solidFill>
                  <a:srgbClr val="0070C0"/>
                </a:solidFill>
              </a:rPr>
              <a:t>WHERE </a:t>
            </a:r>
            <a:r>
              <a:rPr lang="en-US" b="1">
                <a:solidFill>
                  <a:srgbClr val="0070C0"/>
                </a:solidFill>
              </a:rPr>
              <a:t>Sells.price </a:t>
            </a:r>
            <a:r>
              <a:rPr lang="en-US">
                <a:solidFill>
                  <a:srgbClr val="0070C0"/>
                </a:solidFill>
              </a:rPr>
              <a:t>&gt; 3.00;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552" name="Google Shape;552;p6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4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Table Name Clashes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64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The </a:t>
            </a:r>
            <a:r>
              <a:rPr lang="en-US" sz="1800" b="1"/>
              <a:t>relation-dot-attribute</a:t>
            </a:r>
            <a:r>
              <a:rPr lang="en-US" sz="1800"/>
              <a:t> convention doesn’t help if we use the same relation twice in SELECT.</a:t>
            </a:r>
            <a:endParaRPr sz="1800"/>
          </a:p>
          <a:p>
            <a:pPr marL="0" lvl="0" indent="0" algn="l" rtl="0">
              <a:lnSpc>
                <a:spcPct val="17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To handle this, we need to define new names for each “instance” of the relation in the FROM clause.</a:t>
            </a:r>
            <a:endParaRPr sz="1800"/>
          </a:p>
          <a:p>
            <a:pPr marL="0" lvl="0" indent="0" algn="l" rtl="0">
              <a:lnSpc>
                <a:spcPct val="17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Example: Find pairs of beers by the same manufacturer.</a:t>
            </a:r>
            <a:endParaRPr sz="1800"/>
          </a:p>
          <a:p>
            <a:pPr marL="0" lvl="0" indent="0" algn="l" rtl="0">
              <a:lnSpc>
                <a:spcPct val="17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Note: we should avoid: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7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pairing a beer with itself e.g., (New, New)</a:t>
            </a:r>
            <a:endParaRPr/>
          </a:p>
          <a:p>
            <a:pPr marL="342900" lvl="0" indent="-342900" algn="l" rtl="0">
              <a:lnSpc>
                <a:spcPct val="17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same pairs with different order e.g., (New, Old) (Old, New)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6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5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Table Name Clashes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6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567" name="Google Shape;567;p65"/>
          <p:cNvSpPr txBox="1"/>
          <p:nvPr/>
        </p:nvSpPr>
        <p:spPr>
          <a:xfrm>
            <a:off x="321525" y="1447800"/>
            <a:ext cx="5033700" cy="12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lang="en-US" sz="18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SELECT b1.name, b2.name</a:t>
            </a:r>
            <a:br>
              <a:rPr lang="en-US" sz="18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FROM Beers b1, Beers b2</a:t>
            </a:r>
            <a:br>
              <a:rPr lang="en-US" sz="18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WHERE b1.manf = b2.manf AND b1.name &lt; b2.name;</a:t>
            </a:r>
            <a:endParaRPr sz="1800" b="0" i="0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65"/>
          <p:cNvSpPr txBox="1"/>
          <p:nvPr/>
        </p:nvSpPr>
        <p:spPr>
          <a:xfrm>
            <a:off x="457200" y="2968000"/>
            <a:ext cx="4038600" cy="29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C22"/>
              </a:buClr>
              <a:buSzPts val="2000"/>
              <a:buFont typeface="Calibri"/>
              <a:buNone/>
            </a:pPr>
            <a:r>
              <a:rPr lang="en-US"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NAME 		       NAME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E84C22"/>
              </a:buClr>
              <a:buSzPts val="2000"/>
              <a:buFont typeface="Calibri"/>
              <a:buNone/>
            </a:pPr>
            <a:r>
              <a:rPr lang="en-US"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---------------- 	----------------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E84C22"/>
              </a:buClr>
              <a:buSzPts val="2000"/>
              <a:buFont typeface="Calibri"/>
              <a:buNone/>
            </a:pPr>
            <a:r>
              <a:rPr lang="en-US"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Crown Lager 	Fosters Lager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E84C22"/>
              </a:buClr>
              <a:buSzPts val="2000"/>
              <a:buFont typeface="Calibri"/>
              <a:buNone/>
            </a:pPr>
            <a:r>
              <a:rPr lang="en-US"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Crown Lager 	Invalid Stout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E84C22"/>
              </a:buClr>
              <a:buSzPts val="2000"/>
              <a:buFont typeface="Calibri"/>
              <a:buNone/>
            </a:pPr>
            <a:r>
              <a:rPr lang="en-US"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Fosters Lager 	Invalid Stout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E84C22"/>
              </a:buClr>
              <a:buSzPts val="2000"/>
              <a:buFont typeface="Calibri"/>
              <a:buNone/>
            </a:pPr>
            <a:r>
              <a:rPr lang="en-US"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Fosters Lager 	Melbourne Bitter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E84C22"/>
              </a:buClr>
              <a:buSzPts val="2000"/>
              <a:buFont typeface="Calibri"/>
              <a:buNone/>
            </a:pPr>
            <a:r>
              <a:rPr lang="en-US"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9" name="Google Shape;569;p65"/>
          <p:cNvGraphicFramePr/>
          <p:nvPr/>
        </p:nvGraphicFramePr>
        <p:xfrm>
          <a:off x="5308600" y="1619250"/>
          <a:ext cx="3337550" cy="4307085"/>
        </p:xfrm>
        <a:graphic>
          <a:graphicData uri="http://schemas.openxmlformats.org/drawingml/2006/table">
            <a:tbl>
              <a:tblPr firstRow="1" bandRow="1">
                <a:noFill/>
                <a:tableStyleId>{97B3DD13-401A-4EB5-8E65-41FF77D2AF8B}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Name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Manf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80/-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Caledonian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Bigfoot Barley Wine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Sierra Nevada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Burragorang Bock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George IV Inn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Crown Lager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Fosters Lager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Invalid Stout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Melbourne Bitter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New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Toohey’s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Old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Toohey’s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Old Admiral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Lord Nelson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Pale Ale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Sierra Nevada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Premium Lager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Cascade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Red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Toohey’s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Sheaf Stout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Toohey’s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Sparkling Ale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Cooper’s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Stout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Cooper’s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Three Sheets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Lord Nelson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Victoria Bitter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solidFill>
                            <a:srgbClr val="000000"/>
                          </a:solidFill>
                        </a:rPr>
                        <a:t>Carlton</a:t>
                      </a:r>
                      <a:endParaRPr sz="1200" u="none" strike="noStrike" cap="none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570" name="Google Shape;570;p65"/>
          <p:cNvSpPr txBox="1"/>
          <p:nvPr/>
        </p:nvSpPr>
        <p:spPr>
          <a:xfrm>
            <a:off x="5232400" y="1238250"/>
            <a:ext cx="114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Beers: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6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Joins (1)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66"/>
          <p:cNvSpPr txBox="1">
            <a:spLocks noGrp="1"/>
          </p:cNvSpPr>
          <p:nvPr>
            <p:ph type="body" idx="1"/>
          </p:nvPr>
        </p:nvSpPr>
        <p:spPr>
          <a:xfrm>
            <a:off x="814399" y="1093800"/>
            <a:ext cx="7595100" cy="22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For all instructors who have taught courses, find their names and the course ID of the courses they taught.</a:t>
            </a:r>
            <a:endParaRPr sz="2000"/>
          </a:p>
          <a:p>
            <a:pPr marL="91440" lvl="0" indent="-9144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1"/>
          </a:p>
          <a:p>
            <a:pPr marL="91440" lvl="0" indent="-9144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 sz="2000" b="1"/>
              <a:t>SELECT </a:t>
            </a:r>
            <a:r>
              <a:rPr lang="en-US" sz="2000"/>
              <a:t>name, course_id</a:t>
            </a:r>
            <a:endParaRPr/>
          </a:p>
          <a:p>
            <a:pPr marL="91440" lvl="0" indent="-9144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 sz="2000" b="1"/>
              <a:t>FROM </a:t>
            </a:r>
            <a:r>
              <a:rPr lang="en-US" sz="2000"/>
              <a:t>instructor, teaches</a:t>
            </a:r>
            <a:endParaRPr/>
          </a:p>
          <a:p>
            <a:pPr marL="91440" lvl="0" indent="-9144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 sz="2000" b="1"/>
              <a:t>WHERE </a:t>
            </a:r>
            <a:r>
              <a:rPr lang="en-US" sz="2000">
                <a:solidFill>
                  <a:srgbClr val="0000FF"/>
                </a:solidFill>
              </a:rPr>
              <a:t>instructor.ID = teaches.ID</a:t>
            </a:r>
            <a:endParaRPr/>
          </a:p>
        </p:txBody>
      </p:sp>
      <p:sp>
        <p:nvSpPr>
          <p:cNvPr id="578" name="Google Shape;578;p6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pic>
        <p:nvPicPr>
          <p:cNvPr id="579" name="Google Shape;579;p66" descr="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6925" y="3776663"/>
            <a:ext cx="3890963" cy="2270125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66"/>
          <p:cNvSpPr txBox="1"/>
          <p:nvPr/>
        </p:nvSpPr>
        <p:spPr>
          <a:xfrm>
            <a:off x="1744677" y="3379800"/>
            <a:ext cx="139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66"/>
          <p:cNvSpPr txBox="1"/>
          <p:nvPr/>
        </p:nvSpPr>
        <p:spPr>
          <a:xfrm>
            <a:off x="6094428" y="3379800"/>
            <a:ext cx="133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2" name="Google Shape;582;p66" descr="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2600" y="3776663"/>
            <a:ext cx="3883026" cy="2170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7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Joins (2)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67"/>
          <p:cNvSpPr txBox="1">
            <a:spLocks noGrp="1"/>
          </p:cNvSpPr>
          <p:nvPr>
            <p:ph type="body" idx="1"/>
          </p:nvPr>
        </p:nvSpPr>
        <p:spPr>
          <a:xfrm>
            <a:off x="814388" y="1093788"/>
            <a:ext cx="82011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Find instructor names and the courses they taught in 2010.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91440" lvl="0" indent="-9144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 sz="2000" b="1"/>
              <a:t>SELECT </a:t>
            </a:r>
            <a:r>
              <a:rPr lang="en-US" sz="2000"/>
              <a:t>name, course_id</a:t>
            </a:r>
            <a:endParaRPr sz="2000"/>
          </a:p>
          <a:p>
            <a:pPr marL="91440" lvl="0" indent="-9144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 sz="2000" b="1"/>
              <a:t>FROM </a:t>
            </a:r>
            <a:r>
              <a:rPr lang="en-US" sz="2000"/>
              <a:t>instructor, teaches</a:t>
            </a:r>
            <a:endParaRPr/>
          </a:p>
          <a:p>
            <a:pPr marL="91440" lvl="0" indent="-9144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 sz="2000" b="1"/>
              <a:t>WHERE </a:t>
            </a:r>
            <a:r>
              <a:rPr lang="en-US" sz="2000">
                <a:solidFill>
                  <a:srgbClr val="0000FF"/>
                </a:solidFill>
              </a:rPr>
              <a:t>instructor.ID = teaches.ID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 b="1">
                <a:solidFill>
                  <a:schemeClr val="dk1"/>
                </a:solidFill>
              </a:rPr>
              <a:t>AND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 sz="2000"/>
              <a:t>year = 2010</a:t>
            </a:r>
            <a:endParaRPr/>
          </a:p>
        </p:txBody>
      </p:sp>
      <p:sp>
        <p:nvSpPr>
          <p:cNvPr id="590" name="Google Shape;590;p6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pic>
        <p:nvPicPr>
          <p:cNvPr id="591" name="Google Shape;591;p67" descr="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3359150"/>
            <a:ext cx="3890961" cy="2271713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67"/>
          <p:cNvSpPr txBox="1"/>
          <p:nvPr/>
        </p:nvSpPr>
        <p:spPr>
          <a:xfrm>
            <a:off x="1711325" y="2962275"/>
            <a:ext cx="137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67"/>
          <p:cNvSpPr txBox="1"/>
          <p:nvPr/>
        </p:nvSpPr>
        <p:spPr>
          <a:xfrm>
            <a:off x="6059472" y="2962275"/>
            <a:ext cx="137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4" name="Google Shape;594;p67" descr="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262" y="3359150"/>
            <a:ext cx="3883026" cy="2170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8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Natural Join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68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7028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Natural join matches tuples with the same values for all common attributes, and retains only one copy of each common column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1800" b="1"/>
              <a:t>SELECT</a:t>
            </a:r>
            <a:r>
              <a:rPr lang="en-US" sz="1800"/>
              <a:t> * </a:t>
            </a:r>
            <a:r>
              <a:rPr lang="en-US" sz="1800" b="1"/>
              <a:t>FROM </a:t>
            </a:r>
            <a:r>
              <a:rPr lang="en-US" sz="1800"/>
              <a:t>instructor </a:t>
            </a:r>
            <a:r>
              <a:rPr lang="en-US" sz="1800" b="1"/>
              <a:t>NATURAL JOIN </a:t>
            </a:r>
            <a:r>
              <a:rPr lang="en-US" sz="1800"/>
              <a:t>teaches;</a:t>
            </a:r>
            <a:endParaRPr sz="180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180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1800"/>
          </a:p>
        </p:txBody>
      </p:sp>
      <p:sp>
        <p:nvSpPr>
          <p:cNvPr id="602" name="Google Shape;602;p6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pic>
        <p:nvPicPr>
          <p:cNvPr id="603" name="Google Shape;603;p68" descr="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2863" y="4225925"/>
            <a:ext cx="6570663" cy="2322513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68"/>
          <p:cNvSpPr/>
          <p:nvPr/>
        </p:nvSpPr>
        <p:spPr>
          <a:xfrm>
            <a:off x="1228725" y="4165600"/>
            <a:ext cx="933600" cy="503100"/>
          </a:xfrm>
          <a:prstGeom prst="ellipse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5" name="Google Shape;605;p68" descr="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2975" y="2528888"/>
            <a:ext cx="3890963" cy="156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68"/>
          <p:cNvSpPr txBox="1"/>
          <p:nvPr/>
        </p:nvSpPr>
        <p:spPr>
          <a:xfrm>
            <a:off x="1873250" y="2260600"/>
            <a:ext cx="1227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8"/>
          <p:cNvSpPr txBox="1"/>
          <p:nvPr/>
        </p:nvSpPr>
        <p:spPr>
          <a:xfrm>
            <a:off x="6161102" y="2209800"/>
            <a:ext cx="122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8" name="Google Shape;608;p68" descr="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100" y="2603500"/>
            <a:ext cx="3883026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68"/>
          <p:cNvSpPr/>
          <p:nvPr/>
        </p:nvSpPr>
        <p:spPr>
          <a:xfrm>
            <a:off x="465138" y="2487613"/>
            <a:ext cx="933600" cy="503100"/>
          </a:xfrm>
          <a:prstGeom prst="ellipse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68"/>
          <p:cNvSpPr/>
          <p:nvPr/>
        </p:nvSpPr>
        <p:spPr>
          <a:xfrm>
            <a:off x="4645025" y="2439988"/>
            <a:ext cx="933600" cy="503100"/>
          </a:xfrm>
          <a:prstGeom prst="ellipse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9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Danger of Natural Join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69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List the names of instructors along with the titles of courses that they teach. This is an </a:t>
            </a:r>
            <a:r>
              <a:rPr lang="en-US">
                <a:solidFill>
                  <a:srgbClr val="FF0000"/>
                </a:solidFill>
              </a:rPr>
              <a:t>incorrect version: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b="1"/>
              <a:t>SELECT </a:t>
            </a:r>
            <a:r>
              <a:rPr lang="en-US"/>
              <a:t>name, title</a:t>
            </a:r>
            <a:br>
              <a:rPr lang="en-US"/>
            </a:br>
            <a:r>
              <a:rPr lang="en-US" b="1"/>
              <a:t>FROM </a:t>
            </a:r>
            <a:r>
              <a:rPr lang="en-US"/>
              <a:t>instructor </a:t>
            </a:r>
            <a:br>
              <a:rPr lang="en-US"/>
            </a:br>
            <a:r>
              <a:rPr lang="en-US" b="1"/>
              <a:t>NATURAL JOIN </a:t>
            </a:r>
            <a:r>
              <a:rPr lang="en-US"/>
              <a:t>teaches </a:t>
            </a:r>
            <a:br>
              <a:rPr lang="en-US"/>
            </a:br>
            <a:r>
              <a:rPr lang="en-US" b="1"/>
              <a:t>NATURAL JOIN </a:t>
            </a:r>
            <a:r>
              <a:rPr lang="en-US"/>
              <a:t>course;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618" name="Google Shape;618;p6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pic>
        <p:nvPicPr>
          <p:cNvPr id="619" name="Google Shape;619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6280" y="3124200"/>
            <a:ext cx="6291437" cy="3061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0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Danger of Natural Join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70"/>
          <p:cNvSpPr txBox="1">
            <a:spLocks noGrp="1"/>
          </p:cNvSpPr>
          <p:nvPr>
            <p:ph type="body" idx="1"/>
          </p:nvPr>
        </p:nvSpPr>
        <p:spPr>
          <a:xfrm>
            <a:off x="822950" y="4448175"/>
            <a:ext cx="7543800" cy="14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ourier New"/>
              <a:buChar char="o"/>
            </a:pPr>
            <a:r>
              <a:rPr lang="en-US">
                <a:solidFill>
                  <a:schemeClr val="dk1"/>
                </a:solidFill>
              </a:rPr>
              <a:t>Course.dept_name and instructor.dept_name are not related</a:t>
            </a:r>
            <a:endParaRPr sz="1600">
              <a:solidFill>
                <a:schemeClr val="dk1"/>
              </a:solidFill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ourier New"/>
              <a:buChar char="o"/>
            </a:pPr>
            <a:r>
              <a:rPr lang="en-US">
                <a:solidFill>
                  <a:schemeClr val="dk1"/>
                </a:solidFill>
              </a:rPr>
              <a:t>Therefore, cannot be assumed to be the same. </a:t>
            </a:r>
            <a:endParaRPr sz="2200"/>
          </a:p>
        </p:txBody>
      </p:sp>
      <p:sp>
        <p:nvSpPr>
          <p:cNvPr id="627" name="Google Shape;627;p7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pic>
        <p:nvPicPr>
          <p:cNvPr id="628" name="Google Shape;628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9130" y="1143000"/>
            <a:ext cx="6291437" cy="3061923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70"/>
          <p:cNvSpPr/>
          <p:nvPr/>
        </p:nvSpPr>
        <p:spPr>
          <a:xfrm>
            <a:off x="2476500" y="1428750"/>
            <a:ext cx="984000" cy="2763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70"/>
          <p:cNvSpPr/>
          <p:nvPr/>
        </p:nvSpPr>
        <p:spPr>
          <a:xfrm>
            <a:off x="5848350" y="3290850"/>
            <a:ext cx="984000" cy="2763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1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Correct Natural Join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71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900"/>
              <a:t>List the names of instructors along with the titles of courses that they teach. This is a</a:t>
            </a:r>
            <a:r>
              <a:rPr lang="en-US" sz="1900">
                <a:solidFill>
                  <a:srgbClr val="00B050"/>
                </a:solidFill>
              </a:rPr>
              <a:t> correct version</a:t>
            </a:r>
            <a:r>
              <a:rPr lang="en-US" sz="1900"/>
              <a:t>:</a:t>
            </a:r>
            <a:endParaRPr sz="1900"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1900" b="1"/>
              <a:t>SELECT</a:t>
            </a:r>
            <a:r>
              <a:rPr lang="en-US" sz="1900"/>
              <a:t> name, title</a:t>
            </a:r>
            <a:br>
              <a:rPr lang="en-US" sz="1900"/>
            </a:br>
            <a:r>
              <a:rPr lang="en-US" sz="1900" b="1"/>
              <a:t>FROM</a:t>
            </a:r>
            <a:r>
              <a:rPr lang="en-US" sz="1900"/>
              <a:t> instructor, teaches, course </a:t>
            </a:r>
            <a:br>
              <a:rPr lang="en-US" sz="1900"/>
            </a:br>
            <a:r>
              <a:rPr lang="en-US" sz="1900" b="1"/>
              <a:t>WHERE</a:t>
            </a:r>
            <a:r>
              <a:rPr lang="en-US" sz="1900"/>
              <a:t> instructor.ID = teaches.ID </a:t>
            </a:r>
            <a:r>
              <a:rPr lang="en-US" sz="1900" b="1"/>
              <a:t>AND</a:t>
            </a:r>
            <a:r>
              <a:rPr lang="en-US" sz="1900"/>
              <a:t> teaches.course_id = course.course_id;</a:t>
            </a:r>
            <a:endParaRPr sz="190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1900"/>
          </a:p>
        </p:txBody>
      </p:sp>
      <p:sp>
        <p:nvSpPr>
          <p:cNvPr id="638" name="Google Shape;638;p7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pic>
        <p:nvPicPr>
          <p:cNvPr id="639" name="Google Shape;639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6280" y="3124200"/>
            <a:ext cx="6291437" cy="3061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2"/>
          <p:cNvSpPr txBox="1">
            <a:spLocks noGrp="1"/>
          </p:cNvSpPr>
          <p:nvPr>
            <p:ph type="title"/>
          </p:nvPr>
        </p:nvSpPr>
        <p:spPr>
          <a:xfrm>
            <a:off x="844188" y="286605"/>
            <a:ext cx="7472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JOIN 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72"/>
          <p:cNvSpPr txBox="1">
            <a:spLocks noGrp="1"/>
          </p:cNvSpPr>
          <p:nvPr>
            <p:ph type="body" idx="1"/>
          </p:nvPr>
        </p:nvSpPr>
        <p:spPr>
          <a:xfrm>
            <a:off x="844187" y="1066800"/>
            <a:ext cx="7472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SzPts val="180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</a:rPr>
              <a:t>Normally, filtering is processed in the </a:t>
            </a:r>
            <a:r>
              <a:rPr lang="en-US" sz="1800">
                <a:solidFill>
                  <a:srgbClr val="191925"/>
                </a:solidFill>
                <a:highlight>
                  <a:srgbClr val="F1F2F5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WHERE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</a:rPr>
              <a:t> clause once the </a:t>
            </a:r>
            <a:r>
              <a:rPr lang="en-US" sz="1800">
                <a:solidFill>
                  <a:srgbClr val="2A6F2B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two tables have already been joined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</a:rPr>
              <a:t>. It's possible, though that you might want to filter one or both of the tables </a:t>
            </a:r>
            <a:r>
              <a:rPr lang="en-US" sz="1800" i="1">
                <a:solidFill>
                  <a:schemeClr val="dk1"/>
                </a:solidFill>
              </a:rPr>
              <a:t>before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</a:rPr>
              <a:t> joining them. </a:t>
            </a:r>
            <a:endParaRPr sz="1800"/>
          </a:p>
        </p:txBody>
      </p:sp>
      <p:sp>
        <p:nvSpPr>
          <p:cNvPr id="647" name="Google Shape;647;p7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sp>
        <p:nvSpPr>
          <p:cNvPr id="648" name="Google Shape;648;p72"/>
          <p:cNvSpPr txBox="1"/>
          <p:nvPr/>
        </p:nvSpPr>
        <p:spPr>
          <a:xfrm>
            <a:off x="945350" y="2870375"/>
            <a:ext cx="72204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424A9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US" sz="17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b.id, b.title, b.type, t.last_name </a:t>
            </a:r>
            <a:r>
              <a:rPr lang="en-US" sz="1650">
                <a:solidFill>
                  <a:srgbClr val="4424A9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US" sz="17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translator</a:t>
            </a:r>
            <a:endParaRPr sz="165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424A9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US" sz="17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books b</a:t>
            </a:r>
            <a:endParaRPr sz="165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4424A9"/>
                </a:solidFill>
                <a:latin typeface="Courier New"/>
                <a:ea typeface="Courier New"/>
                <a:cs typeface="Courier New"/>
                <a:sym typeface="Courier New"/>
              </a:rPr>
              <a:t>JOIN</a:t>
            </a:r>
            <a:r>
              <a:rPr lang="en-US" sz="17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translators t</a:t>
            </a:r>
            <a:endParaRPr sz="165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4424A9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-US" sz="17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b.translator_id = t.id</a:t>
            </a:r>
            <a:endParaRPr sz="165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424A9"/>
                </a:solidFill>
                <a:latin typeface="Courier New"/>
                <a:ea typeface="Courier New"/>
                <a:cs typeface="Courier New"/>
                <a:sym typeface="Courier New"/>
              </a:rPr>
              <a:t>ORDER</a:t>
            </a:r>
            <a:r>
              <a:rPr lang="en-US" sz="17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50">
                <a:solidFill>
                  <a:srgbClr val="4424A9"/>
                </a:solidFill>
                <a:latin typeface="Courier New"/>
                <a:ea typeface="Courier New"/>
                <a:cs typeface="Courier New"/>
                <a:sym typeface="Courier New"/>
              </a:rPr>
              <a:t>BY</a:t>
            </a:r>
            <a:r>
              <a:rPr lang="en-US" sz="17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b.id;</a:t>
            </a:r>
            <a:endParaRPr sz="165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红橙色">
      <a:dk1>
        <a:srgbClr val="000000"/>
      </a:dk1>
      <a:lt1>
        <a:srgbClr val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1129</TotalTime>
  <Words>4205</Words>
  <Application>Microsoft Office PowerPoint</Application>
  <PresentationFormat>全屏显示(4:3)</PresentationFormat>
  <Paragraphs>1152</Paragraphs>
  <Slides>58</Slides>
  <Notes>58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4" baseType="lpstr">
      <vt:lpstr>Times New Roman</vt:lpstr>
      <vt:lpstr>Arial</vt:lpstr>
      <vt:lpstr>Calibri</vt:lpstr>
      <vt:lpstr>Courier New</vt:lpstr>
      <vt:lpstr>Helvetica Neue</vt:lpstr>
      <vt:lpstr>回顾</vt:lpstr>
      <vt:lpstr>SQL</vt:lpstr>
      <vt:lpstr>Summary of Earlier Contents</vt:lpstr>
      <vt:lpstr>SQL-99</vt:lpstr>
      <vt:lpstr>SQL in Relational DBMS</vt:lpstr>
      <vt:lpstr>Sample Database</vt:lpstr>
      <vt:lpstr>Sample Database (cont)</vt:lpstr>
      <vt:lpstr>Sample Database (cont)</vt:lpstr>
      <vt:lpstr>Sample Database (cont)</vt:lpstr>
      <vt:lpstr>Sample Database (cont)</vt:lpstr>
      <vt:lpstr>PowerPoint 演示文稿</vt:lpstr>
      <vt:lpstr>PowerPoint 演示文稿</vt:lpstr>
      <vt:lpstr>SQL Queries</vt:lpstr>
      <vt:lpstr>Basic SELECT Structure</vt:lpstr>
      <vt:lpstr>SQL Identifiers</vt:lpstr>
      <vt:lpstr>SQL Keywords</vt:lpstr>
      <vt:lpstr>SQL Data Types</vt:lpstr>
      <vt:lpstr>SQL Data Types (cont.)</vt:lpstr>
      <vt:lpstr>SQL Data Types (cont.)</vt:lpstr>
      <vt:lpstr>Data Types - Numeric</vt:lpstr>
      <vt:lpstr>Data Types – String Literal</vt:lpstr>
      <vt:lpstr>String Operators</vt:lpstr>
      <vt:lpstr>SQL Like Operator</vt:lpstr>
      <vt:lpstr>SQL Dates</vt:lpstr>
      <vt:lpstr>Converting Data Types </vt:lpstr>
      <vt:lpstr>Tuple and Set Literals</vt:lpstr>
      <vt:lpstr>Querying a Single Relation</vt:lpstr>
      <vt:lpstr>Querying a Single Relation</vt:lpstr>
      <vt:lpstr>Projection by SELECT Clause</vt:lpstr>
      <vt:lpstr>Projection by SELECT Clause</vt:lpstr>
      <vt:lpstr>Projection by SELECT Clause</vt:lpstr>
      <vt:lpstr>DISTINCT</vt:lpstr>
      <vt:lpstr>DISTINCT</vt:lpstr>
      <vt:lpstr>Selection by Where Clause</vt:lpstr>
      <vt:lpstr>Example</vt:lpstr>
      <vt:lpstr>Null in SQL</vt:lpstr>
      <vt:lpstr>Example: Null Values</vt:lpstr>
      <vt:lpstr>Renaming via AS</vt:lpstr>
      <vt:lpstr>Renaming via as (cont.)</vt:lpstr>
      <vt:lpstr>Expressions as Values in Columns</vt:lpstr>
      <vt:lpstr>Inserting Text in Result Table</vt:lpstr>
      <vt:lpstr>Querying Multi-relations</vt:lpstr>
      <vt:lpstr>Querying Multi-relations</vt:lpstr>
      <vt:lpstr>Querying Multi-relations</vt:lpstr>
      <vt:lpstr>The From Clause</vt:lpstr>
      <vt:lpstr>Querying Multi-relations</vt:lpstr>
      <vt:lpstr>Cartesian Product</vt:lpstr>
      <vt:lpstr>Attribute Name Clashes</vt:lpstr>
      <vt:lpstr>Qualified Column Names</vt:lpstr>
      <vt:lpstr>Qualified Column Names</vt:lpstr>
      <vt:lpstr>Table Name Clashes</vt:lpstr>
      <vt:lpstr>Table Name Clashes</vt:lpstr>
      <vt:lpstr>Joins (1)</vt:lpstr>
      <vt:lpstr>Joins (2)</vt:lpstr>
      <vt:lpstr>Natural Join</vt:lpstr>
      <vt:lpstr>Danger of Natural Join</vt:lpstr>
      <vt:lpstr>Danger of Natural Join</vt:lpstr>
      <vt:lpstr>Correct Natural Join</vt:lpstr>
      <vt:lpstr>JOIN 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</dc:title>
  <cp:lastModifiedBy>Dell</cp:lastModifiedBy>
  <cp:revision>7</cp:revision>
  <cp:lastPrinted>2023-10-16T04:34:12Z</cp:lastPrinted>
  <dcterms:modified xsi:type="dcterms:W3CDTF">2024-10-20T15:07:12Z</dcterms:modified>
</cp:coreProperties>
</file>