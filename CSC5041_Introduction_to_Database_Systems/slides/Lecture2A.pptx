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5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</p:sldIdLst>
  <p:sldSz cx="9144000" cy="6858000" type="screen4x3"/>
  <p:notesSz cx="9929813" cy="6797675"/>
  <p:embeddedFontLst>
    <p:embeddedFont>
      <p:font typeface="Cambria" panose="02040503050406030204" pitchFamily="18" charset="0"/>
      <p:regular r:id="rId59"/>
      <p:bold r:id="rId60"/>
      <p:italic r:id="rId61"/>
      <p:boldItalic r:id="rId62"/>
    </p:embeddedFont>
    <p:embeddedFont>
      <p:font typeface="Helvetica Neue" panose="02010600030101010101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BDD7CA-8EFC-4012-AC98-4DBB9C2E7D4F}">
  <a:tblStyle styleId="{3CBDD7CA-8EFC-4012-AC98-4DBB9C2E7D4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4CB57D6-DAAD-448C-99C0-6A4ED7C75D9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8E7"/>
          </a:solidFill>
        </a:fill>
      </a:tcStyle>
    </a:wholeTbl>
    <a:band1H>
      <a:tcTxStyle/>
      <a:tcStyle>
        <a:tcBdr/>
        <a:fill>
          <a:solidFill>
            <a:srgbClr val="F6CE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6CE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9F9EDD-656A-4A3B-BD2B-F9278DF16C91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FF065A8-9B32-4C11-BC18-C9C18793FE86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5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4597" y="1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AU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e3d14af1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2e3d14af1a_1_0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09" name="Google Shape;109;g12e3d14af1a_1_0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72" cy="340024"/>
          </a:xfrm>
          <a:prstGeom prst="rect">
            <a:avLst/>
          </a:prstGeom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33" name="Google Shape;133;p4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  <p:sp>
        <p:nvSpPr>
          <p:cNvPr id="141" name="Google Shape;141;p8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e3d14af1a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e3d14af1a_1_119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60" name="Google Shape;160;g12e3d14af1a_1_119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72" cy="340024"/>
          </a:xfrm>
          <a:prstGeom prst="rect">
            <a:avLst/>
          </a:prstGeom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2e3d14af1a_1_19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67" name="Google Shape;167;g12e3d14af1a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5" name="Google Shape;175;p1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2e3d14af1a_2_7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90" name="Google Shape;190;g12e3d14af1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2e9578a21d_0_0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72" cy="34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algn="r"/>
              <a:t>9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g12e9578a2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12e9578a21d_0_0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4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07" name="Google Shape;207;p14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2e3d14af1a_2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2e3d14af1a_2_221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19" name="Google Shape;219;g12e3d14af1a_2_22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72" cy="340024"/>
          </a:xfrm>
          <a:prstGeom prst="rect">
            <a:avLst/>
          </a:prstGeom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2e3d14af1a_2_23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26" name="Google Shape;226;g12e3d14af1a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5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34" name="Google Shape;234;p15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2e3d14af1a_2_33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42" name="Google Shape;242;g12e3d14af1a_2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26b21b2c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26b21b2c22_0_0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51" name="Google Shape;251;g226b21b2c22_0_0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72" cy="340024"/>
          </a:xfrm>
          <a:prstGeom prst="rect">
            <a:avLst/>
          </a:prstGeom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7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58" name="Google Shape;258;p17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72" name="Google Shape;272;p18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19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87" name="Google Shape;287;p19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20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95" name="Google Shape;295;p20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21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18" name="Google Shape;318;p2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22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26" name="Google Shape;326;p22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2e9578a21d_0_1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33" name="Google Shape;333;g12e9578a21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2e9578a21d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12e9578a21d_0_117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  <p:sp>
        <p:nvSpPr>
          <p:cNvPr id="341" name="Google Shape;341;g12e9578a21d_0_117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72" cy="34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2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  <p:sp>
        <p:nvSpPr>
          <p:cNvPr id="357" name="Google Shape;357;p23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2e9578a21d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12e9578a21d_0_133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  <p:sp>
        <p:nvSpPr>
          <p:cNvPr id="373" name="Google Shape;373;g12e9578a21d_0_133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72" cy="34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2e9578a21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g12e9578a21d_0_15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  <p:sp>
        <p:nvSpPr>
          <p:cNvPr id="389" name="Google Shape;389;g12e9578a21d_0_156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72" cy="34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2e9578a21d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g12e9578a21d_0_172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  <p:sp>
        <p:nvSpPr>
          <p:cNvPr id="405" name="Google Shape;405;g12e9578a21d_0_172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72" cy="34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2e9578a21d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g12e9578a21d_0_202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  <p:sp>
        <p:nvSpPr>
          <p:cNvPr id="421" name="Google Shape;421;g12e9578a21d_0_202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72" cy="34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27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37" name="Google Shape;437;p27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p2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50" name="Google Shape;450;p28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29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  <p:sp>
        <p:nvSpPr>
          <p:cNvPr id="458" name="Google Shape;458;p29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2e9578a21d_0_231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72" name="Google Shape;472;g12e9578a21d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2e9578a21d_0_237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80" cy="305901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79" name="Google Shape;479;g12e9578a21d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31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87" name="Google Shape;487;p3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2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574" name="Google Shape;57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581" name="Google Shape;58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4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670" name="Google Shape;67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4" name="Google Shape;684;p35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685" name="Google Shape;685;p35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6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692" name="Google Shape;69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9" name="Google Shape;779;p37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0" name="Google Shape;780;p37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99" name="Google Shape;79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9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06" name="Google Shape;80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0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93" name="Google Shape;89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6" name="Google Shape;916;p41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17" name="Google Shape;917;p4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2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24" name="Google Shape;92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011" name="Google Shape;101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4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037" name="Google Shape;103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45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044" name="Google Shape;104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46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131" name="Google Shape;113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8" name="Google Shape;1168;p47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169" name="Google Shape;1169;p47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6" name="Google Shape;1176;p48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177" name="Google Shape;1177;p48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4" name="Google Shape;1264;p49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65" name="Google Shape;1265;p49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50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307" name="Google Shape;130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4" name="Google Shape;1314;p51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315" name="Google Shape;1315;p5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/>
              <a:pPr algn="r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2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b" anchorCtr="0">
            <a:noAutofit/>
          </a:bodyPr>
          <a:lstStyle/>
          <a:p>
            <a:pPr algn="r"/>
            <a:fld id="{00000000-1234-1234-1234-123412341234}" type="slidenum">
              <a:rPr lang="en-AU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algn="r"/>
              <a:t>55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2" name="Google Shape;132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3" name="Google Shape;1323;p52:notes"/>
          <p:cNvSpPr txBox="1">
            <a:spLocks noGrp="1"/>
          </p:cNvSpPr>
          <p:nvPr>
            <p:ph type="body" idx="1"/>
          </p:nvPr>
        </p:nvSpPr>
        <p:spPr>
          <a:xfrm>
            <a:off x="930971" y="4403905"/>
            <a:ext cx="5129055" cy="4170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53:notes"/>
          <p:cNvSpPr txBox="1">
            <a:spLocks noGrp="1"/>
          </p:cNvSpPr>
          <p:nvPr>
            <p:ph type="body" idx="1"/>
          </p:nvPr>
        </p:nvSpPr>
        <p:spPr>
          <a:xfrm>
            <a:off x="992982" y="3228896"/>
            <a:ext cx="7943850" cy="3058954"/>
          </a:xfrm>
          <a:prstGeom prst="rect">
            <a:avLst/>
          </a:prstGeom>
        </p:spPr>
        <p:txBody>
          <a:bodyPr spcFirstLastPara="1" wrap="square" lIns="91415" tIns="45695" rIns="91415" bIns="4569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330" name="Google Shape;133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2382" y="6400800"/>
            <a:ext cx="9141600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cxnSp>
        <p:nvCxnSpPr>
          <p:cNvPr id="24" name="Google Shape;24;p2"/>
          <p:cNvCxnSpPr/>
          <p:nvPr/>
        </p:nvCxnSpPr>
        <p:spPr>
          <a:xfrm>
            <a:off x="905744" y="4343400"/>
            <a:ext cx="74067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2"/>
          <p:cNvSpPr/>
          <p:nvPr/>
        </p:nvSpPr>
        <p:spPr>
          <a:xfrm>
            <a:off x="0" y="6334315"/>
            <a:ext cx="9144000" cy="6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>
  <p:cSld name="标题和内容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822960" y="228601"/>
            <a:ext cx="754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822959" y="1066800"/>
            <a:ext cx="75438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2382" y="6400800"/>
            <a:ext cx="9141600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2" y="6334316"/>
            <a:ext cx="9141600" cy="63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2382" y="6400800"/>
            <a:ext cx="9141600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cxnSp>
        <p:nvCxnSpPr>
          <p:cNvPr id="47" name="Google Shape;47;p6"/>
          <p:cNvCxnSpPr/>
          <p:nvPr/>
        </p:nvCxnSpPr>
        <p:spPr>
          <a:xfrm>
            <a:off x="905744" y="4343400"/>
            <a:ext cx="74067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6"/>
          <p:cNvSpPr/>
          <p:nvPr/>
        </p:nvSpPr>
        <p:spPr>
          <a:xfrm>
            <a:off x="0" y="6334315"/>
            <a:ext cx="9144000" cy="6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2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2"/>
          </p:nvPr>
        </p:nvSpPr>
        <p:spPr>
          <a:xfrm>
            <a:off x="4663440" y="1845735"/>
            <a:ext cx="37032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2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2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2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2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822960" y="76200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/>
          <p:nvPr/>
        </p:nvSpPr>
        <p:spPr>
          <a:xfrm>
            <a:off x="13" y="0"/>
            <a:ext cx="3038100" cy="68580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0"/>
          <p:cNvSpPr/>
          <p:nvPr/>
        </p:nvSpPr>
        <p:spPr>
          <a:xfrm>
            <a:off x="3030053" y="0"/>
            <a:ext cx="4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3600450" y="731520"/>
            <a:ext cx="48693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0" y="4953000"/>
            <a:ext cx="9141600" cy="19050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12" y="4915076"/>
            <a:ext cx="9141600" cy="63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5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>
            <a:spLocks noGrp="1"/>
          </p:cNvSpPr>
          <p:nvPr>
            <p:ph type="pic" idx="2"/>
          </p:nvPr>
        </p:nvSpPr>
        <p:spPr>
          <a:xfrm>
            <a:off x="12" y="0"/>
            <a:ext cx="9144000" cy="4915200"/>
          </a:xfrm>
          <a:prstGeom prst="rect">
            <a:avLst/>
          </a:prstGeom>
          <a:solidFill>
            <a:srgbClr val="DDD9C3"/>
          </a:solidFill>
          <a:ln>
            <a:noFill/>
          </a:ln>
        </p:spPr>
      </p:sp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>
            <a:off x="822960" y="5907024"/>
            <a:ext cx="7589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>
            <a:off x="822960" y="228601"/>
            <a:ext cx="754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 rot="5400000">
            <a:off x="2193660" y="-303900"/>
            <a:ext cx="4802400" cy="75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>
            <a:off x="2382" y="6400800"/>
            <a:ext cx="9141600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2" y="6334316"/>
            <a:ext cx="9144000" cy="63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 rot="5400000">
            <a:off x="4649550" y="2306502"/>
            <a:ext cx="5760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1"/>
          </p:nvPr>
        </p:nvSpPr>
        <p:spPr>
          <a:xfrm rot="5400000">
            <a:off x="648975" y="391902"/>
            <a:ext cx="5760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Title and Content">
  <p:cSld name="2. Title and Conte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468313" y="433388"/>
            <a:ext cx="8208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>
            <a:off x="468313" y="1227139"/>
            <a:ext cx="8208900" cy="46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Char char=" "/>
              <a:defRPr sz="1600"/>
            </a:lvl1pPr>
            <a:lvl2pPr marL="914400" lvl="1" indent="-3302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 sz="1600"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89127" y="6343315"/>
            <a:ext cx="46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6334315"/>
            <a:ext cx="9144000" cy="6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822960" y="228601"/>
            <a:ext cx="754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22959" y="1066800"/>
            <a:ext cx="75438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cxnSp>
        <p:nvCxnSpPr>
          <p:cNvPr id="16" name="Google Shape;16;p1"/>
          <p:cNvCxnSpPr/>
          <p:nvPr/>
        </p:nvCxnSpPr>
        <p:spPr>
          <a:xfrm>
            <a:off x="914400" y="990600"/>
            <a:ext cx="74751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dgar_F._Cod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hyperlink" Target="https://www.seas.upenn.edu/~zives/03f/cis550/codd.pdf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Times New Roman"/>
              <a:buNone/>
            </a:pPr>
            <a:r>
              <a:rPr lang="en-AU" sz="6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Relational </a:t>
            </a:r>
            <a:br>
              <a:rPr lang="en-AU" sz="6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AU" sz="6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Model</a:t>
            </a:r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US" altLang="zh-CN" dirty="0"/>
              <a:t>ER</a:t>
            </a:r>
            <a:r>
              <a:rPr lang="en-AU" dirty="0"/>
              <a:t> Content: Data </a:t>
            </a:r>
            <a:r>
              <a:rPr lang="en-AU" dirty="0" err="1"/>
              <a:t>Modeling</a:t>
            </a:r>
            <a:endParaRPr dirty="0"/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108" dirty="0"/>
              <a:t>Checklist on ER modelling</a:t>
            </a:r>
            <a:endParaRPr sz="2108" dirty="0"/>
          </a:p>
          <a:p>
            <a:pPr marL="726948" lvl="1" indent="-36246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8"/>
              <a:buFont typeface="Calibri"/>
              <a:buAutoNum type="arabicPeriod"/>
            </a:pPr>
            <a:r>
              <a:rPr lang="en-AU" sz="2108" dirty="0"/>
              <a:t>Did you model every significant </a:t>
            </a:r>
            <a:r>
              <a:rPr lang="en-AU" sz="2108" b="1" dirty="0"/>
              <a:t>entity</a:t>
            </a:r>
            <a:r>
              <a:rPr lang="en-AU" sz="2108" dirty="0"/>
              <a:t> that has independent instances?</a:t>
            </a:r>
            <a:endParaRPr sz="2108" dirty="0"/>
          </a:p>
          <a:p>
            <a:pPr marL="726948" lvl="1" indent="-36246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8"/>
              <a:buFont typeface="Calibri"/>
              <a:buAutoNum type="arabicPeriod"/>
            </a:pPr>
            <a:r>
              <a:rPr lang="en-AU" sz="2108" dirty="0"/>
              <a:t>Did you model the entity in the correct type? </a:t>
            </a:r>
            <a:r>
              <a:rPr lang="en-AU" sz="2108" b="1" dirty="0"/>
              <a:t>Strong entity</a:t>
            </a:r>
            <a:r>
              <a:rPr lang="en-AU" sz="2108" dirty="0"/>
              <a:t> or </a:t>
            </a:r>
            <a:r>
              <a:rPr lang="en-AU" sz="2108" b="1" dirty="0"/>
              <a:t>weak entity</a:t>
            </a:r>
            <a:r>
              <a:rPr lang="en-AU" sz="2108" dirty="0"/>
              <a:t>?</a:t>
            </a:r>
            <a:endParaRPr sz="2108" dirty="0"/>
          </a:p>
          <a:p>
            <a:pPr marL="726948" lvl="1" indent="-36246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8"/>
              <a:buFont typeface="Calibri"/>
              <a:buAutoNum type="arabicPeriod"/>
            </a:pPr>
            <a:r>
              <a:rPr lang="en-AU" sz="2108" dirty="0"/>
              <a:t>Did you capture all the main </a:t>
            </a:r>
            <a:r>
              <a:rPr lang="en-AU" sz="2108" b="1" dirty="0"/>
              <a:t>relationships</a:t>
            </a:r>
            <a:r>
              <a:rPr lang="en-AU" sz="2108" dirty="0"/>
              <a:t> between entities?</a:t>
            </a:r>
            <a:endParaRPr sz="2108" dirty="0"/>
          </a:p>
          <a:p>
            <a:pPr marL="726948" lvl="1" indent="-36246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8"/>
              <a:buFont typeface="Calibri"/>
              <a:buAutoNum type="arabicPeriod"/>
            </a:pPr>
            <a:r>
              <a:rPr lang="en-AU" sz="2108" dirty="0"/>
              <a:t>Does every relationship have the correct </a:t>
            </a:r>
            <a:r>
              <a:rPr lang="en-AU" sz="2108" b="1" dirty="0"/>
              <a:t>cardinality</a:t>
            </a:r>
            <a:endParaRPr sz="2108" b="1" dirty="0"/>
          </a:p>
          <a:p>
            <a:pPr marL="726948" lvl="1" indent="-36246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8"/>
              <a:buFont typeface="Calibri"/>
              <a:buAutoNum type="arabicPeriod"/>
            </a:pPr>
            <a:r>
              <a:rPr lang="en-AU" sz="2108" dirty="0"/>
              <a:t>Did you correctly capture </a:t>
            </a:r>
            <a:r>
              <a:rPr lang="en-AU" sz="2108" b="1" dirty="0"/>
              <a:t>participation</a:t>
            </a:r>
            <a:r>
              <a:rPr lang="en-AU" sz="2108" dirty="0"/>
              <a:t>? is it too loose? Too strict?</a:t>
            </a:r>
            <a:endParaRPr sz="2108" dirty="0"/>
          </a:p>
          <a:p>
            <a:pPr marL="726948" lvl="1" indent="-36246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8"/>
              <a:buFont typeface="Calibri"/>
              <a:buAutoNum type="arabicPeriod"/>
            </a:pPr>
            <a:r>
              <a:rPr lang="en-AU" sz="2108" dirty="0"/>
              <a:t>Is each </a:t>
            </a:r>
            <a:r>
              <a:rPr lang="en-AU" sz="2108" b="1" dirty="0"/>
              <a:t>attribute</a:t>
            </a:r>
            <a:r>
              <a:rPr lang="en-AU" sz="2108" dirty="0"/>
              <a:t> modelled with the most appropriate attribute type?</a:t>
            </a:r>
            <a:endParaRPr sz="2108" dirty="0"/>
          </a:p>
          <a:p>
            <a:pPr marL="726948" lvl="1" indent="-36246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8"/>
              <a:buFont typeface="Calibri"/>
              <a:buAutoNum type="arabicPeriod"/>
            </a:pPr>
            <a:r>
              <a:rPr lang="en-AU" sz="2108" dirty="0"/>
              <a:t>(For this course) did you use the notation in this course?</a:t>
            </a:r>
            <a:endParaRPr sz="1800" dirty="0"/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US" altLang="zh-CN" dirty="0"/>
              <a:t>ER</a:t>
            </a:r>
            <a:r>
              <a:rPr lang="en-AU" dirty="0"/>
              <a:t> Content – Standard Notation</a:t>
            </a:r>
            <a:endParaRPr dirty="0"/>
          </a:p>
        </p:txBody>
      </p:sp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</a:t>
            </a:fld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l="134" t="-470" r="-133" b="-1305"/>
          <a:stretch/>
        </p:blipFill>
        <p:spPr>
          <a:xfrm>
            <a:off x="1882904" y="1020283"/>
            <a:ext cx="5378196" cy="5294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/>
              <a:t>Introduction</a:t>
            </a:r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1800" dirty="0"/>
              <a:t>Most popular data model for database systems (see </a:t>
            </a:r>
            <a:r>
              <a:rPr lang="en-AU" dirty="0"/>
              <a:t>earlier PPT</a:t>
            </a:r>
            <a:r>
              <a:rPr lang="en-AU" sz="1800" dirty="0"/>
              <a:t>)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 dirty="0"/>
              <a:t>English computer scientist </a:t>
            </a:r>
            <a:r>
              <a:rPr lang="en-AU" u="sng" dirty="0">
                <a:solidFill>
                  <a:schemeClr val="hlink"/>
                </a:solidFill>
                <a:hlinkClick r:id="rId3"/>
              </a:rPr>
              <a:t>Edgar F. Codd</a:t>
            </a:r>
            <a:br>
              <a:rPr lang="en-AU" dirty="0"/>
            </a:br>
            <a:r>
              <a:rPr lang="en-AU" b="1" dirty="0"/>
              <a:t>A Relational Model of Data for Large Shared Data Banks (1970)</a:t>
            </a:r>
            <a:br>
              <a:rPr lang="en-AU" b="1" dirty="0"/>
            </a:br>
            <a:r>
              <a:rPr lang="en-AU" u="sng" dirty="0">
                <a:solidFill>
                  <a:schemeClr val="hlink"/>
                </a:solidFill>
                <a:hlinkClick r:id="rId4"/>
              </a:rPr>
              <a:t>https://www.seas.upenn.edu/~zives/03f/cis550/codd.pdf</a:t>
            </a:r>
            <a:r>
              <a:rPr lang="en-AU" dirty="0"/>
              <a:t> </a:t>
            </a: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45" name="Google Shape;145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</a:t>
            </a:fld>
            <a:endParaRPr/>
          </a:p>
        </p:txBody>
      </p:sp>
      <p:grpSp>
        <p:nvGrpSpPr>
          <p:cNvPr id="146" name="Google Shape;146;p19"/>
          <p:cNvGrpSpPr/>
          <p:nvPr/>
        </p:nvGrpSpPr>
        <p:grpSpPr>
          <a:xfrm>
            <a:off x="930279" y="1975214"/>
            <a:ext cx="6987074" cy="2333568"/>
            <a:chOff x="1025211" y="2678992"/>
            <a:chExt cx="6987074" cy="2333568"/>
          </a:xfrm>
        </p:grpSpPr>
        <p:sp>
          <p:nvSpPr>
            <p:cNvPr id="147" name="Google Shape;147;p19"/>
            <p:cNvSpPr txBox="1"/>
            <p:nvPr/>
          </p:nvSpPr>
          <p:spPr>
            <a:xfrm>
              <a:off x="2971050" y="2692244"/>
              <a:ext cx="1300934" cy="64633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lt2"/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Conceptual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Schema</a:t>
              </a:r>
              <a:endParaRPr/>
            </a:p>
          </p:txBody>
        </p:sp>
        <p:sp>
          <p:nvSpPr>
            <p:cNvPr id="148" name="Google Shape;148;p19"/>
            <p:cNvSpPr txBox="1"/>
            <p:nvPr/>
          </p:nvSpPr>
          <p:spPr>
            <a:xfrm>
              <a:off x="5149655" y="2678992"/>
              <a:ext cx="2862630" cy="64633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lt2"/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Logical Schema/ Relational Database Schema</a:t>
              </a:r>
              <a:endParaRPr/>
            </a:p>
          </p:txBody>
        </p:sp>
        <p:sp>
          <p:nvSpPr>
            <p:cNvPr id="149" name="Google Shape;149;p19"/>
            <p:cNvSpPr txBox="1"/>
            <p:nvPr/>
          </p:nvSpPr>
          <p:spPr>
            <a:xfrm>
              <a:off x="3343194" y="3840681"/>
              <a:ext cx="1599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ER:</a:t>
              </a:r>
              <a:endParaRPr/>
            </a:p>
            <a:p>
              <a:pPr marL="0" marR="0" lvl="0" indent="-1143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AU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Entities, </a:t>
              </a:r>
              <a:endParaRPr/>
            </a:p>
            <a:p>
              <a:pPr marL="0" marR="0" lvl="0" indent="-1143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AU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Relationships</a:t>
              </a:r>
              <a:endParaRPr/>
            </a:p>
          </p:txBody>
        </p:sp>
        <p:sp>
          <p:nvSpPr>
            <p:cNvPr id="150" name="Google Shape;150;p19"/>
            <p:cNvSpPr txBox="1"/>
            <p:nvPr/>
          </p:nvSpPr>
          <p:spPr>
            <a:xfrm>
              <a:off x="5312546" y="3812231"/>
              <a:ext cx="126842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Relations:</a:t>
              </a:r>
              <a:endParaRPr/>
            </a:p>
            <a:p>
              <a:pPr marL="0" marR="0" lvl="0" indent="-114300" algn="l" rtl="0"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Char char="•"/>
              </a:pPr>
              <a:r>
                <a:rPr lang="en-AU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 tuples,</a:t>
              </a:r>
              <a:endParaRPr/>
            </a:p>
            <a:p>
              <a:pPr marL="0" marR="0" lvl="0" indent="-114300" algn="l" rtl="0"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Char char="•"/>
              </a:pPr>
              <a:r>
                <a:rPr lang="en-AU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 attributes</a:t>
              </a:r>
              <a:endParaRPr/>
            </a:p>
            <a:p>
              <a:pPr marL="0" marR="0" lvl="0" indent="-114300" algn="l" rtl="0"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Char char="•"/>
              </a:pPr>
              <a:r>
                <a:rPr lang="en-AU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 domain</a:t>
              </a:r>
              <a:endParaRPr/>
            </a:p>
          </p:txBody>
        </p:sp>
        <p:cxnSp>
          <p:nvCxnSpPr>
            <p:cNvPr id="151" name="Google Shape;151;p19"/>
            <p:cNvCxnSpPr/>
            <p:nvPr/>
          </p:nvCxnSpPr>
          <p:spPr>
            <a:xfrm>
              <a:off x="3561196" y="3430067"/>
              <a:ext cx="0" cy="321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Dot"/>
              <a:round/>
              <a:headEnd type="none" w="med" len="med"/>
              <a:tailEnd type="none" w="med" len="med"/>
            </a:ln>
          </p:spPr>
        </p:cxnSp>
        <p:cxnSp>
          <p:nvCxnSpPr>
            <p:cNvPr id="152" name="Google Shape;152;p19"/>
            <p:cNvCxnSpPr/>
            <p:nvPr/>
          </p:nvCxnSpPr>
          <p:spPr>
            <a:xfrm flipH="1">
              <a:off x="5581335" y="3351591"/>
              <a:ext cx="7887" cy="4001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Dot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Google Shape;153;p19"/>
            <p:cNvCxnSpPr/>
            <p:nvPr/>
          </p:nvCxnSpPr>
          <p:spPr>
            <a:xfrm>
              <a:off x="4376172" y="3123926"/>
              <a:ext cx="72117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4" name="Google Shape;154;p19"/>
            <p:cNvCxnSpPr/>
            <p:nvPr/>
          </p:nvCxnSpPr>
          <p:spPr>
            <a:xfrm>
              <a:off x="1927077" y="3149170"/>
              <a:ext cx="927566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5" name="Google Shape;155;p19"/>
            <p:cNvSpPr txBox="1"/>
            <p:nvPr/>
          </p:nvSpPr>
          <p:spPr>
            <a:xfrm>
              <a:off x="1025211" y="2919058"/>
              <a:ext cx="1245021" cy="3693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lt2"/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</p:grpSp>
      <p:pic>
        <p:nvPicPr>
          <p:cNvPr id="156" name="Google Shape;156;p19" descr="A person with his hand on his chi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3837" y="4202876"/>
            <a:ext cx="1286256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4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mbria"/>
              <a:buNone/>
            </a:pPr>
            <a:r>
              <a:rPr lang="en-AU" sz="2800">
                <a:latin typeface="Calibri"/>
                <a:ea typeface="Calibri"/>
                <a:cs typeface="Calibri"/>
                <a:sym typeface="Calibri"/>
              </a:rPr>
              <a:t>Relational Data Model Concepts</a:t>
            </a:r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7543800" cy="49899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39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AU" sz="2200"/>
              <a:t>The relational data model is the </a:t>
            </a:r>
            <a:r>
              <a:rPr lang="en-AU" sz="2200" u="sng"/>
              <a:t>most widely used</a:t>
            </a:r>
            <a:r>
              <a:rPr lang="en-AU" sz="2200"/>
              <a:t> data model for database systems.</a:t>
            </a:r>
            <a:endParaRPr sz="2200"/>
          </a:p>
          <a:p>
            <a:pPr marL="91440" lvl="0" indent="-13970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2200"/>
              <a:buChar char=" "/>
            </a:pPr>
            <a:r>
              <a:rPr lang="en-AU" sz="2200"/>
              <a:t>The </a:t>
            </a:r>
            <a:r>
              <a:rPr lang="en-AU" sz="2200" i="1"/>
              <a:t>relational data model</a:t>
            </a:r>
            <a:r>
              <a:rPr lang="en-AU" sz="2200"/>
              <a:t> describes the world as</a:t>
            </a:r>
            <a:endParaRPr sz="2200"/>
          </a:p>
          <a:p>
            <a:pPr marL="433387" lvl="2" indent="-3238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AU" sz="2200"/>
              <a:t>a </a:t>
            </a:r>
            <a:r>
              <a:rPr lang="en-AU" sz="2200" b="1"/>
              <a:t>collection</a:t>
            </a:r>
            <a:r>
              <a:rPr lang="en-AU" sz="2200"/>
              <a:t> of inter-connected </a:t>
            </a:r>
            <a:r>
              <a:rPr lang="en-AU" sz="2200" b="1" i="1" u="sng"/>
              <a:t>relations</a:t>
            </a:r>
            <a:endParaRPr sz="2200"/>
          </a:p>
          <a:p>
            <a:pPr marL="91440" lvl="0" indent="-1397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AU" sz="2200"/>
              <a:t>Goal of relational model:</a:t>
            </a:r>
            <a:endParaRPr sz="2200"/>
          </a:p>
          <a:p>
            <a:pPr marL="433387" lvl="2" indent="-3238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AU" sz="2200"/>
              <a:t>a simple, general data modelling formalism</a:t>
            </a:r>
            <a:endParaRPr sz="2200"/>
          </a:p>
          <a:p>
            <a:pPr marL="433387" lvl="2" indent="-3238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AU" sz="2200"/>
              <a:t>which maps easily to file structures (i.e. implementable)</a:t>
            </a:r>
            <a:endParaRPr sz="2200"/>
          </a:p>
          <a:p>
            <a:pPr marL="91440" lvl="0" indent="-1397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AU" sz="2200"/>
              <a:t>Relational model has </a:t>
            </a:r>
            <a:r>
              <a:rPr lang="en-AU" sz="2200" b="1"/>
              <a:t>two styles </a:t>
            </a:r>
            <a:r>
              <a:rPr lang="en-AU" sz="2200"/>
              <a:t>of terminology:</a:t>
            </a:r>
            <a:endParaRPr sz="2200"/>
          </a:p>
          <a:p>
            <a:pPr marL="433387" lvl="2" indent="-3238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AU" sz="2200"/>
              <a:t>mathematical:   relation,   tuple,   attribute,   ...</a:t>
            </a:r>
            <a:endParaRPr sz="2200"/>
          </a:p>
          <a:p>
            <a:pPr marL="433387" lvl="2" indent="-3238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AU" sz="2200"/>
              <a:t>data-oriented:   table,   record,   field/column,   ...</a:t>
            </a:r>
            <a:endParaRPr sz="2000"/>
          </a:p>
        </p:txBody>
      </p:sp>
      <p:sp>
        <p:nvSpPr>
          <p:cNvPr id="164" name="Google Shape;164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822960" y="228601"/>
            <a:ext cx="754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Structures</a:t>
            </a:r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7543800" cy="4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/>
          </a:bodyPr>
          <a:lstStyle/>
          <a:p>
            <a:pPr marL="91440" lvl="0" indent="-1524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In the relational model, everything is described using </a:t>
            </a:r>
            <a:r>
              <a:rPr lang="en-AU" sz="2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</a:t>
            </a: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91440" lvl="0" indent="-1524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A relation can be thought of as a</a:t>
            </a:r>
            <a:r>
              <a:rPr lang="en-AU" sz="24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2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named table</a:t>
            </a: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914400" lvl="0" indent="-37413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292"/>
              <a:buFont typeface="Times New Roman"/>
              <a:buChar char="●"/>
            </a:pPr>
            <a:r>
              <a:rPr lang="en-AU" sz="2291">
                <a:latin typeface="Times New Roman"/>
                <a:ea typeface="Times New Roman"/>
                <a:cs typeface="Times New Roman"/>
                <a:sym typeface="Times New Roman"/>
              </a:rPr>
              <a:t>Each column of the table corresponds to a </a:t>
            </a:r>
            <a:r>
              <a:rPr lang="en-AU" sz="2291" i="1">
                <a:latin typeface="Times New Roman"/>
                <a:ea typeface="Times New Roman"/>
                <a:cs typeface="Times New Roman"/>
                <a:sym typeface="Times New Roman"/>
              </a:rPr>
              <a:t>named attribute</a:t>
            </a:r>
            <a:r>
              <a:rPr lang="en-AU" sz="2291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91"/>
          </a:p>
          <a:p>
            <a:pPr marL="914400" lvl="0" indent="-37413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292"/>
              <a:buFont typeface="Times New Roman"/>
              <a:buChar char="●"/>
            </a:pPr>
            <a:r>
              <a:rPr lang="en-AU" sz="2291">
                <a:latin typeface="Times New Roman"/>
                <a:ea typeface="Times New Roman"/>
                <a:cs typeface="Times New Roman"/>
                <a:sym typeface="Times New Roman"/>
              </a:rPr>
              <a:t>Each row of the table is called a </a:t>
            </a:r>
            <a:r>
              <a:rPr lang="en-AU" sz="2291" b="1" i="1">
                <a:latin typeface="Times New Roman"/>
                <a:ea typeface="Times New Roman"/>
                <a:cs typeface="Times New Roman"/>
                <a:sym typeface="Times New Roman"/>
              </a:rPr>
              <a:t>tuple</a:t>
            </a:r>
            <a:r>
              <a:rPr lang="en-AU" sz="2291">
                <a:latin typeface="Times New Roman"/>
                <a:ea typeface="Times New Roman"/>
                <a:cs typeface="Times New Roman"/>
                <a:sym typeface="Times New Roman"/>
              </a:rPr>
              <a:t> of the relation.</a:t>
            </a:r>
            <a:endParaRPr sz="229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The set of allowed values for an attribute is called its </a:t>
            </a:r>
            <a:r>
              <a:rPr lang="en-AU" sz="2400" i="1"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ldNum" idx="4294967295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>
            <a:spLocks noGrp="1"/>
          </p:cNvSpPr>
          <p:nvPr>
            <p:ph type="title"/>
          </p:nvPr>
        </p:nvSpPr>
        <p:spPr>
          <a:xfrm>
            <a:off x="838200" y="286604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Example of a Relation</a:t>
            </a:r>
            <a:endParaRPr/>
          </a:p>
        </p:txBody>
      </p:sp>
      <p:graphicFrame>
        <p:nvGraphicFramePr>
          <p:cNvPr id="178" name="Google Shape;178;p22"/>
          <p:cNvGraphicFramePr/>
          <p:nvPr/>
        </p:nvGraphicFramePr>
        <p:xfrm>
          <a:off x="739223" y="3035206"/>
          <a:ext cx="6324600" cy="1371972"/>
        </p:xfrm>
        <a:graphic>
          <a:graphicData uri="http://schemas.openxmlformats.org/drawingml/2006/table">
            <a:tbl>
              <a:tblPr firstRow="1" bandRow="1">
                <a:noFill/>
                <a:tableStyleId>{3CBDD7CA-8EFC-4012-AC98-4DBB9C2E7D4F}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Goals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Height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Half-forward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Sumich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Full-forward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Langdon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Utility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9" name="Google Shape;179;p22"/>
          <p:cNvSpPr txBox="1"/>
          <p:nvPr/>
        </p:nvSpPr>
        <p:spPr>
          <a:xfrm>
            <a:off x="7444823" y="2313052"/>
            <a:ext cx="1454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AU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AU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(or columns)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0" name="Google Shape;180;p22"/>
          <p:cNvCxnSpPr/>
          <p:nvPr/>
        </p:nvCxnSpPr>
        <p:spPr>
          <a:xfrm flipH="1">
            <a:off x="3642635" y="2517840"/>
            <a:ext cx="3889500" cy="37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22"/>
          <p:cNvCxnSpPr/>
          <p:nvPr/>
        </p:nvCxnSpPr>
        <p:spPr>
          <a:xfrm flipH="1">
            <a:off x="5012735" y="2571815"/>
            <a:ext cx="2557500" cy="32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22"/>
          <p:cNvCxnSpPr/>
          <p:nvPr/>
        </p:nvCxnSpPr>
        <p:spPr>
          <a:xfrm flipH="1">
            <a:off x="6223935" y="2544827"/>
            <a:ext cx="1320900" cy="360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3" name="Google Shape;183;p22"/>
          <p:cNvSpPr txBox="1"/>
          <p:nvPr/>
        </p:nvSpPr>
        <p:spPr>
          <a:xfrm>
            <a:off x="7392435" y="3502090"/>
            <a:ext cx="108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AU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AU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(or rows)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4" name="Google Shape;184;p22"/>
          <p:cNvCxnSpPr/>
          <p:nvPr/>
        </p:nvCxnSpPr>
        <p:spPr>
          <a:xfrm rot="10800000">
            <a:off x="7146360" y="3467027"/>
            <a:ext cx="369900" cy="22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22"/>
          <p:cNvCxnSpPr/>
          <p:nvPr/>
        </p:nvCxnSpPr>
        <p:spPr>
          <a:xfrm flipH="1">
            <a:off x="7133660" y="3686240"/>
            <a:ext cx="369900" cy="1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22"/>
          <p:cNvCxnSpPr/>
          <p:nvPr/>
        </p:nvCxnSpPr>
        <p:spPr>
          <a:xfrm flipH="1">
            <a:off x="7122573" y="3697352"/>
            <a:ext cx="392100" cy="31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7" name="Google Shape;187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Mathematically,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 is a set of </a:t>
            </a:r>
            <a:r>
              <a:rPr lang="en-AU">
                <a:solidFill>
                  <a:srgbClr val="A937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atomic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 values (having some fixed data type) which represent some semantic meaning.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attribute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 is the name of a role played by a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dom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relation schema R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, denoted by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R(A</a:t>
            </a:r>
            <a:r>
              <a:rPr lang="en-AU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,A</a:t>
            </a:r>
            <a:r>
              <a:rPr lang="en-AU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, ...,A</a:t>
            </a:r>
            <a:r>
              <a:rPr lang="en-AU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is a set of attributes</a:t>
            </a:r>
            <a:r>
              <a:rPr lang="en-AU"/>
              <a:t>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R = {A</a:t>
            </a:r>
            <a:r>
              <a:rPr lang="en-AU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,A</a:t>
            </a:r>
            <a:r>
              <a:rPr lang="en-AU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, ...,A</a:t>
            </a:r>
            <a:r>
              <a:rPr lang="en-AU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}.</a:t>
            </a:r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sldNum" idx="4294967295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8</a:t>
            </a:fld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228600" y="5314925"/>
            <a:ext cx="868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 b="1">
                <a:solidFill>
                  <a:schemeClr val="dk1"/>
                </a:solidFill>
              </a:rPr>
              <a:t>Composite and multivalued attributes are not allowed</a:t>
            </a:r>
            <a:r>
              <a:rPr lang="en-AU" sz="2400">
                <a:solidFill>
                  <a:schemeClr val="dk1"/>
                </a:solidFill>
              </a:rPr>
              <a:t>!</a:t>
            </a:r>
            <a:endParaRPr sz="2400"/>
          </a:p>
        </p:txBody>
      </p:sp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87630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Relational Data Model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/>
              <a:t>Relations are Unordered</a:t>
            </a:r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75438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AU"/>
              <a:t> Why is the order of tuples irrelevant?</a:t>
            </a:r>
            <a:endParaRPr/>
          </a:p>
          <a:p>
            <a:pPr marL="285750" lvl="0" indent="-2857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AU"/>
              <a:t> An </a:t>
            </a:r>
            <a:r>
              <a:rPr lang="en-AU" b="1" i="1"/>
              <a:t>unordered collection </a:t>
            </a:r>
            <a:r>
              <a:rPr lang="en-AU"/>
              <a:t>of elements is a </a:t>
            </a:r>
            <a:r>
              <a:rPr lang="en-AU" b="1" i="1"/>
              <a:t>set</a:t>
            </a:r>
            <a:r>
              <a:rPr lang="en-AU"/>
              <a:t>:</a:t>
            </a:r>
            <a:br>
              <a:rPr lang="en-AU"/>
            </a:br>
            <a:r>
              <a:rPr lang="en-AU"/>
              <a:t>                {1, 2, 3} = {2, 1, 3}.</a:t>
            </a:r>
            <a:endParaRPr/>
          </a:p>
          <a:p>
            <a:pPr marL="285750" lvl="0" indent="-2857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AU"/>
              <a:t> An </a:t>
            </a:r>
            <a:r>
              <a:rPr lang="en-AU" b="1" i="1"/>
              <a:t>ordered collection </a:t>
            </a:r>
            <a:r>
              <a:rPr lang="en-AU"/>
              <a:t>of elements is a </a:t>
            </a:r>
            <a:r>
              <a:rPr lang="en-AU" b="1" i="1"/>
              <a:t>list</a:t>
            </a:r>
            <a:r>
              <a:rPr lang="en-AU"/>
              <a:t>:</a:t>
            </a:r>
            <a:br>
              <a:rPr lang="en-AU"/>
            </a:br>
            <a:r>
              <a:rPr lang="en-AU"/>
              <a:t>               (1, 2, 3)  ≠ (2, 1, 3).</a:t>
            </a:r>
            <a:endParaRPr/>
          </a:p>
          <a:p>
            <a:pPr marL="285750" lvl="0" indent="-2857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AU"/>
              <a:t> A </a:t>
            </a:r>
            <a:r>
              <a:rPr lang="en-AU" b="1" i="1"/>
              <a:t>set</a:t>
            </a:r>
            <a:r>
              <a:rPr lang="en-AU"/>
              <a:t> expresses </a:t>
            </a:r>
            <a:r>
              <a:rPr lang="en-AU" b="1" i="1"/>
              <a:t>membership</a:t>
            </a:r>
            <a:r>
              <a:rPr lang="en-AU"/>
              <a:t>.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 Example: we care you are a student, but we don’t care whether you’re the 6th student to register (the order).</a:t>
            </a:r>
            <a:endParaRPr sz="1900" i="1"/>
          </a:p>
        </p:txBody>
      </p:sp>
      <p:sp>
        <p:nvSpPr>
          <p:cNvPr id="203" name="Google Shape;203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838200" y="286604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/>
              <a:t>Example of Unordered Relation</a:t>
            </a: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75438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/>
              <a:t>Both are </a:t>
            </a:r>
            <a:r>
              <a:rPr lang="en-AU" b="1" i="1"/>
              <a:t>the same </a:t>
            </a:r>
            <a:r>
              <a:rPr lang="en-AU"/>
              <a:t>relation. </a:t>
            </a:r>
            <a:r>
              <a:rPr lang="en-AU">
                <a:latin typeface="Calibri"/>
                <a:ea typeface="Calibri"/>
                <a:cs typeface="Calibri"/>
                <a:sym typeface="Calibri"/>
              </a:rPr>
              <a:t>Ordering of column or rows are irrelevant.</a:t>
            </a:r>
            <a:endParaRPr/>
          </a:p>
        </p:txBody>
      </p:sp>
      <p:sp>
        <p:nvSpPr>
          <p:cNvPr id="211" name="Google Shape;211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10</a:t>
            </a:fld>
            <a:endParaRPr/>
          </a:p>
        </p:txBody>
      </p:sp>
      <p:graphicFrame>
        <p:nvGraphicFramePr>
          <p:cNvPr id="212" name="Google Shape;212;p25"/>
          <p:cNvGraphicFramePr/>
          <p:nvPr/>
        </p:nvGraphicFramePr>
        <p:xfrm>
          <a:off x="1295400" y="1857658"/>
          <a:ext cx="6324600" cy="1691133"/>
        </p:xfrm>
        <a:graphic>
          <a:graphicData uri="http://schemas.openxmlformats.org/drawingml/2006/table">
            <a:tbl>
              <a:tblPr firstRow="1" bandRow="1">
                <a:noFill/>
                <a:tableStyleId>{3CBDD7CA-8EFC-4012-AC98-4DBB9C2E7D4F}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40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PLAYER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Goals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Height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Half-forward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Sumich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Full-forward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Langdon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Utility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3" name="Google Shape;213;p25"/>
          <p:cNvGraphicFramePr/>
          <p:nvPr/>
        </p:nvGraphicFramePr>
        <p:xfrm>
          <a:off x="1295400" y="3795937"/>
          <a:ext cx="6324600" cy="1610983"/>
        </p:xfrm>
        <a:graphic>
          <a:graphicData uri="http://schemas.openxmlformats.org/drawingml/2006/table">
            <a:tbl>
              <a:tblPr firstRow="1" bandRow="1">
                <a:noFill/>
                <a:tableStyleId>{3CBDD7CA-8EFC-4012-AC98-4DBB9C2E7D4F}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5575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PLAYER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Height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Goals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Sumich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Full-forward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Langdon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Utility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Half-forward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4" name="Google Shape;214;p25"/>
          <p:cNvSpPr txBox="1"/>
          <p:nvPr/>
        </p:nvSpPr>
        <p:spPr>
          <a:xfrm>
            <a:off x="4096200" y="3357650"/>
            <a:ext cx="723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 b="1">
                <a:latin typeface="Calibri"/>
                <a:ea typeface="Calibri"/>
                <a:cs typeface="Calibri"/>
                <a:sym typeface="Calibri"/>
              </a:rPr>
              <a:t>=</a:t>
            </a:r>
            <a:endParaRPr sz="24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1239000" y="5515425"/>
            <a:ext cx="6666000" cy="762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AU" sz="1900" b="1" i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Question: Ordering within tuple? </a:t>
            </a:r>
            <a:endParaRPr sz="1900" b="1" i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AU" sz="1900" b="1" i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Yes, </a:t>
            </a:r>
            <a:r>
              <a:rPr lang="en-AU" sz="1900" i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alternative definition exists which contains no ordering.</a:t>
            </a:r>
            <a:r>
              <a:rPr lang="en-AU" sz="1900" b="1" i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4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>
                <a:latin typeface="Calibri"/>
                <a:ea typeface="Calibri"/>
                <a:cs typeface="Calibri"/>
                <a:sym typeface="Calibri"/>
              </a:rPr>
              <a:t>Why Relational Model?</a:t>
            </a:r>
            <a:endParaRPr/>
          </a:p>
        </p:txBody>
      </p:sp>
      <p:sp>
        <p:nvSpPr>
          <p:cNvPr id="222" name="Google Shape;222;p26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0" cy="4023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285750" lvl="0" indent="-31115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AU" sz="2400"/>
              <a:t>Very simple model</a:t>
            </a:r>
            <a:endParaRPr sz="2400"/>
          </a:p>
          <a:p>
            <a:pPr marL="285750" lvl="0" indent="-31115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AU" sz="2400"/>
              <a:t>Often a good match for the way we think about our data</a:t>
            </a:r>
            <a:endParaRPr sz="2400"/>
          </a:p>
          <a:p>
            <a:pPr marL="285750" lvl="0" indent="-31115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AU" sz="2400"/>
              <a:t>Foundations in logic and set theory (will introduce in later parts of the course)</a:t>
            </a:r>
            <a:endParaRPr sz="2200"/>
          </a:p>
        </p:txBody>
      </p:sp>
      <p:sp>
        <p:nvSpPr>
          <p:cNvPr id="223" name="Google Shape;223;p2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>
            <a:spLocks noGrp="1"/>
          </p:cNvSpPr>
          <p:nvPr>
            <p:ph type="body" idx="1"/>
          </p:nvPr>
        </p:nvSpPr>
        <p:spPr>
          <a:xfrm>
            <a:off x="838200" y="1265228"/>
            <a:ext cx="8229600" cy="4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Keys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 are used to identify tuples in a relation.</a:t>
            </a:r>
            <a:endParaRPr/>
          </a:p>
          <a:p>
            <a:pPr marL="91440" lvl="0" indent="-1270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AU" b="1" i="1">
                <a:latin typeface="Times New Roman"/>
                <a:ea typeface="Times New Roman"/>
                <a:cs typeface="Times New Roman"/>
                <a:sym typeface="Times New Roman"/>
              </a:rPr>
              <a:t>superkey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 is a set of attributes that uniquely determines a tuple.</a:t>
            </a:r>
            <a:endParaRPr/>
          </a:p>
          <a:p>
            <a:pPr marL="91440" lvl="0" indent="-1270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AU" b="1" i="1">
                <a:latin typeface="Times New Roman"/>
                <a:ea typeface="Times New Roman"/>
                <a:cs typeface="Times New Roman"/>
                <a:sym typeface="Times New Roman"/>
              </a:rPr>
              <a:t>candidate key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is a </a:t>
            </a:r>
            <a:r>
              <a:rPr lang="en-AU" sz="1800" i="1"/>
              <a:t>minimal</a:t>
            </a:r>
            <a:r>
              <a:rPr lang="en-AU" sz="1800" b="1" i="1"/>
              <a:t> 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superkey, i.e., none of whose subsets is a superkey.</a:t>
            </a:r>
            <a:endParaRPr/>
          </a:p>
        </p:txBody>
      </p:sp>
      <p:sp>
        <p:nvSpPr>
          <p:cNvPr id="229" name="Google Shape;229;p27"/>
          <p:cNvSpPr txBox="1">
            <a:spLocks noGrp="1"/>
          </p:cNvSpPr>
          <p:nvPr>
            <p:ph type="sldNum" idx="4294967295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12</a:t>
            </a:fld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87630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Keys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/>
              <a:t>Example</a:t>
            </a:r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75438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Assuming no two people have the same name, </a:t>
            </a:r>
            <a:r>
              <a:rPr lang="en-AU"/>
              <a:t>then {Name} is unique and therefore is a </a:t>
            </a:r>
            <a:r>
              <a:rPr lang="en-AU" b="1" i="1"/>
              <a:t>candidate key</a:t>
            </a:r>
            <a:r>
              <a:rPr lang="en-AU"/>
              <a:t> for PLAYER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/>
              <a:t>{Goals} usually cannot be a candidate key since different players might have the same number of goals.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/>
              <a:t>{Name, Goals} is a </a:t>
            </a:r>
            <a:r>
              <a:rPr lang="en-AU" i="1"/>
              <a:t>super key</a:t>
            </a:r>
            <a:r>
              <a:rPr lang="en-AU"/>
              <a:t> but not a </a:t>
            </a:r>
            <a:r>
              <a:rPr lang="en-AU" b="1" i="1"/>
              <a:t>minimal key </a:t>
            </a:r>
            <a:r>
              <a:rPr lang="en-AU"/>
              <a:t>(because {Name} is a key).</a:t>
            </a:r>
            <a:endParaRPr/>
          </a:p>
        </p:txBody>
      </p:sp>
      <p:sp>
        <p:nvSpPr>
          <p:cNvPr id="238" name="Google Shape;238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13</a:t>
            </a:fld>
            <a:endParaRPr/>
          </a:p>
        </p:txBody>
      </p:sp>
      <p:graphicFrame>
        <p:nvGraphicFramePr>
          <p:cNvPr id="239" name="Google Shape;239;p28"/>
          <p:cNvGraphicFramePr/>
          <p:nvPr/>
        </p:nvGraphicFramePr>
        <p:xfrm>
          <a:off x="1295400" y="3886200"/>
          <a:ext cx="6324600" cy="1595805"/>
        </p:xfrm>
        <a:graphic>
          <a:graphicData uri="http://schemas.openxmlformats.org/drawingml/2006/table">
            <a:tbl>
              <a:tblPr firstRow="1" bandRow="1">
                <a:noFill/>
                <a:tableStyleId>{3CBDD7CA-8EFC-4012-AC98-4DBB9C2E7D4F}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025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PLAYER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Goals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Height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Half-forward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Sumich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Full-forward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Langdon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Utility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>
            <a:spLocks noGrp="1"/>
          </p:cNvSpPr>
          <p:nvPr>
            <p:ph type="body" idx="1"/>
          </p:nvPr>
        </p:nvSpPr>
        <p:spPr>
          <a:xfrm>
            <a:off x="457200" y="2895600"/>
            <a:ext cx="82296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91440" lvl="0" indent="-127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AU" b="1" i="1">
                <a:latin typeface="Times New Roman"/>
                <a:ea typeface="Times New Roman"/>
                <a:cs typeface="Times New Roman"/>
                <a:sym typeface="Times New Roman"/>
              </a:rPr>
              <a:t>primary key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is a designated candidate key.</a:t>
            </a:r>
            <a:endParaRPr/>
          </a:p>
          <a:p>
            <a:pPr marL="91440" lvl="0" indent="-12700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 many applications it is necessary to invent a primary key if there is no natural one - often this would be a non-negative integer</a:t>
            </a:r>
            <a:endParaRPr/>
          </a:p>
          <a:p>
            <a:pPr marL="91440" lvl="0" indent="-12700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e.g. Person_ID.</a:t>
            </a:r>
            <a:endParaRPr/>
          </a:p>
          <a:p>
            <a:pPr marL="91440" lvl="0" indent="-12700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When a relation schema has several candidate keys, usually better to choose a primary key with a single attribute or a small number of attributes.</a:t>
            </a:r>
            <a:endParaRPr/>
          </a:p>
        </p:txBody>
      </p:sp>
      <p:sp>
        <p:nvSpPr>
          <p:cNvPr id="245" name="Google Shape;245;p29"/>
          <p:cNvSpPr txBox="1">
            <a:spLocks noGrp="1"/>
          </p:cNvSpPr>
          <p:nvPr>
            <p:ph type="sldNum" idx="4294967295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14</a:t>
            </a:fld>
            <a:endParaRPr/>
          </a:p>
        </p:txBody>
      </p:sp>
      <p:graphicFrame>
        <p:nvGraphicFramePr>
          <p:cNvPr id="246" name="Google Shape;246;p29"/>
          <p:cNvGraphicFramePr/>
          <p:nvPr/>
        </p:nvGraphicFramePr>
        <p:xfrm>
          <a:off x="685800" y="1143000"/>
          <a:ext cx="7924775" cy="1669619"/>
        </p:xfrm>
        <a:graphic>
          <a:graphicData uri="http://schemas.openxmlformats.org/drawingml/2006/table">
            <a:tbl>
              <a:tblPr firstRow="1" bandRow="1">
                <a:noFill/>
                <a:tableStyleId>{3CBDD7CA-8EFC-4012-AC98-4DBB9C2E7D4F}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2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4225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PLAYER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Person_ID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Goals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Height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Half-forward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Sumich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Full-forward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Langdon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Utility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7" name="Google Shape;247;p29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87630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Keys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>
            <a:spLocks noGrp="1"/>
          </p:cNvSpPr>
          <p:nvPr>
            <p:ph type="title"/>
          </p:nvPr>
        </p:nvSpPr>
        <p:spPr>
          <a:xfrm>
            <a:off x="822960" y="228601"/>
            <a:ext cx="7543800" cy="762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/>
              <a:t>Number of superkey</a:t>
            </a:r>
            <a:endParaRPr/>
          </a:p>
        </p:txBody>
      </p:sp>
      <p:sp>
        <p:nvSpPr>
          <p:cNvPr id="254" name="Google Shape;254;p30"/>
          <p:cNvSpPr txBox="1">
            <a:spLocks noGrp="1"/>
          </p:cNvSpPr>
          <p:nvPr>
            <p:ph type="body" idx="1"/>
          </p:nvPr>
        </p:nvSpPr>
        <p:spPr>
          <a:xfrm>
            <a:off x="822959" y="1066800"/>
            <a:ext cx="7543800" cy="4802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AU" sz="3000"/>
              <a:t>{A}: {A} 1</a:t>
            </a:r>
            <a:endParaRPr sz="3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AU" sz="3000"/>
              <a:t>{A,B}: {A},{B},{A,B} 3</a:t>
            </a:r>
            <a:endParaRPr sz="3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AU" sz="3000"/>
              <a:t>{A,B,C}: {A},{B},{C},{A,B},{B,C},{A,C},{A,B,C} 7</a:t>
            </a:r>
            <a:endParaRPr sz="3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r>
              <a:rPr lang="en-AU" sz="3000"/>
              <a:t>(2^n)-1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 sz="3400"/>
              <a:t>Relation Referring to Another Relation</a:t>
            </a:r>
            <a:endParaRPr sz="3400"/>
          </a:p>
        </p:txBody>
      </p:sp>
      <p:sp>
        <p:nvSpPr>
          <p:cNvPr id="261" name="Google Shape;261;p31"/>
          <p:cNvSpPr txBox="1">
            <a:spLocks noGrp="1"/>
          </p:cNvSpPr>
          <p:nvPr>
            <p:ph type="body" idx="1"/>
          </p:nvPr>
        </p:nvSpPr>
        <p:spPr>
          <a:xfrm>
            <a:off x="838199" y="3790588"/>
            <a:ext cx="7543801" cy="1299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/>
              <a:t>How do we store relationships? For example, ENROLLMENT in this case?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16</a:t>
            </a:fld>
            <a:endParaRPr/>
          </a:p>
        </p:txBody>
      </p:sp>
      <p:graphicFrame>
        <p:nvGraphicFramePr>
          <p:cNvPr id="263" name="Google Shape;263;p31"/>
          <p:cNvGraphicFramePr/>
          <p:nvPr/>
        </p:nvGraphicFramePr>
        <p:xfrm>
          <a:off x="3095231" y="1707550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4" name="Google Shape;264;p31"/>
          <p:cNvGraphicFramePr/>
          <p:nvPr/>
        </p:nvGraphicFramePr>
        <p:xfrm>
          <a:off x="528851" y="1711727"/>
          <a:ext cx="237005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9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5" name="Google Shape;265;p31"/>
          <p:cNvGraphicFramePr/>
          <p:nvPr/>
        </p:nvGraphicFramePr>
        <p:xfrm>
          <a:off x="6022877" y="1711727"/>
          <a:ext cx="263230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5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Department</a:t>
                      </a:r>
                      <a:endParaRPr sz="1800" b="1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" name="Google Shape;266;p31"/>
          <p:cNvSpPr txBox="1"/>
          <p:nvPr/>
        </p:nvSpPr>
        <p:spPr>
          <a:xfrm>
            <a:off x="529792" y="1295400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267" name="Google Shape;267;p31"/>
          <p:cNvSpPr txBox="1"/>
          <p:nvPr/>
        </p:nvSpPr>
        <p:spPr>
          <a:xfrm>
            <a:off x="3095231" y="1314811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268" name="Google Shape;268;p31"/>
          <p:cNvSpPr txBox="1"/>
          <p:nvPr/>
        </p:nvSpPr>
        <p:spPr>
          <a:xfrm>
            <a:off x="6022877" y="1295400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/>
              <a:t>Store the values of the Primary Key?</a:t>
            </a:r>
            <a:endParaRPr/>
          </a:p>
        </p:txBody>
      </p:sp>
      <p:graphicFrame>
        <p:nvGraphicFramePr>
          <p:cNvPr id="275" name="Google Shape;275;p32"/>
          <p:cNvGraphicFramePr/>
          <p:nvPr/>
        </p:nvGraphicFramePr>
        <p:xfrm>
          <a:off x="3095231" y="1707550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6" name="Google Shape;276;p32"/>
          <p:cNvGraphicFramePr/>
          <p:nvPr/>
        </p:nvGraphicFramePr>
        <p:xfrm>
          <a:off x="528851" y="1711727"/>
          <a:ext cx="237005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9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7" name="Google Shape;277;p32"/>
          <p:cNvGraphicFramePr/>
          <p:nvPr/>
        </p:nvGraphicFramePr>
        <p:xfrm>
          <a:off x="6022877" y="1711727"/>
          <a:ext cx="263230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5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Department</a:t>
                      </a:r>
                      <a:endParaRPr sz="1800" b="1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8" name="Google Shape;278;p32"/>
          <p:cNvSpPr txBox="1"/>
          <p:nvPr/>
        </p:nvSpPr>
        <p:spPr>
          <a:xfrm>
            <a:off x="529792" y="1295400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279" name="Google Shape;279;p32"/>
          <p:cNvSpPr txBox="1"/>
          <p:nvPr/>
        </p:nvSpPr>
        <p:spPr>
          <a:xfrm>
            <a:off x="3095231" y="1314811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280" name="Google Shape;280;p32"/>
          <p:cNvSpPr txBox="1"/>
          <p:nvPr/>
        </p:nvSpPr>
        <p:spPr>
          <a:xfrm>
            <a:off x="6022877" y="1295400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/>
          </a:p>
        </p:txBody>
      </p:sp>
      <p:sp>
        <p:nvSpPr>
          <p:cNvPr id="281" name="Google Shape;281;p32"/>
          <p:cNvSpPr txBox="1"/>
          <p:nvPr/>
        </p:nvSpPr>
        <p:spPr>
          <a:xfrm>
            <a:off x="529792" y="3581680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282" name="Google Shape;282;p32"/>
          <p:cNvGraphicFramePr/>
          <p:nvPr/>
        </p:nvGraphicFramePr>
        <p:xfrm>
          <a:off x="528851" y="3969266"/>
          <a:ext cx="8126325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7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Student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3" name="Google Shape;283;p3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mbria"/>
              <a:buNone/>
            </a:pPr>
            <a:r>
              <a:rPr lang="en-AU"/>
              <a:t>Relation Referring to Another Relation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33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AU" b="1" i="1"/>
            </a:br>
            <a:r>
              <a:rPr lang="en-AU" sz="2000" b="1" i="1"/>
              <a:t>Foreign key</a:t>
            </a:r>
            <a:r>
              <a:rPr lang="en-AU" sz="2000" i="1"/>
              <a:t>: an attribute that keeps the value of a primary key of </a:t>
            </a:r>
            <a:r>
              <a:rPr lang="en-AU" sz="2000"/>
              <a:t>another relation.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 sz="2000"/>
              <a:t>A set of attributes from a relation schema R1 may be a foreign </a:t>
            </a:r>
            <a:r>
              <a:rPr lang="en-AU" sz="2000" i="1"/>
              <a:t>key</a:t>
            </a:r>
            <a:r>
              <a:rPr lang="en-AU" sz="2000"/>
              <a:t>, </a:t>
            </a:r>
            <a:r>
              <a:rPr lang="en-AU" sz="2000" i="1"/>
              <a:t>FK</a:t>
            </a:r>
            <a:r>
              <a:rPr lang="en-AU" sz="2000"/>
              <a:t>, if</a:t>
            </a:r>
            <a:endParaRPr sz="2000"/>
          </a:p>
          <a:p>
            <a:pPr marL="384048" lvl="1" indent="-19558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the attributes have </a:t>
            </a:r>
            <a:r>
              <a:rPr lang="en-AU" sz="2000" i="1"/>
              <a:t>the same domains</a:t>
            </a:r>
            <a:r>
              <a:rPr lang="en-AU" sz="2000" b="1" i="1"/>
              <a:t> </a:t>
            </a:r>
            <a:r>
              <a:rPr lang="en-AU" sz="2000"/>
              <a:t>as the attributes in the primary key of another relation schema R</a:t>
            </a:r>
            <a:r>
              <a:rPr lang="en-AU" sz="2000" baseline="-25000"/>
              <a:t>2</a:t>
            </a:r>
            <a:r>
              <a:rPr lang="en-AU" sz="2000"/>
              <a:t>, and</a:t>
            </a:r>
            <a:endParaRPr sz="2000"/>
          </a:p>
          <a:p>
            <a:pPr marL="384048" lvl="1" indent="-1955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a </a:t>
            </a:r>
            <a:r>
              <a:rPr lang="en-AU" sz="2000" u="sng"/>
              <a:t>value of FK </a:t>
            </a:r>
            <a:r>
              <a:rPr lang="en-AU" sz="2000"/>
              <a:t>in a tuple </a:t>
            </a:r>
            <a:r>
              <a:rPr lang="en-AU" sz="2000" i="1"/>
              <a:t>t</a:t>
            </a:r>
            <a:r>
              <a:rPr lang="en-AU" sz="2000" i="1" baseline="-25000"/>
              <a:t>1</a:t>
            </a:r>
            <a:r>
              <a:rPr lang="en-AU" sz="2000"/>
              <a:t> of </a:t>
            </a:r>
            <a:r>
              <a:rPr lang="en-AU" sz="2000" i="1"/>
              <a:t>R</a:t>
            </a:r>
            <a:r>
              <a:rPr lang="en-AU" sz="2000" i="1" baseline="-25000"/>
              <a:t>1</a:t>
            </a:r>
            <a:r>
              <a:rPr lang="en-AU" sz="2000"/>
              <a:t> either </a:t>
            </a:r>
            <a:r>
              <a:rPr lang="en-AU" sz="2000" u="sng"/>
              <a:t>occurs as a value of PK for some tuple </a:t>
            </a:r>
            <a:r>
              <a:rPr lang="en-AU" sz="2000"/>
              <a:t>t</a:t>
            </a:r>
            <a:r>
              <a:rPr lang="en-AU" sz="2000" baseline="-25000"/>
              <a:t>2</a:t>
            </a:r>
            <a:r>
              <a:rPr lang="en-AU" sz="2000"/>
              <a:t> in R</a:t>
            </a:r>
            <a:r>
              <a:rPr lang="en-AU" sz="2000" baseline="-25000"/>
              <a:t>2</a:t>
            </a:r>
            <a:r>
              <a:rPr lang="en-AU" sz="2000"/>
              <a:t> </a:t>
            </a:r>
            <a:r>
              <a:rPr lang="en-AU" sz="2000" u="sng"/>
              <a:t>or is null</a:t>
            </a:r>
            <a:r>
              <a:rPr lang="en-AU" sz="2000"/>
              <a:t>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AU" sz="1900" b="1" i="1"/>
              <a:t>Referential</a:t>
            </a:r>
            <a:r>
              <a:rPr lang="en-AU" sz="1900" b="1"/>
              <a:t> </a:t>
            </a:r>
            <a:r>
              <a:rPr lang="en-AU" sz="1900" b="1" i="1"/>
              <a:t>integrity</a:t>
            </a:r>
            <a:r>
              <a:rPr lang="en-AU" sz="1900"/>
              <a:t>: The value of </a:t>
            </a:r>
            <a:r>
              <a:rPr lang="en-AU" sz="1900" i="1"/>
              <a:t>FK</a:t>
            </a:r>
            <a:r>
              <a:rPr lang="en-AU" sz="1900"/>
              <a:t> must occur in the other relation or be entirely NULL.</a:t>
            </a:r>
            <a:endParaRPr sz="1900"/>
          </a:p>
        </p:txBody>
      </p:sp>
      <p:sp>
        <p:nvSpPr>
          <p:cNvPr id="291" name="Google Shape;291;p3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/>
              <a:t>Example of Foreign keys</a:t>
            </a:r>
            <a:endParaRPr/>
          </a:p>
        </p:txBody>
      </p:sp>
      <p:sp>
        <p:nvSpPr>
          <p:cNvPr id="298" name="Google Shape;298;p34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/>
              <a:t>This is what we mean</a:t>
            </a:r>
            <a:endParaRPr/>
          </a:p>
        </p:txBody>
      </p:sp>
      <p:sp>
        <p:nvSpPr>
          <p:cNvPr id="299" name="Google Shape;299;p3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19</a:t>
            </a:fld>
            <a:endParaRPr/>
          </a:p>
        </p:txBody>
      </p:sp>
      <p:graphicFrame>
        <p:nvGraphicFramePr>
          <p:cNvPr id="300" name="Google Shape;300;p34"/>
          <p:cNvGraphicFramePr/>
          <p:nvPr/>
        </p:nvGraphicFramePr>
        <p:xfrm>
          <a:off x="2971800" y="2237690"/>
          <a:ext cx="2209800" cy="36690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1" name="Google Shape;301;p34"/>
          <p:cNvGraphicFramePr/>
          <p:nvPr/>
        </p:nvGraphicFramePr>
        <p:xfrm>
          <a:off x="556918" y="2223520"/>
          <a:ext cx="2132775" cy="37630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98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2" name="Google Shape;302;p34"/>
          <p:cNvGraphicFramePr/>
          <p:nvPr/>
        </p:nvGraphicFramePr>
        <p:xfrm>
          <a:off x="5867400" y="2237690"/>
          <a:ext cx="2742375" cy="38100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37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i="0" u="sng"/>
                        <a:t>Department</a:t>
                      </a:r>
                      <a:endParaRPr sz="1800" b="1" i="0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i="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3" name="Google Shape;303;p34"/>
          <p:cNvSpPr txBox="1"/>
          <p:nvPr/>
        </p:nvSpPr>
        <p:spPr>
          <a:xfrm>
            <a:off x="497652" y="1909314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304" name="Google Shape;304;p34"/>
          <p:cNvSpPr txBox="1"/>
          <p:nvPr/>
        </p:nvSpPr>
        <p:spPr>
          <a:xfrm>
            <a:off x="2930970" y="1925475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305" name="Google Shape;305;p34"/>
          <p:cNvSpPr txBox="1"/>
          <p:nvPr/>
        </p:nvSpPr>
        <p:spPr>
          <a:xfrm>
            <a:off x="5791200" y="1932890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/>
          </a:p>
        </p:txBody>
      </p:sp>
      <p:sp>
        <p:nvSpPr>
          <p:cNvPr id="306" name="Google Shape;306;p34"/>
          <p:cNvSpPr txBox="1"/>
          <p:nvPr/>
        </p:nvSpPr>
        <p:spPr>
          <a:xfrm>
            <a:off x="497652" y="2996732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307" name="Google Shape;307;p34"/>
          <p:cNvGraphicFramePr/>
          <p:nvPr/>
        </p:nvGraphicFramePr>
        <p:xfrm>
          <a:off x="533399" y="3382249"/>
          <a:ext cx="8076375" cy="36577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61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Student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8" name="Google Shape;308;p34"/>
          <p:cNvCxnSpPr/>
          <p:nvPr/>
        </p:nvCxnSpPr>
        <p:spPr>
          <a:xfrm rot="10800000">
            <a:off x="1245143" y="2663278"/>
            <a:ext cx="1497236" cy="6344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9" name="Google Shape;309;p34"/>
          <p:cNvCxnSpPr/>
          <p:nvPr/>
        </p:nvCxnSpPr>
        <p:spPr>
          <a:xfrm rot="10800000">
            <a:off x="3762849" y="2674971"/>
            <a:ext cx="456379" cy="62279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0" name="Google Shape;310;p34"/>
          <p:cNvCxnSpPr/>
          <p:nvPr/>
        </p:nvCxnSpPr>
        <p:spPr>
          <a:xfrm rot="10800000" flipH="1">
            <a:off x="7100280" y="2726979"/>
            <a:ext cx="138309" cy="53061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1" name="Google Shape;311;p34"/>
          <p:cNvSpPr txBox="1"/>
          <p:nvPr/>
        </p:nvSpPr>
        <p:spPr>
          <a:xfrm>
            <a:off x="2969515" y="3012917"/>
            <a:ext cx="4594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f.k.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4"/>
          <p:cNvSpPr txBox="1"/>
          <p:nvPr/>
        </p:nvSpPr>
        <p:spPr>
          <a:xfrm>
            <a:off x="4417315" y="3012917"/>
            <a:ext cx="4594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f.k.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4"/>
          <p:cNvSpPr txBox="1"/>
          <p:nvPr/>
        </p:nvSpPr>
        <p:spPr>
          <a:xfrm>
            <a:off x="7162800" y="2755854"/>
            <a:ext cx="4594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f.k.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34"/>
          <p:cNvCxnSpPr/>
          <p:nvPr/>
        </p:nvCxnSpPr>
        <p:spPr>
          <a:xfrm rot="10800000">
            <a:off x="5943599" y="3257598"/>
            <a:ext cx="2313363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Relational Integrity Constraints</a:t>
            </a:r>
            <a:endParaRPr/>
          </a:p>
        </p:txBody>
      </p:sp>
      <p:sp>
        <p:nvSpPr>
          <p:cNvPr id="321" name="Google Shape;321;p35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/>
              <a:t>We need to keep the relational database in a </a:t>
            </a:r>
            <a:r>
              <a:rPr lang="en-AU" b="1" i="1"/>
              <a:t>valid state</a:t>
            </a:r>
            <a:r>
              <a:rPr lang="en-AU"/>
              <a:t>: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/>
              <a:t>Three integrity constraints are important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AU" b="1"/>
              <a:t>Key constraint</a:t>
            </a:r>
            <a:r>
              <a:rPr lang="en-AU"/>
              <a:t>: candidate key values must be unique for every relation instance.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AU" b="1"/>
              <a:t>Entity integrity</a:t>
            </a:r>
            <a:r>
              <a:rPr lang="en-AU"/>
              <a:t>: an attribute that is part of a primary key cannot be NULL.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AU" b="1"/>
              <a:t>Referential integrity</a:t>
            </a:r>
            <a:endParaRPr/>
          </a:p>
          <a:p>
            <a:pPr marL="342900" lvl="0" indent="-2286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None/>
            </a:pPr>
            <a:endParaRPr b="1"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Valid state: a relation does not violate any integrity constraints.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Invalid state: a relation violates at least one integrity constraint</a:t>
            </a:r>
            <a:endParaRPr/>
          </a:p>
          <a:p>
            <a:pPr marL="342900" lvl="0" indent="-2286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None/>
            </a:pPr>
            <a:endParaRPr/>
          </a:p>
        </p:txBody>
      </p:sp>
      <p:sp>
        <p:nvSpPr>
          <p:cNvPr id="322" name="Google Shape;322;p3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Relational Integrity Constraints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36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000"/>
              <a:t>How can a valid relation can it ever become invalid?</a:t>
            </a:r>
            <a:br>
              <a:rPr lang="en-AU" sz="2000"/>
            </a:br>
            <a:r>
              <a:rPr lang="en-AU" sz="2000"/>
              <a:t>A: Operations on the database can result in an invalid state.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 sz="2000"/>
              <a:t>Before proceeding with an </a:t>
            </a:r>
            <a:r>
              <a:rPr lang="en-AU" sz="2000" b="1" i="1"/>
              <a:t>update</a:t>
            </a:r>
            <a:r>
              <a:rPr lang="en-AU" sz="2000"/>
              <a:t>, we need to…</a:t>
            </a:r>
            <a:endParaRPr sz="2000"/>
          </a:p>
          <a:p>
            <a:pPr marL="285750" lvl="0" indent="-2984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AU" sz="2000"/>
              <a:t>check that the result of the update will not be violate any integrity constraints.</a:t>
            </a:r>
            <a:endParaRPr sz="2000"/>
          </a:p>
        </p:txBody>
      </p:sp>
      <p:sp>
        <p:nvSpPr>
          <p:cNvPr id="330" name="Google Shape;330;p3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8153400" cy="55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AU" sz="2400" i="1">
                <a:latin typeface="Times New Roman"/>
                <a:ea typeface="Times New Roman"/>
                <a:cs typeface="Times New Roman"/>
                <a:sym typeface="Times New Roman"/>
              </a:rPr>
              <a:t>Insertions</a:t>
            </a: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: When inserting, we need to check</a:t>
            </a:r>
            <a:endParaRPr/>
          </a:p>
          <a:p>
            <a:pPr marL="384048" lvl="1" indent="-18288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ts val="2400"/>
              <a:buChar char="◦"/>
            </a:pP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that the candidate keys are not already present,</a:t>
            </a:r>
            <a:endParaRPr/>
          </a:p>
          <a:p>
            <a:pPr marL="384048" lvl="1" indent="-182880" algn="l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that the value of each foreign key either</a:t>
            </a:r>
            <a:endParaRPr/>
          </a:p>
          <a:p>
            <a:pPr marL="0" lvl="0" indent="0" algn="l" rtl="0">
              <a:lnSpc>
                <a:spcPct val="17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    	– is all NULL, or</a:t>
            </a:r>
            <a:endParaRPr/>
          </a:p>
          <a:p>
            <a:pPr marL="0" lvl="0" indent="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AU" sz="2400">
                <a:latin typeface="Times New Roman"/>
                <a:ea typeface="Times New Roman"/>
                <a:cs typeface="Times New Roman"/>
                <a:sym typeface="Times New Roman"/>
              </a:rPr>
              <a:t>    	– is all non-NULL and occurs in the referenced relation.</a:t>
            </a:r>
            <a:endParaRPr/>
          </a:p>
        </p:txBody>
      </p:sp>
      <p:sp>
        <p:nvSpPr>
          <p:cNvPr id="336" name="Google Shape;336;p37"/>
          <p:cNvSpPr txBox="1">
            <a:spLocks noGrp="1"/>
          </p:cNvSpPr>
          <p:nvPr>
            <p:ph type="sldNum" idx="4294967295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22</a:t>
            </a:fld>
            <a:endParaRPr/>
          </a:p>
        </p:txBody>
      </p:sp>
      <p:sp>
        <p:nvSpPr>
          <p:cNvPr id="337" name="Google Shape;337;p37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87630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Insertions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Insertion: </a:t>
            </a:r>
            <a:r>
              <a:rPr lang="en-AU"/>
              <a:t>Key constraint violation</a:t>
            </a:r>
            <a:endParaRPr/>
          </a:p>
        </p:txBody>
      </p:sp>
      <p:sp>
        <p:nvSpPr>
          <p:cNvPr id="344" name="Google Shape;344;p3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23</a:t>
            </a:fld>
            <a:endParaRPr>
              <a:solidFill>
                <a:srgbClr val="888888"/>
              </a:solidFill>
            </a:endParaRPr>
          </a:p>
        </p:txBody>
      </p:sp>
      <p:graphicFrame>
        <p:nvGraphicFramePr>
          <p:cNvPr id="345" name="Google Shape;345;p38"/>
          <p:cNvGraphicFramePr/>
          <p:nvPr/>
        </p:nvGraphicFramePr>
        <p:xfrm>
          <a:off x="3095231" y="125397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6" name="Google Shape;346;p38"/>
          <p:cNvGraphicFramePr/>
          <p:nvPr/>
        </p:nvGraphicFramePr>
        <p:xfrm>
          <a:off x="488851" y="1253975"/>
          <a:ext cx="237005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9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7" name="Google Shape;347;p38"/>
          <p:cNvGraphicFramePr/>
          <p:nvPr/>
        </p:nvGraphicFramePr>
        <p:xfrm>
          <a:off x="6022877" y="1253975"/>
          <a:ext cx="263230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5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Department</a:t>
                      </a:r>
                      <a:endParaRPr sz="1800" b="1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8" name="Google Shape;348;p38"/>
          <p:cNvSpPr txBox="1"/>
          <p:nvPr/>
        </p:nvSpPr>
        <p:spPr>
          <a:xfrm>
            <a:off x="529792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349" name="Google Shape;349;p38"/>
          <p:cNvSpPr txBox="1"/>
          <p:nvPr/>
        </p:nvSpPr>
        <p:spPr>
          <a:xfrm>
            <a:off x="3095231" y="974684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350" name="Google Shape;350;p38"/>
          <p:cNvSpPr txBox="1"/>
          <p:nvPr/>
        </p:nvSpPr>
        <p:spPr>
          <a:xfrm>
            <a:off x="6022877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/>
          </a:p>
        </p:txBody>
      </p:sp>
      <p:sp>
        <p:nvSpPr>
          <p:cNvPr id="351" name="Google Shape;351;p38"/>
          <p:cNvSpPr txBox="1"/>
          <p:nvPr/>
        </p:nvSpPr>
        <p:spPr>
          <a:xfrm>
            <a:off x="529792" y="301295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352" name="Google Shape;352;p38"/>
          <p:cNvGraphicFramePr/>
          <p:nvPr/>
        </p:nvGraphicFramePr>
        <p:xfrm>
          <a:off x="528851" y="3324339"/>
          <a:ext cx="8126325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7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Supervisee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3" name="Google Shape;353;p38"/>
          <p:cNvSpPr/>
          <p:nvPr/>
        </p:nvSpPr>
        <p:spPr>
          <a:xfrm>
            <a:off x="1028700" y="5126050"/>
            <a:ext cx="7086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Insert &lt; 2, </a:t>
            </a:r>
            <a:r>
              <a:rPr lang="en-AU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Dr.V.Ciesielski </a:t>
            </a:r>
            <a:r>
              <a:rPr lang="en-A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into RESEARCHER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9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Insertion: </a:t>
            </a:r>
            <a:r>
              <a:rPr lang="en-AU"/>
              <a:t>Key constraint violation</a:t>
            </a:r>
            <a:endParaRPr/>
          </a:p>
        </p:txBody>
      </p:sp>
      <p:sp>
        <p:nvSpPr>
          <p:cNvPr id="360" name="Google Shape;360;p3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24</a:t>
            </a:fld>
            <a:endParaRPr>
              <a:solidFill>
                <a:srgbClr val="888888"/>
              </a:solidFill>
            </a:endParaRPr>
          </a:p>
        </p:txBody>
      </p:sp>
      <p:graphicFrame>
        <p:nvGraphicFramePr>
          <p:cNvPr id="361" name="Google Shape;361;p39"/>
          <p:cNvGraphicFramePr/>
          <p:nvPr/>
        </p:nvGraphicFramePr>
        <p:xfrm>
          <a:off x="3095231" y="125397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2" name="Google Shape;362;p39"/>
          <p:cNvGraphicFramePr/>
          <p:nvPr/>
        </p:nvGraphicFramePr>
        <p:xfrm>
          <a:off x="488851" y="1253975"/>
          <a:ext cx="237005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9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3" name="Google Shape;363;p39"/>
          <p:cNvGraphicFramePr/>
          <p:nvPr/>
        </p:nvGraphicFramePr>
        <p:xfrm>
          <a:off x="6022877" y="1253975"/>
          <a:ext cx="263230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5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Department</a:t>
                      </a:r>
                      <a:endParaRPr sz="1800" b="1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4" name="Google Shape;364;p39"/>
          <p:cNvSpPr txBox="1"/>
          <p:nvPr/>
        </p:nvSpPr>
        <p:spPr>
          <a:xfrm>
            <a:off x="529792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365" name="Google Shape;365;p39"/>
          <p:cNvSpPr txBox="1"/>
          <p:nvPr/>
        </p:nvSpPr>
        <p:spPr>
          <a:xfrm>
            <a:off x="3095231" y="974684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366" name="Google Shape;366;p39"/>
          <p:cNvSpPr txBox="1"/>
          <p:nvPr/>
        </p:nvSpPr>
        <p:spPr>
          <a:xfrm>
            <a:off x="6022877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/>
          </a:p>
        </p:txBody>
      </p:sp>
      <p:sp>
        <p:nvSpPr>
          <p:cNvPr id="367" name="Google Shape;367;p39"/>
          <p:cNvSpPr txBox="1"/>
          <p:nvPr/>
        </p:nvSpPr>
        <p:spPr>
          <a:xfrm>
            <a:off x="529792" y="301295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368" name="Google Shape;368;p39"/>
          <p:cNvGraphicFramePr/>
          <p:nvPr/>
        </p:nvGraphicFramePr>
        <p:xfrm>
          <a:off x="528851" y="3324339"/>
          <a:ext cx="8126325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7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Supervisee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9" name="Google Shape;369;p39"/>
          <p:cNvSpPr/>
          <p:nvPr/>
        </p:nvSpPr>
        <p:spPr>
          <a:xfrm>
            <a:off x="1028700" y="5126050"/>
            <a:ext cx="7086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Insert &lt; 2, </a:t>
            </a:r>
            <a:r>
              <a:rPr lang="en-AU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Dr.V.Ciesielski </a:t>
            </a:r>
            <a:r>
              <a:rPr lang="en-A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into RESEARCHER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Allowed? No. Violates a key constraint.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Action? Reject or allow the user to correct.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Insertion: </a:t>
            </a:r>
            <a:r>
              <a:rPr lang="en-AU"/>
              <a:t>Entity integrity violation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25</a:t>
            </a:fld>
            <a:endParaRPr>
              <a:solidFill>
                <a:srgbClr val="888888"/>
              </a:solidFill>
            </a:endParaRPr>
          </a:p>
        </p:txBody>
      </p:sp>
      <p:graphicFrame>
        <p:nvGraphicFramePr>
          <p:cNvPr id="377" name="Google Shape;377;p40"/>
          <p:cNvGraphicFramePr/>
          <p:nvPr/>
        </p:nvGraphicFramePr>
        <p:xfrm>
          <a:off x="3095231" y="125397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8" name="Google Shape;378;p40"/>
          <p:cNvGraphicFramePr/>
          <p:nvPr/>
        </p:nvGraphicFramePr>
        <p:xfrm>
          <a:off x="488851" y="1253975"/>
          <a:ext cx="237005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9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79" name="Google Shape;379;p40"/>
          <p:cNvGraphicFramePr/>
          <p:nvPr/>
        </p:nvGraphicFramePr>
        <p:xfrm>
          <a:off x="6022877" y="1253975"/>
          <a:ext cx="263230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5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Department</a:t>
                      </a:r>
                      <a:endParaRPr sz="1800" b="1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0" name="Google Shape;380;p40"/>
          <p:cNvSpPr txBox="1"/>
          <p:nvPr/>
        </p:nvSpPr>
        <p:spPr>
          <a:xfrm>
            <a:off x="529792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381" name="Google Shape;381;p40"/>
          <p:cNvSpPr txBox="1"/>
          <p:nvPr/>
        </p:nvSpPr>
        <p:spPr>
          <a:xfrm>
            <a:off x="3095231" y="974684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382" name="Google Shape;382;p40"/>
          <p:cNvSpPr txBox="1"/>
          <p:nvPr/>
        </p:nvSpPr>
        <p:spPr>
          <a:xfrm>
            <a:off x="6022877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/>
          </a:p>
        </p:txBody>
      </p:sp>
      <p:sp>
        <p:nvSpPr>
          <p:cNvPr id="383" name="Google Shape;383;p40"/>
          <p:cNvSpPr txBox="1"/>
          <p:nvPr/>
        </p:nvSpPr>
        <p:spPr>
          <a:xfrm>
            <a:off x="529792" y="301295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384" name="Google Shape;384;p40"/>
          <p:cNvGraphicFramePr/>
          <p:nvPr/>
        </p:nvGraphicFramePr>
        <p:xfrm>
          <a:off x="528851" y="3324339"/>
          <a:ext cx="8126325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7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Supervisee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5" name="Google Shape;385;p40"/>
          <p:cNvSpPr/>
          <p:nvPr/>
        </p:nvSpPr>
        <p:spPr>
          <a:xfrm>
            <a:off x="1028700" y="5126050"/>
            <a:ext cx="7086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Insert &lt; </a:t>
            </a:r>
            <a:r>
              <a:rPr lang="en-AU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Comp.Sci.,NULL </a:t>
            </a:r>
            <a:r>
              <a:rPr lang="en-A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into COURSE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Insertion: </a:t>
            </a:r>
            <a:r>
              <a:rPr lang="en-AU"/>
              <a:t>Entity integrity violation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4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26</a:t>
            </a:fld>
            <a:endParaRPr>
              <a:solidFill>
                <a:srgbClr val="888888"/>
              </a:solidFill>
            </a:endParaRPr>
          </a:p>
        </p:txBody>
      </p:sp>
      <p:graphicFrame>
        <p:nvGraphicFramePr>
          <p:cNvPr id="393" name="Google Shape;393;p41"/>
          <p:cNvGraphicFramePr/>
          <p:nvPr/>
        </p:nvGraphicFramePr>
        <p:xfrm>
          <a:off x="3095231" y="125397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4" name="Google Shape;394;p41"/>
          <p:cNvGraphicFramePr/>
          <p:nvPr/>
        </p:nvGraphicFramePr>
        <p:xfrm>
          <a:off x="488851" y="1253975"/>
          <a:ext cx="237005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9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5" name="Google Shape;395;p41"/>
          <p:cNvGraphicFramePr/>
          <p:nvPr/>
        </p:nvGraphicFramePr>
        <p:xfrm>
          <a:off x="6022877" y="1253975"/>
          <a:ext cx="263230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5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Department</a:t>
                      </a:r>
                      <a:endParaRPr sz="1800" b="1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6" name="Google Shape;396;p41"/>
          <p:cNvSpPr txBox="1"/>
          <p:nvPr/>
        </p:nvSpPr>
        <p:spPr>
          <a:xfrm>
            <a:off x="529792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397" name="Google Shape;397;p41"/>
          <p:cNvSpPr txBox="1"/>
          <p:nvPr/>
        </p:nvSpPr>
        <p:spPr>
          <a:xfrm>
            <a:off x="3095231" y="974684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398" name="Google Shape;398;p41"/>
          <p:cNvSpPr txBox="1"/>
          <p:nvPr/>
        </p:nvSpPr>
        <p:spPr>
          <a:xfrm>
            <a:off x="6022877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/>
          </a:p>
        </p:txBody>
      </p:sp>
      <p:sp>
        <p:nvSpPr>
          <p:cNvPr id="399" name="Google Shape;399;p41"/>
          <p:cNvSpPr txBox="1"/>
          <p:nvPr/>
        </p:nvSpPr>
        <p:spPr>
          <a:xfrm>
            <a:off x="529792" y="301295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400" name="Google Shape;400;p41"/>
          <p:cNvGraphicFramePr/>
          <p:nvPr/>
        </p:nvGraphicFramePr>
        <p:xfrm>
          <a:off x="528851" y="3324339"/>
          <a:ext cx="8126325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7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Supervisee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1" name="Google Shape;401;p41"/>
          <p:cNvSpPr/>
          <p:nvPr/>
        </p:nvSpPr>
        <p:spPr>
          <a:xfrm>
            <a:off x="1028700" y="5126050"/>
            <a:ext cx="7086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Insert &lt; </a:t>
            </a:r>
            <a:r>
              <a:rPr lang="en-AU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Comp.Sci.,NULL </a:t>
            </a:r>
            <a:r>
              <a:rPr lang="en-A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into COURSE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Allowed? No. Violates the entity integrity constraint.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Action: Reject or correct.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Insertion: </a:t>
            </a:r>
            <a:r>
              <a:rPr lang="en-AU"/>
              <a:t>Referential integrity violation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4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27</a:t>
            </a:fld>
            <a:endParaRPr>
              <a:solidFill>
                <a:srgbClr val="888888"/>
              </a:solidFill>
            </a:endParaRPr>
          </a:p>
        </p:txBody>
      </p:sp>
      <p:graphicFrame>
        <p:nvGraphicFramePr>
          <p:cNvPr id="409" name="Google Shape;409;p42"/>
          <p:cNvGraphicFramePr/>
          <p:nvPr/>
        </p:nvGraphicFramePr>
        <p:xfrm>
          <a:off x="3095231" y="125397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0" name="Google Shape;410;p42"/>
          <p:cNvGraphicFramePr/>
          <p:nvPr/>
        </p:nvGraphicFramePr>
        <p:xfrm>
          <a:off x="488851" y="1253975"/>
          <a:ext cx="237005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9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1" name="Google Shape;411;p42"/>
          <p:cNvGraphicFramePr/>
          <p:nvPr/>
        </p:nvGraphicFramePr>
        <p:xfrm>
          <a:off x="6022877" y="1253975"/>
          <a:ext cx="263230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5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Department</a:t>
                      </a:r>
                      <a:endParaRPr sz="1800" b="1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2" name="Google Shape;412;p42"/>
          <p:cNvSpPr txBox="1"/>
          <p:nvPr/>
        </p:nvSpPr>
        <p:spPr>
          <a:xfrm>
            <a:off x="529792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413" name="Google Shape;413;p42"/>
          <p:cNvSpPr txBox="1"/>
          <p:nvPr/>
        </p:nvSpPr>
        <p:spPr>
          <a:xfrm>
            <a:off x="3095231" y="974684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414" name="Google Shape;414;p42"/>
          <p:cNvSpPr txBox="1"/>
          <p:nvPr/>
        </p:nvSpPr>
        <p:spPr>
          <a:xfrm>
            <a:off x="6022877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/>
          </a:p>
        </p:txBody>
      </p:sp>
      <p:sp>
        <p:nvSpPr>
          <p:cNvPr id="415" name="Google Shape;415;p42"/>
          <p:cNvSpPr txBox="1"/>
          <p:nvPr/>
        </p:nvSpPr>
        <p:spPr>
          <a:xfrm>
            <a:off x="529792" y="301295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416" name="Google Shape;416;p42"/>
          <p:cNvGraphicFramePr/>
          <p:nvPr/>
        </p:nvGraphicFramePr>
        <p:xfrm>
          <a:off x="528851" y="3324339"/>
          <a:ext cx="8126325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7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Supervisee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7" name="Google Shape;417;p42"/>
          <p:cNvSpPr/>
          <p:nvPr/>
        </p:nvSpPr>
        <p:spPr>
          <a:xfrm>
            <a:off x="244275" y="5126050"/>
            <a:ext cx="86949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Insert &lt; 5, 6, 2, </a:t>
            </a:r>
            <a:r>
              <a:rPr lang="en-AU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Psychology, Ph.D. </a:t>
            </a:r>
            <a:r>
              <a:rPr lang="en-A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into ENROLMENT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3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Insertion: </a:t>
            </a:r>
            <a:r>
              <a:rPr lang="en-AU"/>
              <a:t>Referential integrity violation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4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28</a:t>
            </a:fld>
            <a:endParaRPr>
              <a:solidFill>
                <a:srgbClr val="888888"/>
              </a:solidFill>
            </a:endParaRPr>
          </a:p>
        </p:txBody>
      </p:sp>
      <p:graphicFrame>
        <p:nvGraphicFramePr>
          <p:cNvPr id="425" name="Google Shape;425;p43"/>
          <p:cNvGraphicFramePr/>
          <p:nvPr/>
        </p:nvGraphicFramePr>
        <p:xfrm>
          <a:off x="3095231" y="1253975"/>
          <a:ext cx="2764450" cy="185929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01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6" name="Google Shape;426;p43"/>
          <p:cNvGraphicFramePr/>
          <p:nvPr/>
        </p:nvGraphicFramePr>
        <p:xfrm>
          <a:off x="488851" y="1253975"/>
          <a:ext cx="237005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9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u="sng"/>
                        <a:t>Person#</a:t>
                      </a:r>
                      <a:endParaRPr sz="1800" u="sng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1​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 C.C.Chen​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K.Juliff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J.Gledill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Ms B.K.Lee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7" name="Google Shape;427;p43"/>
          <p:cNvGraphicFramePr/>
          <p:nvPr/>
        </p:nvGraphicFramePr>
        <p:xfrm>
          <a:off x="6022877" y="1253975"/>
          <a:ext cx="2632300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5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Department</a:t>
                      </a:r>
                      <a:endParaRPr sz="1800" b="1" u="sng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sng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 u="sng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Ph.D.​​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b="0" i="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8" name="Google Shape;428;p43"/>
          <p:cNvSpPr txBox="1"/>
          <p:nvPr/>
        </p:nvSpPr>
        <p:spPr>
          <a:xfrm>
            <a:off x="529792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/>
          </a:p>
        </p:txBody>
      </p:sp>
      <p:sp>
        <p:nvSpPr>
          <p:cNvPr id="429" name="Google Shape;429;p43"/>
          <p:cNvSpPr txBox="1"/>
          <p:nvPr/>
        </p:nvSpPr>
        <p:spPr>
          <a:xfrm>
            <a:off x="3095231" y="974684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sp>
        <p:nvSpPr>
          <p:cNvPr id="430" name="Google Shape;430;p43"/>
          <p:cNvSpPr txBox="1"/>
          <p:nvPr/>
        </p:nvSpPr>
        <p:spPr>
          <a:xfrm>
            <a:off x="6022877" y="95527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</a:t>
            </a:r>
            <a:endParaRPr/>
          </a:p>
        </p:txBody>
      </p:sp>
      <p:sp>
        <p:nvSpPr>
          <p:cNvPr id="431" name="Google Shape;431;p43"/>
          <p:cNvSpPr txBox="1"/>
          <p:nvPr/>
        </p:nvSpPr>
        <p:spPr>
          <a:xfrm>
            <a:off x="529792" y="3012953"/>
            <a:ext cx="2743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432" name="Google Shape;432;p43"/>
          <p:cNvGraphicFramePr/>
          <p:nvPr/>
        </p:nvGraphicFramePr>
        <p:xfrm>
          <a:off x="528851" y="3324339"/>
          <a:ext cx="8126325" cy="18288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7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Enrolment#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Supervisee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Department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3" name="Google Shape;433;p43"/>
          <p:cNvSpPr/>
          <p:nvPr/>
        </p:nvSpPr>
        <p:spPr>
          <a:xfrm>
            <a:off x="244275" y="5126050"/>
            <a:ext cx="86949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Insert &lt; 5, 6, 2, </a:t>
            </a:r>
            <a:r>
              <a:rPr lang="en-AU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Psychology, Ph.D. </a:t>
            </a:r>
            <a:r>
              <a:rPr lang="en-A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into ENROLMENT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Allowed? No. Violates a referential integrity constraint (There is no person 6).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Action: Reject, correct or accept after insertion of person number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b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44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39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AU" sz="2200" i="1">
                <a:latin typeface="Times New Roman"/>
                <a:ea typeface="Times New Roman"/>
                <a:cs typeface="Times New Roman"/>
                <a:sym typeface="Times New Roman"/>
              </a:rPr>
              <a:t>Deletions</a:t>
            </a:r>
            <a:r>
              <a:rPr lang="en-AU" sz="2200">
                <a:latin typeface="Times New Roman"/>
                <a:ea typeface="Times New Roman"/>
                <a:cs typeface="Times New Roman"/>
                <a:sym typeface="Times New Roman"/>
              </a:rPr>
              <a:t>: When deleting, we need to check </a:t>
            </a:r>
            <a:r>
              <a:rPr lang="en-AU" sz="2200" b="1">
                <a:latin typeface="Times New Roman"/>
                <a:ea typeface="Times New Roman"/>
                <a:cs typeface="Times New Roman"/>
                <a:sym typeface="Times New Roman"/>
              </a:rPr>
              <a:t>referential integrity</a:t>
            </a:r>
            <a:r>
              <a:rPr lang="en-AU" sz="2200">
                <a:latin typeface="Times New Roman"/>
                <a:ea typeface="Times New Roman"/>
                <a:cs typeface="Times New Roman"/>
                <a:sym typeface="Times New Roman"/>
              </a:rPr>
              <a:t> – check whether the primary key occurs in another relation.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>
                <a:latin typeface="Calibri"/>
                <a:ea typeface="Calibri"/>
                <a:cs typeface="Calibri"/>
                <a:sym typeface="Calibri"/>
              </a:rPr>
              <a:t>Example: Delete </a:t>
            </a:r>
            <a:r>
              <a:rPr lang="en-AU"/>
              <a:t>tuple</a:t>
            </a:r>
            <a:r>
              <a:rPr lang="en-AU">
                <a:latin typeface="Calibri"/>
                <a:ea typeface="Calibri"/>
                <a:cs typeface="Calibri"/>
                <a:sym typeface="Calibri"/>
              </a:rPr>
              <a:t> with Person# = 2 from RESEARCHER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00050" lvl="1" indent="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latin typeface="Times New Roman"/>
                <a:ea typeface="Times New Roman"/>
                <a:cs typeface="Times New Roman"/>
                <a:sym typeface="Times New Roman"/>
              </a:rPr>
              <a:t>Allowed? No. Violates the referential integrity.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lvl="1" indent="0" algn="l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AU" sz="2100">
                <a:latin typeface="Times New Roman"/>
                <a:ea typeface="Times New Roman"/>
                <a:cs typeface="Times New Roman"/>
                <a:sym typeface="Times New Roman"/>
              </a:rPr>
              <a:t>Action: Reject, correct or modify the ENROLMENT tuple by the actions on the next slides.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lvl="1" indent="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41" name="Google Shape;441;p44"/>
          <p:cNvSpPr txBox="1">
            <a:spLocks noGrp="1"/>
          </p:cNvSpPr>
          <p:nvPr>
            <p:ph type="sldNum" idx="12"/>
          </p:nvPr>
        </p:nvSpPr>
        <p:spPr>
          <a:xfrm>
            <a:off x="7743724" y="6446837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29</a:t>
            </a:fld>
            <a:endParaRPr/>
          </a:p>
        </p:txBody>
      </p:sp>
      <p:sp>
        <p:nvSpPr>
          <p:cNvPr id="442" name="Google Shape;442;p44"/>
          <p:cNvSpPr txBox="1"/>
          <p:nvPr/>
        </p:nvSpPr>
        <p:spPr>
          <a:xfrm>
            <a:off x="412115" y="2724289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RESEARCHER:</a:t>
            </a:r>
            <a:endParaRPr/>
          </a:p>
        </p:txBody>
      </p:sp>
      <p:graphicFrame>
        <p:nvGraphicFramePr>
          <p:cNvPr id="443" name="Google Shape;443;p44"/>
          <p:cNvGraphicFramePr/>
          <p:nvPr/>
        </p:nvGraphicFramePr>
        <p:xfrm>
          <a:off x="416257" y="3200400"/>
          <a:ext cx="2936550" cy="121020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03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Person#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C.C.Chen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AU" sz="1800"/>
                        <a:t>Dr R.G.Wilkinson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44" name="Google Shape;444;p44"/>
          <p:cNvCxnSpPr/>
          <p:nvPr/>
        </p:nvCxnSpPr>
        <p:spPr>
          <a:xfrm>
            <a:off x="361315" y="4232257"/>
            <a:ext cx="3143885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5" name="Google Shape;445;p44"/>
          <p:cNvSpPr txBox="1"/>
          <p:nvPr/>
        </p:nvSpPr>
        <p:spPr>
          <a:xfrm>
            <a:off x="3600145" y="2728923"/>
            <a:ext cx="2439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ENROLMENT:</a:t>
            </a:r>
            <a:endParaRPr/>
          </a:p>
        </p:txBody>
      </p:sp>
      <p:graphicFrame>
        <p:nvGraphicFramePr>
          <p:cNvPr id="446" name="Google Shape;446;p44"/>
          <p:cNvGraphicFramePr/>
          <p:nvPr/>
        </p:nvGraphicFramePr>
        <p:xfrm>
          <a:off x="3698363" y="3200400"/>
          <a:ext cx="5029375" cy="1210150"/>
        </p:xfrm>
        <a:graphic>
          <a:graphicData uri="http://schemas.openxmlformats.org/drawingml/2006/table">
            <a:tbl>
              <a:tblPr firstRow="1" bandRow="1">
                <a:noFill/>
                <a:tableStyleId>{B4CB57D6-DAAD-448C-99C0-6A4ED7C75D9A}</a:tableStyleId>
              </a:tblPr>
              <a:tblGrid>
                <a:gridCol w="100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Enrolment#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Supervisee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Supervisor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Department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AU" sz="12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Degree</a:t>
                      </a:r>
                      <a:endParaRPr sz="1200"/>
                    </a:p>
                  </a:txBody>
                  <a:tcPr marL="59150" marR="59150" marT="29575" marB="29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1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1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2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Psychology</a:t>
                      </a:r>
                      <a:endParaRPr sz="1200"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200"/>
                    </a:p>
                  </a:txBody>
                  <a:tcPr marL="59150" marR="59150" marT="29575" marB="29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2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3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1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200"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Ph.D. </a:t>
                      </a:r>
                      <a:endParaRPr sz="1200"/>
                    </a:p>
                  </a:txBody>
                  <a:tcPr marL="59150" marR="59150" marT="29575" marB="29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3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4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1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200"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200"/>
                    </a:p>
                  </a:txBody>
                  <a:tcPr marL="59150" marR="59150" marT="29575" marB="29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4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5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200"/>
                        <a:t>1</a:t>
                      </a:r>
                      <a:endParaRPr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Comp.Sci.</a:t>
                      </a:r>
                      <a:endParaRPr sz="1200"/>
                    </a:p>
                  </a:txBody>
                  <a:tcPr marL="59150" marR="59150" marT="29575" marB="29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M.Sc.</a:t>
                      </a:r>
                      <a:endParaRPr sz="1200"/>
                    </a:p>
                  </a:txBody>
                  <a:tcPr marL="59150" marR="59150" marT="29575" marB="29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b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Deletion: Constraint Checks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45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000"/>
              <a:t>We do need to delete tuples from relations sometimes, and it’s possible for the record to referred in other relations. </a:t>
            </a:r>
            <a:endParaRPr sz="2000"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 sz="2000"/>
              <a:t>What can we do?</a:t>
            </a:r>
            <a:endParaRPr sz="2000"/>
          </a:p>
          <a:p>
            <a:pPr marL="342900" lvl="0" indent="-3683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Calibri"/>
              <a:buAutoNum type="arabicPeriod"/>
            </a:pPr>
            <a:r>
              <a:rPr lang="en-AU" sz="2200"/>
              <a:t>Delete it (</a:t>
            </a:r>
            <a:r>
              <a:rPr lang="en-AU" sz="2200" i="1"/>
              <a:t>this requires another integrity check, possibly causing a cascade of deletions</a:t>
            </a:r>
            <a:r>
              <a:rPr lang="en-AU" sz="2200"/>
              <a:t>), </a:t>
            </a:r>
            <a:r>
              <a:rPr lang="en-AU" sz="2200" b="1"/>
              <a:t>or</a:t>
            </a:r>
            <a:endParaRPr sz="2200" b="1"/>
          </a:p>
          <a:p>
            <a:pPr marL="342900" lvl="0" indent="-3683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Calibri"/>
              <a:buAutoNum type="arabicPeriod"/>
            </a:pPr>
            <a:r>
              <a:rPr lang="en-AU" sz="2200"/>
              <a:t>Set foreign key value to NULL (</a:t>
            </a:r>
            <a:r>
              <a:rPr lang="en-AU" sz="2200" i="1"/>
              <a:t>note this can’t be done if it is part of a primary key</a:t>
            </a:r>
            <a:r>
              <a:rPr lang="en-AU" sz="2200"/>
              <a:t>) or other values</a:t>
            </a:r>
            <a:endParaRPr sz="2200"/>
          </a:p>
        </p:txBody>
      </p:sp>
      <p:sp>
        <p:nvSpPr>
          <p:cNvPr id="454" name="Google Shape;454;p4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6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 sz="4800">
                <a:latin typeface="Times New Roman"/>
                <a:ea typeface="Times New Roman"/>
                <a:cs typeface="Times New Roman"/>
                <a:sym typeface="Times New Roman"/>
              </a:rPr>
              <a:t>Modifications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6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200"/>
              <a:t>Can changing a value lead to an invalid state? Not unless you’re modifying the value of a key.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 sz="2200"/>
              <a:t>If the modified attribute is primary key</a:t>
            </a:r>
            <a:endParaRPr sz="2200"/>
          </a:p>
          <a:p>
            <a:pPr marL="669798" lvl="1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AU" sz="2200"/>
              <a:t>the same issues as deleting PK1 and then immediately inserting PK2.</a:t>
            </a:r>
            <a:endParaRPr sz="2200"/>
          </a:p>
          <a:p>
            <a:pPr marL="669798" lvl="1" indent="-311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AU" sz="2200"/>
              <a:t>make sure deletion and insertion don’t violate any steps.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AU" sz="2200"/>
              <a:t>if the modified attribute is foreign key</a:t>
            </a:r>
            <a:endParaRPr sz="2200"/>
          </a:p>
          <a:p>
            <a:pPr marL="669798" lvl="1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AU" sz="2200"/>
              <a:t>check that the new value refers to an existing tuple.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AU" sz="2000"/>
              <a:t>Note: all relational integrity constraints are to do with the key values.</a:t>
            </a:r>
            <a:endParaRPr sz="2000"/>
          </a:p>
        </p:txBody>
      </p:sp>
      <p:sp>
        <p:nvSpPr>
          <p:cNvPr id="462" name="Google Shape;462;p4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8"/>
          <p:cNvSpPr txBox="1">
            <a:spLocks noGrp="1"/>
          </p:cNvSpPr>
          <p:nvPr>
            <p:ph type="body" idx="1"/>
          </p:nvPr>
        </p:nvSpPr>
        <p:spPr>
          <a:xfrm>
            <a:off x="685800" y="1216410"/>
            <a:ext cx="8229600" cy="56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◦"/>
            </a:pPr>
            <a:r>
              <a:rPr lang="en-AU" sz="2400" dirty="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AU" sz="2400" i="1" dirty="0">
                <a:latin typeface="Times New Roman"/>
                <a:ea typeface="Times New Roman"/>
                <a:cs typeface="Times New Roman"/>
                <a:sym typeface="Times New Roman"/>
              </a:rPr>
              <a:t>relational database schema</a:t>
            </a:r>
            <a:r>
              <a:rPr lang="en-AU" sz="2400" dirty="0">
                <a:latin typeface="Times New Roman"/>
                <a:ea typeface="Times New Roman"/>
                <a:cs typeface="Times New Roman"/>
                <a:sym typeface="Times New Roman"/>
              </a:rPr>
              <a:t>, is a set of relation schema {</a:t>
            </a:r>
            <a:r>
              <a:rPr lang="en-AU" sz="2400" i="1" dirty="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AU" sz="2400" i="1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AU" sz="2400" i="1" dirty="0">
                <a:latin typeface="Times New Roman"/>
                <a:ea typeface="Times New Roman"/>
                <a:cs typeface="Times New Roman"/>
                <a:sym typeface="Times New Roman"/>
              </a:rPr>
              <a:t>, . . . ,R</a:t>
            </a:r>
            <a:r>
              <a:rPr lang="en-AU" sz="2400" i="1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AU" sz="2400" dirty="0">
                <a:latin typeface="Times New Roman"/>
                <a:ea typeface="Times New Roman"/>
                <a:cs typeface="Times New Roman"/>
                <a:sym typeface="Times New Roman"/>
              </a:rPr>
              <a:t>} and a set of integrity constraints.</a:t>
            </a:r>
            <a:endParaRPr dirty="0"/>
          </a:p>
          <a:p>
            <a:pPr marL="384048" lvl="1" indent="-304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AU" sz="2400" dirty="0">
                <a:latin typeface="Times New Roman"/>
                <a:ea typeface="Times New Roman"/>
                <a:cs typeface="Times New Roman"/>
                <a:sym typeface="Times New Roman"/>
              </a:rPr>
              <a:t>A relational database instance is a set of relation instances {</a:t>
            </a:r>
            <a:r>
              <a:rPr lang="en-AU" sz="2400" i="1" dirty="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AU" sz="2400" i="1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AU" sz="2400" i="1" dirty="0">
                <a:latin typeface="Times New Roman"/>
                <a:ea typeface="Times New Roman"/>
                <a:cs typeface="Times New Roman"/>
                <a:sym typeface="Times New Roman"/>
              </a:rPr>
              <a:t>, . . . , r</a:t>
            </a:r>
            <a:r>
              <a:rPr lang="en-AU" sz="2400" i="1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AU" sz="2400" dirty="0">
                <a:latin typeface="Times New Roman"/>
                <a:ea typeface="Times New Roman"/>
                <a:cs typeface="Times New Roman"/>
                <a:sym typeface="Times New Roman"/>
              </a:rPr>
              <a:t>} such that each </a:t>
            </a:r>
            <a:r>
              <a:rPr lang="en-AU" sz="2400" i="1" dirty="0" err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AU" sz="2400" i="1" baseline="-25000" dirty="0" err="1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AU" sz="2400" dirty="0">
                <a:latin typeface="Times New Roman"/>
                <a:ea typeface="Times New Roman"/>
                <a:cs typeface="Times New Roman"/>
                <a:sym typeface="Times New Roman"/>
              </a:rPr>
              <a:t> is an instance of </a:t>
            </a:r>
            <a:r>
              <a:rPr lang="en-AU" sz="2400" i="1" dirty="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AU" sz="2400" i="1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AU" sz="2400" i="1" dirty="0">
                <a:latin typeface="Times New Roman"/>
                <a:ea typeface="Times New Roman"/>
                <a:cs typeface="Times New Roman"/>
                <a:sym typeface="Times New Roman"/>
              </a:rPr>
              <a:t> , </a:t>
            </a:r>
            <a:r>
              <a:rPr lang="en-AU" sz="2400" dirty="0">
                <a:latin typeface="Times New Roman"/>
                <a:ea typeface="Times New Roman"/>
                <a:cs typeface="Times New Roman"/>
                <a:sym typeface="Times New Roman"/>
              </a:rPr>
              <a:t>and the integrity constraints are satisfied.</a:t>
            </a:r>
            <a:endParaRPr dirty="0"/>
          </a:p>
        </p:txBody>
      </p:sp>
      <p:sp>
        <p:nvSpPr>
          <p:cNvPr id="475" name="Google Shape;475;p48"/>
          <p:cNvSpPr txBox="1">
            <a:spLocks noGrp="1"/>
          </p:cNvSpPr>
          <p:nvPr>
            <p:ph type="sldNum" idx="4294967295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32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476" name="Google Shape;476;p48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87630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Relational database definition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9"/>
          <p:cNvSpPr txBox="1">
            <a:spLocks noGrp="1"/>
          </p:cNvSpPr>
          <p:nvPr>
            <p:ph type="title"/>
          </p:nvPr>
        </p:nvSpPr>
        <p:spPr>
          <a:xfrm>
            <a:off x="822960" y="228601"/>
            <a:ext cx="754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>
                <a:latin typeface="Times New Roman"/>
                <a:ea typeface="Times New Roman"/>
                <a:cs typeface="Times New Roman"/>
                <a:sym typeface="Times New Roman"/>
              </a:rPr>
              <a:t>ER to Relational Data Model Mapping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49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75438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One technique for database design is to first design a conceptual schema using a high-level data model, and then map it to a conceptual schema in the DBMS data model for the chosen DBMS.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Here we look at a way to do this mapping from the ER to the relational data model.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It involves the following </a:t>
            </a:r>
            <a:r>
              <a:rPr lang="en-AU" b="1">
                <a:latin typeface="Times New Roman"/>
                <a:ea typeface="Times New Roman"/>
                <a:cs typeface="Times New Roman"/>
                <a:sym typeface="Times New Roman"/>
              </a:rPr>
              <a:t>7 steps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49"/>
          <p:cNvSpPr txBox="1">
            <a:spLocks noGrp="1"/>
          </p:cNvSpPr>
          <p:nvPr>
            <p:ph type="sldNum" idx="4294967295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0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40"/>
              <a:buFont typeface="Cambria"/>
              <a:buNone/>
            </a:pPr>
            <a:r>
              <a:rPr lang="en-AU" sz="3040"/>
              <a:t>Mapping ER to Relational: Guiding Example</a:t>
            </a:r>
            <a:endParaRPr sz="3040"/>
          </a:p>
        </p:txBody>
      </p:sp>
      <p:sp>
        <p:nvSpPr>
          <p:cNvPr id="490" name="Google Shape;490;p5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34</a:t>
            </a:fld>
            <a:endParaRPr/>
          </a:p>
        </p:txBody>
      </p:sp>
      <p:grpSp>
        <p:nvGrpSpPr>
          <p:cNvPr id="491" name="Google Shape;491;p50"/>
          <p:cNvGrpSpPr/>
          <p:nvPr/>
        </p:nvGrpSpPr>
        <p:grpSpPr>
          <a:xfrm>
            <a:off x="814387" y="1143000"/>
            <a:ext cx="7515226" cy="4815111"/>
            <a:chOff x="409575" y="304800"/>
            <a:chExt cx="8771072" cy="5619750"/>
          </a:xfrm>
        </p:grpSpPr>
        <p:sp>
          <p:nvSpPr>
            <p:cNvPr id="492" name="Google Shape;492;p50"/>
            <p:cNvSpPr/>
            <p:nvPr/>
          </p:nvSpPr>
          <p:spPr>
            <a:xfrm>
              <a:off x="523875" y="666750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3" name="Google Shape;493;p50"/>
            <p:cNvSpPr/>
            <p:nvPr/>
          </p:nvSpPr>
          <p:spPr>
            <a:xfrm>
              <a:off x="1295400" y="1371600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4" name="Google Shape;494;p50"/>
            <p:cNvSpPr/>
            <p:nvPr/>
          </p:nvSpPr>
          <p:spPr>
            <a:xfrm>
              <a:off x="1600200" y="5391150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F49C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5" name="Google Shape;495;p50"/>
            <p:cNvSpPr/>
            <p:nvPr/>
          </p:nvSpPr>
          <p:spPr>
            <a:xfrm>
              <a:off x="6329362" y="5162550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6" name="Google Shape;496;p50"/>
            <p:cNvSpPr/>
            <p:nvPr/>
          </p:nvSpPr>
          <p:spPr>
            <a:xfrm>
              <a:off x="2209800" y="857250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7" name="Google Shape;497;p50"/>
            <p:cNvSpPr/>
            <p:nvPr/>
          </p:nvSpPr>
          <p:spPr>
            <a:xfrm>
              <a:off x="6334125" y="1352550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8" name="Google Shape;498;p50"/>
            <p:cNvSpPr/>
            <p:nvPr/>
          </p:nvSpPr>
          <p:spPr>
            <a:xfrm>
              <a:off x="7777161" y="1302782"/>
              <a:ext cx="985837" cy="535543"/>
            </a:xfrm>
            <a:prstGeom prst="ellipse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9" name="Google Shape;499;p50"/>
            <p:cNvSpPr/>
            <p:nvPr/>
          </p:nvSpPr>
          <p:spPr>
            <a:xfrm>
              <a:off x="3305175" y="438150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0" name="Google Shape;500;p50"/>
            <p:cNvSpPr/>
            <p:nvPr/>
          </p:nvSpPr>
          <p:spPr>
            <a:xfrm>
              <a:off x="7569993" y="5133201"/>
              <a:ext cx="1138236" cy="534948"/>
            </a:xfrm>
            <a:prstGeom prst="ellipse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1" name="Google Shape;501;p50"/>
            <p:cNvSpPr/>
            <p:nvPr/>
          </p:nvSpPr>
          <p:spPr>
            <a:xfrm>
              <a:off x="409575" y="5286375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F49C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2" name="Google Shape;502;p50"/>
            <p:cNvSpPr/>
            <p:nvPr/>
          </p:nvSpPr>
          <p:spPr>
            <a:xfrm>
              <a:off x="2886075" y="5305425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F49C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50"/>
            <p:cNvSpPr/>
            <p:nvPr/>
          </p:nvSpPr>
          <p:spPr>
            <a:xfrm>
              <a:off x="4114800" y="1914525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4" name="Google Shape;504;p50"/>
            <p:cNvSpPr/>
            <p:nvPr/>
          </p:nvSpPr>
          <p:spPr>
            <a:xfrm>
              <a:off x="1185862" y="2152650"/>
              <a:ext cx="1228725" cy="533400"/>
            </a:xfrm>
            <a:prstGeom prst="rect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SSN</a:t>
              </a:r>
              <a:endParaRPr/>
            </a:p>
          </p:txBody>
        </p:sp>
        <p:sp>
          <p:nvSpPr>
            <p:cNvPr id="505" name="Google Shape;505;p50"/>
            <p:cNvSpPr/>
            <p:nvPr/>
          </p:nvSpPr>
          <p:spPr>
            <a:xfrm>
              <a:off x="6557962" y="4019550"/>
              <a:ext cx="1228725" cy="533400"/>
            </a:xfrm>
            <a:prstGeom prst="rect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6" name="Google Shape;506;p50"/>
            <p:cNvSpPr/>
            <p:nvPr/>
          </p:nvSpPr>
          <p:spPr>
            <a:xfrm>
              <a:off x="6753225" y="2143125"/>
              <a:ext cx="1228725" cy="533400"/>
            </a:xfrm>
            <a:prstGeom prst="rect">
              <a:avLst/>
            </a:prstGeom>
            <a:noFill/>
            <a:ln w="15875" cap="flat" cmpd="sng">
              <a:solidFill>
                <a:srgbClr val="A937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7" name="Google Shape;507;p50"/>
            <p:cNvSpPr/>
            <p:nvPr/>
          </p:nvSpPr>
          <p:spPr>
            <a:xfrm>
              <a:off x="1176336" y="4535448"/>
              <a:ext cx="1228725" cy="533400"/>
            </a:xfrm>
            <a:prstGeom prst="rect">
              <a:avLst/>
            </a:prstGeom>
            <a:noFill/>
            <a:ln w="15875" cap="flat" cmpd="sng">
              <a:solidFill>
                <a:srgbClr val="F49C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8" name="Google Shape;508;p50"/>
            <p:cNvSpPr/>
            <p:nvPr/>
          </p:nvSpPr>
          <p:spPr>
            <a:xfrm>
              <a:off x="1042986" y="4459248"/>
              <a:ext cx="1528763" cy="685800"/>
            </a:xfrm>
            <a:prstGeom prst="rect">
              <a:avLst/>
            </a:prstGeom>
            <a:noFill/>
            <a:ln w="15875" cap="flat" cmpd="sng">
              <a:solidFill>
                <a:srgbClr val="F49C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9" name="Google Shape;509;p50"/>
            <p:cNvSpPr/>
            <p:nvPr/>
          </p:nvSpPr>
          <p:spPr>
            <a:xfrm>
              <a:off x="4171950" y="4781550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0" name="Google Shape;510;p50"/>
            <p:cNvSpPr/>
            <p:nvPr/>
          </p:nvSpPr>
          <p:spPr>
            <a:xfrm>
              <a:off x="3924300" y="3619500"/>
              <a:ext cx="1365648" cy="800100"/>
            </a:xfrm>
            <a:prstGeom prst="flowChartDecision">
              <a:avLst/>
            </a:prstGeom>
            <a:noFill/>
            <a:ln w="158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1" name="Google Shape;511;p50"/>
            <p:cNvSpPr/>
            <p:nvPr/>
          </p:nvSpPr>
          <p:spPr>
            <a:xfrm>
              <a:off x="1047748" y="3149084"/>
              <a:ext cx="1504951" cy="914400"/>
            </a:xfrm>
            <a:prstGeom prst="flowChartDecision">
              <a:avLst/>
            </a:prstGeom>
            <a:noFill/>
            <a:ln w="15875" cap="flat" cmpd="sng">
              <a:solidFill>
                <a:srgbClr val="F49C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2" name="Google Shape;512;p50"/>
            <p:cNvSpPr/>
            <p:nvPr/>
          </p:nvSpPr>
          <p:spPr>
            <a:xfrm>
              <a:off x="1228723" y="3263384"/>
              <a:ext cx="1143000" cy="685800"/>
            </a:xfrm>
            <a:prstGeom prst="flowChartDecision">
              <a:avLst/>
            </a:prstGeom>
            <a:noFill/>
            <a:ln w="15875" cap="flat" cmpd="sng">
              <a:solidFill>
                <a:srgbClr val="F49C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3" name="Google Shape;513;p50"/>
            <p:cNvSpPr/>
            <p:nvPr/>
          </p:nvSpPr>
          <p:spPr>
            <a:xfrm>
              <a:off x="3889176" y="2676525"/>
              <a:ext cx="1365648" cy="783193"/>
            </a:xfrm>
            <a:prstGeom prst="flowChartDecision">
              <a:avLst/>
            </a:prstGeom>
            <a:noFill/>
            <a:ln w="158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4" name="Google Shape;514;p50"/>
            <p:cNvSpPr/>
            <p:nvPr/>
          </p:nvSpPr>
          <p:spPr>
            <a:xfrm>
              <a:off x="7134225" y="400050"/>
              <a:ext cx="914400" cy="533400"/>
            </a:xfrm>
            <a:prstGeom prst="ellipse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5" name="Google Shape;515;p50"/>
            <p:cNvSpPr/>
            <p:nvPr/>
          </p:nvSpPr>
          <p:spPr>
            <a:xfrm>
              <a:off x="6924675" y="304800"/>
              <a:ext cx="1276350" cy="723900"/>
            </a:xfrm>
            <a:prstGeom prst="ellipse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6" name="Google Shape;516;p50"/>
            <p:cNvSpPr/>
            <p:nvPr/>
          </p:nvSpPr>
          <p:spPr>
            <a:xfrm>
              <a:off x="3924300" y="1047750"/>
              <a:ext cx="1381124" cy="647700"/>
            </a:xfrm>
            <a:prstGeom prst="flowChartDecision">
              <a:avLst/>
            </a:prstGeom>
            <a:noFill/>
            <a:ln w="15875" cap="flat" cmpd="sng">
              <a:solidFill>
                <a:srgbClr val="FFD7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7" name="Google Shape;517;p50"/>
            <p:cNvSpPr txBox="1"/>
            <p:nvPr/>
          </p:nvSpPr>
          <p:spPr>
            <a:xfrm>
              <a:off x="685800" y="754618"/>
              <a:ext cx="911379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 u="sng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SSN</a:t>
              </a:r>
              <a:endParaRPr/>
            </a:p>
          </p:txBody>
        </p:sp>
        <p:sp>
          <p:nvSpPr>
            <p:cNvPr id="518" name="Google Shape;518;p50"/>
            <p:cNvSpPr txBox="1"/>
            <p:nvPr/>
          </p:nvSpPr>
          <p:spPr>
            <a:xfrm>
              <a:off x="1347785" y="1434584"/>
              <a:ext cx="1166814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Birdate</a:t>
              </a:r>
              <a:endParaRPr/>
            </a:p>
          </p:txBody>
        </p:sp>
        <p:sp>
          <p:nvSpPr>
            <p:cNvPr id="519" name="Google Shape;519;p50"/>
            <p:cNvSpPr txBox="1"/>
            <p:nvPr/>
          </p:nvSpPr>
          <p:spPr>
            <a:xfrm>
              <a:off x="2309812" y="933451"/>
              <a:ext cx="1150147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Fname</a:t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0" name="Google Shape;520;p50"/>
            <p:cNvSpPr txBox="1"/>
            <p:nvPr/>
          </p:nvSpPr>
          <p:spPr>
            <a:xfrm>
              <a:off x="3362325" y="526018"/>
              <a:ext cx="1460577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Lname</a:t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1" name="Google Shape;521;p50"/>
            <p:cNvSpPr txBox="1"/>
            <p:nvPr/>
          </p:nvSpPr>
          <p:spPr>
            <a:xfrm>
              <a:off x="1247775" y="2209800"/>
              <a:ext cx="1497806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Employee</a:t>
              </a:r>
              <a:endParaRPr/>
            </a:p>
          </p:txBody>
        </p:sp>
        <p:sp>
          <p:nvSpPr>
            <p:cNvPr id="522" name="Google Shape;522;p50"/>
            <p:cNvSpPr txBox="1"/>
            <p:nvPr/>
          </p:nvSpPr>
          <p:spPr>
            <a:xfrm>
              <a:off x="4144565" y="1196459"/>
              <a:ext cx="12930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Works_For</a:t>
              </a:r>
              <a:endPara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3" name="Google Shape;523;p50"/>
            <p:cNvSpPr txBox="1"/>
            <p:nvPr/>
          </p:nvSpPr>
          <p:spPr>
            <a:xfrm>
              <a:off x="1426366" y="3421618"/>
              <a:ext cx="1018584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Family</a:t>
              </a:r>
              <a:endParaRPr/>
            </a:p>
          </p:txBody>
        </p:sp>
        <p:sp>
          <p:nvSpPr>
            <p:cNvPr id="524" name="Google Shape;524;p50"/>
            <p:cNvSpPr txBox="1"/>
            <p:nvPr/>
          </p:nvSpPr>
          <p:spPr>
            <a:xfrm>
              <a:off x="1152524" y="4600574"/>
              <a:ext cx="1400175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Dependent</a:t>
              </a:r>
              <a:endParaRPr/>
            </a:p>
          </p:txBody>
        </p:sp>
        <p:sp>
          <p:nvSpPr>
            <p:cNvPr id="525" name="Google Shape;525;p50"/>
            <p:cNvSpPr txBox="1"/>
            <p:nvPr/>
          </p:nvSpPr>
          <p:spPr>
            <a:xfrm>
              <a:off x="433387" y="5373087"/>
              <a:ext cx="992979" cy="520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Fname</a:t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- - - - -</a:t>
              </a:r>
              <a:endParaRPr/>
            </a:p>
          </p:txBody>
        </p:sp>
        <p:sp>
          <p:nvSpPr>
            <p:cNvPr id="526" name="Google Shape;526;p50"/>
            <p:cNvSpPr txBox="1"/>
            <p:nvPr/>
          </p:nvSpPr>
          <p:spPr>
            <a:xfrm>
              <a:off x="1600200" y="5450443"/>
              <a:ext cx="1023936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Birdate</a:t>
              </a:r>
              <a:endParaRPr/>
            </a:p>
          </p:txBody>
        </p:sp>
        <p:sp>
          <p:nvSpPr>
            <p:cNvPr id="527" name="Google Shape;527;p50"/>
            <p:cNvSpPr txBox="1"/>
            <p:nvPr/>
          </p:nvSpPr>
          <p:spPr>
            <a:xfrm>
              <a:off x="2878930" y="5387459"/>
              <a:ext cx="1531143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Relation</a:t>
              </a:r>
              <a:endParaRPr/>
            </a:p>
          </p:txBody>
        </p:sp>
        <p:sp>
          <p:nvSpPr>
            <p:cNvPr id="528" name="Google Shape;528;p50"/>
            <p:cNvSpPr txBox="1"/>
            <p:nvPr/>
          </p:nvSpPr>
          <p:spPr>
            <a:xfrm>
              <a:off x="4163615" y="1996559"/>
              <a:ext cx="9667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Mdate</a:t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p50"/>
            <p:cNvSpPr txBox="1"/>
            <p:nvPr/>
          </p:nvSpPr>
          <p:spPr>
            <a:xfrm>
              <a:off x="4057650" y="2894052"/>
              <a:ext cx="1433511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Manager</a:t>
              </a:r>
              <a:endParaRPr/>
            </a:p>
          </p:txBody>
        </p:sp>
        <p:sp>
          <p:nvSpPr>
            <p:cNvPr id="530" name="Google Shape;530;p50"/>
            <p:cNvSpPr txBox="1"/>
            <p:nvPr/>
          </p:nvSpPr>
          <p:spPr>
            <a:xfrm>
              <a:off x="4092177" y="3865661"/>
              <a:ext cx="13989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Participation</a:t>
              </a:r>
              <a:endParaRPr/>
            </a:p>
          </p:txBody>
        </p:sp>
        <p:sp>
          <p:nvSpPr>
            <p:cNvPr id="531" name="Google Shape;531;p50"/>
            <p:cNvSpPr txBox="1"/>
            <p:nvPr/>
          </p:nvSpPr>
          <p:spPr>
            <a:xfrm>
              <a:off x="4323161" y="4870787"/>
              <a:ext cx="9667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</a:t>
              </a:r>
              <a:endParaRPr/>
            </a:p>
          </p:txBody>
        </p:sp>
        <p:sp>
          <p:nvSpPr>
            <p:cNvPr id="532" name="Google Shape;532;p50"/>
            <p:cNvSpPr txBox="1"/>
            <p:nvPr/>
          </p:nvSpPr>
          <p:spPr>
            <a:xfrm>
              <a:off x="7172324" y="487918"/>
              <a:ext cx="9667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Phone</a:t>
              </a:r>
              <a:endParaRPr/>
            </a:p>
          </p:txBody>
        </p:sp>
        <p:sp>
          <p:nvSpPr>
            <p:cNvPr id="533" name="Google Shape;533;p50"/>
            <p:cNvSpPr txBox="1"/>
            <p:nvPr/>
          </p:nvSpPr>
          <p:spPr>
            <a:xfrm>
              <a:off x="6386512" y="1411843"/>
              <a:ext cx="9667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 u="sng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Name</a:t>
              </a:r>
              <a:endParaRPr/>
            </a:p>
          </p:txBody>
        </p:sp>
        <p:sp>
          <p:nvSpPr>
            <p:cNvPr id="534" name="Google Shape;534;p50"/>
            <p:cNvSpPr txBox="1"/>
            <p:nvPr/>
          </p:nvSpPr>
          <p:spPr>
            <a:xfrm>
              <a:off x="7786688" y="1381125"/>
              <a:ext cx="1393959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Location</a:t>
              </a:r>
              <a:endParaRPr/>
            </a:p>
          </p:txBody>
        </p:sp>
        <p:sp>
          <p:nvSpPr>
            <p:cNvPr id="535" name="Google Shape;535;p50"/>
            <p:cNvSpPr txBox="1"/>
            <p:nvPr/>
          </p:nvSpPr>
          <p:spPr>
            <a:xfrm>
              <a:off x="6705599" y="2225159"/>
              <a:ext cx="1692430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</a:t>
              </a:r>
              <a:endParaRPr/>
            </a:p>
          </p:txBody>
        </p:sp>
        <p:sp>
          <p:nvSpPr>
            <p:cNvPr id="536" name="Google Shape;536;p50"/>
            <p:cNvSpPr txBox="1"/>
            <p:nvPr/>
          </p:nvSpPr>
          <p:spPr>
            <a:xfrm>
              <a:off x="6688929" y="4089916"/>
              <a:ext cx="1228724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</a:t>
              </a:r>
              <a:endParaRPr/>
            </a:p>
          </p:txBody>
        </p:sp>
        <p:sp>
          <p:nvSpPr>
            <p:cNvPr id="537" name="Google Shape;537;p50"/>
            <p:cNvSpPr txBox="1"/>
            <p:nvPr/>
          </p:nvSpPr>
          <p:spPr>
            <a:xfrm>
              <a:off x="6348412" y="5228664"/>
              <a:ext cx="966787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Pname</a:t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8" name="Google Shape;538;p50"/>
            <p:cNvSpPr txBox="1"/>
            <p:nvPr/>
          </p:nvSpPr>
          <p:spPr>
            <a:xfrm>
              <a:off x="7655716" y="5228664"/>
              <a:ext cx="1393959" cy="431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 u="sng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Pnumber</a:t>
              </a:r>
              <a:endParaRPr/>
            </a:p>
          </p:txBody>
        </p:sp>
        <p:cxnSp>
          <p:nvCxnSpPr>
            <p:cNvPr id="539" name="Google Shape;539;p50"/>
            <p:cNvCxnSpPr>
              <a:stCxn id="492" idx="4"/>
            </p:cNvCxnSpPr>
            <p:nvPr/>
          </p:nvCxnSpPr>
          <p:spPr>
            <a:xfrm>
              <a:off x="981075" y="1200150"/>
              <a:ext cx="204900" cy="942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0" name="Google Shape;540;p50"/>
            <p:cNvCxnSpPr>
              <a:stCxn id="493" idx="4"/>
              <a:endCxn id="504" idx="0"/>
            </p:cNvCxnSpPr>
            <p:nvPr/>
          </p:nvCxnSpPr>
          <p:spPr>
            <a:xfrm>
              <a:off x="1752600" y="1905000"/>
              <a:ext cx="47700" cy="2478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1" name="Google Shape;541;p50"/>
            <p:cNvCxnSpPr>
              <a:stCxn id="496" idx="4"/>
            </p:cNvCxnSpPr>
            <p:nvPr/>
          </p:nvCxnSpPr>
          <p:spPr>
            <a:xfrm flipH="1">
              <a:off x="1957500" y="1390650"/>
              <a:ext cx="709500" cy="7488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2" name="Google Shape;542;p50"/>
            <p:cNvCxnSpPr>
              <a:stCxn id="499" idx="4"/>
            </p:cNvCxnSpPr>
            <p:nvPr/>
          </p:nvCxnSpPr>
          <p:spPr>
            <a:xfrm flipH="1">
              <a:off x="2083575" y="971550"/>
              <a:ext cx="1678800" cy="1167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3" name="Google Shape;543;p50"/>
            <p:cNvCxnSpPr>
              <a:stCxn id="516" idx="1"/>
            </p:cNvCxnSpPr>
            <p:nvPr/>
          </p:nvCxnSpPr>
          <p:spPr>
            <a:xfrm flipH="1">
              <a:off x="2419500" y="1371600"/>
              <a:ext cx="1504800" cy="7716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4" name="Google Shape;544;p50"/>
            <p:cNvCxnSpPr/>
            <p:nvPr/>
          </p:nvCxnSpPr>
          <p:spPr>
            <a:xfrm flipH="1">
              <a:off x="2414587" y="1434584"/>
              <a:ext cx="1624013" cy="790575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5" name="Google Shape;545;p50"/>
            <p:cNvCxnSpPr>
              <a:stCxn id="504" idx="2"/>
              <a:endCxn id="511" idx="0"/>
            </p:cNvCxnSpPr>
            <p:nvPr/>
          </p:nvCxnSpPr>
          <p:spPr>
            <a:xfrm>
              <a:off x="1800225" y="2686050"/>
              <a:ext cx="0" cy="462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6" name="Google Shape;546;p50"/>
            <p:cNvCxnSpPr/>
            <p:nvPr/>
          </p:nvCxnSpPr>
          <p:spPr>
            <a:xfrm flipH="1">
              <a:off x="1909761" y="4019549"/>
              <a:ext cx="1" cy="439699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7" name="Google Shape;547;p50"/>
            <p:cNvCxnSpPr/>
            <p:nvPr/>
          </p:nvCxnSpPr>
          <p:spPr>
            <a:xfrm flipH="1">
              <a:off x="866775" y="5175205"/>
              <a:ext cx="428625" cy="101645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8" name="Google Shape;548;p50"/>
            <p:cNvCxnSpPr>
              <a:stCxn id="508" idx="2"/>
              <a:endCxn id="494" idx="0"/>
            </p:cNvCxnSpPr>
            <p:nvPr/>
          </p:nvCxnSpPr>
          <p:spPr>
            <a:xfrm>
              <a:off x="1807368" y="5145048"/>
              <a:ext cx="249900" cy="2460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9" name="Google Shape;549;p50"/>
            <p:cNvCxnSpPr/>
            <p:nvPr/>
          </p:nvCxnSpPr>
          <p:spPr>
            <a:xfrm>
              <a:off x="2083593" y="5162550"/>
              <a:ext cx="1235865" cy="142875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0" name="Google Shape;550;p50"/>
            <p:cNvCxnSpPr>
              <a:endCxn id="510" idx="1"/>
            </p:cNvCxnSpPr>
            <p:nvPr/>
          </p:nvCxnSpPr>
          <p:spPr>
            <a:xfrm>
              <a:off x="2393100" y="2686050"/>
              <a:ext cx="1531200" cy="13335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1" name="Google Shape;551;p50"/>
            <p:cNvCxnSpPr>
              <a:endCxn id="513" idx="1"/>
            </p:cNvCxnSpPr>
            <p:nvPr/>
          </p:nvCxnSpPr>
          <p:spPr>
            <a:xfrm>
              <a:off x="2444976" y="2676622"/>
              <a:ext cx="1444200" cy="3915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2" name="Google Shape;552;p50"/>
            <p:cNvCxnSpPr>
              <a:stCxn id="503" idx="4"/>
              <a:endCxn id="513" idx="0"/>
            </p:cNvCxnSpPr>
            <p:nvPr/>
          </p:nvCxnSpPr>
          <p:spPr>
            <a:xfrm>
              <a:off x="4572000" y="2447925"/>
              <a:ext cx="0" cy="2286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3" name="Google Shape;553;p50"/>
            <p:cNvCxnSpPr>
              <a:endCxn id="509" idx="0"/>
            </p:cNvCxnSpPr>
            <p:nvPr/>
          </p:nvCxnSpPr>
          <p:spPr>
            <a:xfrm>
              <a:off x="4612350" y="4430550"/>
              <a:ext cx="16800" cy="3510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4" name="Google Shape;554;p50"/>
            <p:cNvCxnSpPr/>
            <p:nvPr/>
          </p:nvCxnSpPr>
          <p:spPr>
            <a:xfrm>
              <a:off x="5289948" y="1352550"/>
              <a:ext cx="1463277" cy="828675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5" name="Google Shape;555;p50"/>
            <p:cNvCxnSpPr/>
            <p:nvPr/>
          </p:nvCxnSpPr>
          <p:spPr>
            <a:xfrm flipH="1">
              <a:off x="1752599" y="4030622"/>
              <a:ext cx="1" cy="400051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6" name="Google Shape;556;p50"/>
            <p:cNvCxnSpPr/>
            <p:nvPr/>
          </p:nvCxnSpPr>
          <p:spPr>
            <a:xfrm flipH="1">
              <a:off x="5180406" y="2225159"/>
              <a:ext cx="1572819" cy="790039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7" name="Google Shape;557;p50"/>
            <p:cNvCxnSpPr>
              <a:endCxn id="506" idx="0"/>
            </p:cNvCxnSpPr>
            <p:nvPr/>
          </p:nvCxnSpPr>
          <p:spPr>
            <a:xfrm flipH="1">
              <a:off x="7367588" y="1829925"/>
              <a:ext cx="856200" cy="3132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8" name="Google Shape;558;p50"/>
            <p:cNvCxnSpPr>
              <a:endCxn id="506" idx="0"/>
            </p:cNvCxnSpPr>
            <p:nvPr/>
          </p:nvCxnSpPr>
          <p:spPr>
            <a:xfrm flipH="1">
              <a:off x="7367588" y="1022025"/>
              <a:ext cx="190500" cy="11211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9" name="Google Shape;559;p50"/>
            <p:cNvCxnSpPr>
              <a:endCxn id="506" idx="0"/>
            </p:cNvCxnSpPr>
            <p:nvPr/>
          </p:nvCxnSpPr>
          <p:spPr>
            <a:xfrm>
              <a:off x="7031888" y="1848825"/>
              <a:ext cx="335700" cy="2943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0" name="Google Shape;560;p50"/>
            <p:cNvCxnSpPr/>
            <p:nvPr/>
          </p:nvCxnSpPr>
          <p:spPr>
            <a:xfrm flipH="1">
              <a:off x="6831805" y="4552950"/>
              <a:ext cx="200025" cy="623589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1" name="Google Shape;561;p50"/>
            <p:cNvCxnSpPr/>
            <p:nvPr/>
          </p:nvCxnSpPr>
          <p:spPr>
            <a:xfrm>
              <a:off x="5289948" y="4030622"/>
              <a:ext cx="1268014" cy="47149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2" name="Google Shape;562;p50"/>
            <p:cNvCxnSpPr/>
            <p:nvPr/>
          </p:nvCxnSpPr>
          <p:spPr>
            <a:xfrm rot="10800000" flipH="1">
              <a:off x="5216724" y="2285464"/>
              <a:ext cx="1536501" cy="801172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3" name="Google Shape;563;p50"/>
            <p:cNvCxnSpPr/>
            <p:nvPr/>
          </p:nvCxnSpPr>
          <p:spPr>
            <a:xfrm>
              <a:off x="7398543" y="4552950"/>
              <a:ext cx="740569" cy="606087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64" name="Google Shape;564;p50"/>
            <p:cNvSpPr txBox="1"/>
            <p:nvPr/>
          </p:nvSpPr>
          <p:spPr>
            <a:xfrm>
              <a:off x="3162301" y="1750457"/>
              <a:ext cx="1904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/>
            </a:p>
          </p:txBody>
        </p:sp>
        <p:sp>
          <p:nvSpPr>
            <p:cNvPr id="565" name="Google Shape;565;p50"/>
            <p:cNvSpPr txBox="1"/>
            <p:nvPr/>
          </p:nvSpPr>
          <p:spPr>
            <a:xfrm>
              <a:off x="1438275" y="4015382"/>
              <a:ext cx="1904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/>
            </a:p>
          </p:txBody>
        </p:sp>
        <p:sp>
          <p:nvSpPr>
            <p:cNvPr id="566" name="Google Shape;566;p50"/>
            <p:cNvSpPr txBox="1"/>
            <p:nvPr/>
          </p:nvSpPr>
          <p:spPr>
            <a:xfrm>
              <a:off x="3257550" y="3236952"/>
              <a:ext cx="1904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/>
            </a:p>
          </p:txBody>
        </p:sp>
        <p:sp>
          <p:nvSpPr>
            <p:cNvPr id="567" name="Google Shape;567;p50"/>
            <p:cNvSpPr txBox="1"/>
            <p:nvPr/>
          </p:nvSpPr>
          <p:spPr>
            <a:xfrm>
              <a:off x="5889724" y="3694152"/>
              <a:ext cx="1904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endParaRPr/>
            </a:p>
          </p:txBody>
        </p:sp>
        <p:sp>
          <p:nvSpPr>
            <p:cNvPr id="568" name="Google Shape;568;p50"/>
            <p:cNvSpPr txBox="1"/>
            <p:nvPr/>
          </p:nvSpPr>
          <p:spPr>
            <a:xfrm>
              <a:off x="5871565" y="1186159"/>
              <a:ext cx="1904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569" name="Google Shape;569;p50"/>
            <p:cNvSpPr txBox="1"/>
            <p:nvPr/>
          </p:nvSpPr>
          <p:spPr>
            <a:xfrm>
              <a:off x="5491161" y="2409825"/>
              <a:ext cx="1904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570" name="Google Shape;570;p50"/>
            <p:cNvSpPr txBox="1"/>
            <p:nvPr/>
          </p:nvSpPr>
          <p:spPr>
            <a:xfrm>
              <a:off x="3105150" y="2502991"/>
              <a:ext cx="1904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571" name="Google Shape;571;p50"/>
            <p:cNvSpPr txBox="1"/>
            <p:nvPr/>
          </p:nvSpPr>
          <p:spPr>
            <a:xfrm>
              <a:off x="1524000" y="2732901"/>
              <a:ext cx="1904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1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Mapping Strong Entity Types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51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400"/>
              <a:t>Step 1 : For each </a:t>
            </a:r>
            <a:r>
              <a:rPr lang="en-AU" sz="2400" b="1" i="1"/>
              <a:t>strong entity </a:t>
            </a:r>
            <a:r>
              <a:rPr lang="en-AU" sz="2400"/>
              <a:t>(not weak entity) type E, create a new relation R with</a:t>
            </a:r>
            <a:endParaRPr sz="2400"/>
          </a:p>
          <a:p>
            <a:pPr marL="285750" lvl="0" indent="-3238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AU" sz="2400"/>
              <a:t>Attributes : all </a:t>
            </a:r>
            <a:r>
              <a:rPr lang="en-AU" sz="2400" i="1"/>
              <a:t>simple attributes</a:t>
            </a:r>
            <a:r>
              <a:rPr lang="en-AU" sz="2400"/>
              <a:t> (and simple components of composite attributes) of E.</a:t>
            </a:r>
            <a:endParaRPr sz="2400"/>
          </a:p>
          <a:p>
            <a:pPr marL="285750" lvl="0" indent="-3238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AU" sz="2400"/>
              <a:t>Key : key of E as the </a:t>
            </a:r>
            <a:r>
              <a:rPr lang="en-AU" sz="2400" i="1"/>
              <a:t>primary key</a:t>
            </a:r>
            <a:r>
              <a:rPr lang="en-AU" sz="2400"/>
              <a:t> for the relation. </a:t>
            </a:r>
            <a:endParaRPr sz="2400"/>
          </a:p>
        </p:txBody>
      </p:sp>
      <p:sp>
        <p:nvSpPr>
          <p:cNvPr id="578" name="Google Shape;578;p5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35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36</a:t>
            </a:fld>
            <a:endParaRPr/>
          </a:p>
        </p:txBody>
      </p:sp>
      <p:sp>
        <p:nvSpPr>
          <p:cNvPr id="584" name="Google Shape;584;p52"/>
          <p:cNvSpPr/>
          <p:nvPr/>
        </p:nvSpPr>
        <p:spPr>
          <a:xfrm>
            <a:off x="523875" y="67708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52"/>
          <p:cNvSpPr/>
          <p:nvPr/>
        </p:nvSpPr>
        <p:spPr>
          <a:xfrm>
            <a:off x="1295400" y="138193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52"/>
          <p:cNvSpPr/>
          <p:nvPr/>
        </p:nvSpPr>
        <p:spPr>
          <a:xfrm>
            <a:off x="1600200" y="540148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52"/>
          <p:cNvSpPr/>
          <p:nvPr/>
        </p:nvSpPr>
        <p:spPr>
          <a:xfrm>
            <a:off x="6329362" y="517288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" name="Google Shape;588;p52"/>
          <p:cNvSpPr/>
          <p:nvPr/>
        </p:nvSpPr>
        <p:spPr>
          <a:xfrm>
            <a:off x="2209800" y="86758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52"/>
          <p:cNvSpPr/>
          <p:nvPr/>
        </p:nvSpPr>
        <p:spPr>
          <a:xfrm>
            <a:off x="6334125" y="136288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52"/>
          <p:cNvSpPr/>
          <p:nvPr/>
        </p:nvSpPr>
        <p:spPr>
          <a:xfrm>
            <a:off x="7777161" y="1313117"/>
            <a:ext cx="985837" cy="535543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1" name="Google Shape;591;p52"/>
          <p:cNvSpPr/>
          <p:nvPr/>
        </p:nvSpPr>
        <p:spPr>
          <a:xfrm>
            <a:off x="3305175" y="44848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52"/>
          <p:cNvSpPr/>
          <p:nvPr/>
        </p:nvSpPr>
        <p:spPr>
          <a:xfrm>
            <a:off x="7569993" y="5143536"/>
            <a:ext cx="1138236" cy="534948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3" name="Google Shape;593;p52"/>
          <p:cNvSpPr/>
          <p:nvPr/>
        </p:nvSpPr>
        <p:spPr>
          <a:xfrm>
            <a:off x="409575" y="529671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4" name="Google Shape;594;p52"/>
          <p:cNvSpPr/>
          <p:nvPr/>
        </p:nvSpPr>
        <p:spPr>
          <a:xfrm>
            <a:off x="2886075" y="531576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p52"/>
          <p:cNvSpPr/>
          <p:nvPr/>
        </p:nvSpPr>
        <p:spPr>
          <a:xfrm>
            <a:off x="4114800" y="192486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52"/>
          <p:cNvSpPr/>
          <p:nvPr/>
        </p:nvSpPr>
        <p:spPr>
          <a:xfrm>
            <a:off x="1185862" y="2162985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597" name="Google Shape;597;p52"/>
          <p:cNvSpPr/>
          <p:nvPr/>
        </p:nvSpPr>
        <p:spPr>
          <a:xfrm>
            <a:off x="6557962" y="4029885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52"/>
          <p:cNvSpPr/>
          <p:nvPr/>
        </p:nvSpPr>
        <p:spPr>
          <a:xfrm>
            <a:off x="6753225" y="2153460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52"/>
          <p:cNvSpPr/>
          <p:nvPr/>
        </p:nvSpPr>
        <p:spPr>
          <a:xfrm>
            <a:off x="1176336" y="4545783"/>
            <a:ext cx="1228725" cy="5334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52"/>
          <p:cNvSpPr/>
          <p:nvPr/>
        </p:nvSpPr>
        <p:spPr>
          <a:xfrm>
            <a:off x="1042986" y="4469583"/>
            <a:ext cx="1528763" cy="6858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52"/>
          <p:cNvSpPr/>
          <p:nvPr/>
        </p:nvSpPr>
        <p:spPr>
          <a:xfrm>
            <a:off x="4171950" y="479188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52"/>
          <p:cNvSpPr/>
          <p:nvPr/>
        </p:nvSpPr>
        <p:spPr>
          <a:xfrm>
            <a:off x="3924300" y="3629835"/>
            <a:ext cx="1365648" cy="800100"/>
          </a:xfrm>
          <a:prstGeom prst="flowChartDecision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52"/>
          <p:cNvSpPr/>
          <p:nvPr/>
        </p:nvSpPr>
        <p:spPr>
          <a:xfrm>
            <a:off x="1047748" y="3159419"/>
            <a:ext cx="1504951" cy="9144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4" name="Google Shape;604;p52"/>
          <p:cNvSpPr/>
          <p:nvPr/>
        </p:nvSpPr>
        <p:spPr>
          <a:xfrm>
            <a:off x="1228723" y="3273719"/>
            <a:ext cx="1143000" cy="6858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5" name="Google Shape;605;p52"/>
          <p:cNvSpPr/>
          <p:nvPr/>
        </p:nvSpPr>
        <p:spPr>
          <a:xfrm>
            <a:off x="3889176" y="2686860"/>
            <a:ext cx="1365648" cy="783193"/>
          </a:xfrm>
          <a:prstGeom prst="flowChartDecision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7134225" y="410385"/>
            <a:ext cx="914400" cy="5334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7" name="Google Shape;607;p52"/>
          <p:cNvSpPr/>
          <p:nvPr/>
        </p:nvSpPr>
        <p:spPr>
          <a:xfrm>
            <a:off x="6924675" y="315135"/>
            <a:ext cx="1276350" cy="7239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p52"/>
          <p:cNvSpPr/>
          <p:nvPr/>
        </p:nvSpPr>
        <p:spPr>
          <a:xfrm>
            <a:off x="3924300" y="1058085"/>
            <a:ext cx="1381124" cy="647700"/>
          </a:xfrm>
          <a:prstGeom prst="flowChartDecision">
            <a:avLst/>
          </a:prstGeom>
          <a:noFill/>
          <a:ln w="15875" cap="flat" cmpd="sng">
            <a:solidFill>
              <a:srgbClr val="FFD7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52"/>
          <p:cNvSpPr txBox="1"/>
          <p:nvPr/>
        </p:nvSpPr>
        <p:spPr>
          <a:xfrm>
            <a:off x="685800" y="764953"/>
            <a:ext cx="638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610" name="Google Shape;610;p52"/>
          <p:cNvSpPr txBox="1"/>
          <p:nvPr/>
        </p:nvSpPr>
        <p:spPr>
          <a:xfrm>
            <a:off x="1347787" y="144491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611" name="Google Shape;611;p52"/>
          <p:cNvSpPr txBox="1"/>
          <p:nvPr/>
        </p:nvSpPr>
        <p:spPr>
          <a:xfrm>
            <a:off x="2309812" y="943785"/>
            <a:ext cx="8905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52"/>
          <p:cNvSpPr txBox="1"/>
          <p:nvPr/>
        </p:nvSpPr>
        <p:spPr>
          <a:xfrm>
            <a:off x="3362325" y="536353"/>
            <a:ext cx="828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" name="Google Shape;613;p52"/>
          <p:cNvSpPr txBox="1"/>
          <p:nvPr/>
        </p:nvSpPr>
        <p:spPr>
          <a:xfrm>
            <a:off x="1247775" y="2220135"/>
            <a:ext cx="11715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614" name="Google Shape;614;p52"/>
          <p:cNvSpPr txBox="1"/>
          <p:nvPr/>
        </p:nvSpPr>
        <p:spPr>
          <a:xfrm>
            <a:off x="4144565" y="1206794"/>
            <a:ext cx="12930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Works_For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p52"/>
          <p:cNvSpPr txBox="1"/>
          <p:nvPr/>
        </p:nvSpPr>
        <p:spPr>
          <a:xfrm>
            <a:off x="1426367" y="3431953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</a:t>
            </a:r>
            <a:endParaRPr/>
          </a:p>
        </p:txBody>
      </p:sp>
      <p:sp>
        <p:nvSpPr>
          <p:cNvPr id="616" name="Google Shape;616;p52"/>
          <p:cNvSpPr txBox="1"/>
          <p:nvPr/>
        </p:nvSpPr>
        <p:spPr>
          <a:xfrm>
            <a:off x="1152524" y="4610910"/>
            <a:ext cx="12406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</a:t>
            </a:r>
            <a:endParaRPr/>
          </a:p>
        </p:txBody>
      </p:sp>
      <p:sp>
        <p:nvSpPr>
          <p:cNvPr id="617" name="Google Shape;617;p52"/>
          <p:cNvSpPr txBox="1"/>
          <p:nvPr/>
        </p:nvSpPr>
        <p:spPr>
          <a:xfrm>
            <a:off x="433387" y="5383422"/>
            <a:ext cx="890588" cy="39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- - - - -</a:t>
            </a:r>
            <a:endParaRPr/>
          </a:p>
        </p:txBody>
      </p:sp>
      <p:sp>
        <p:nvSpPr>
          <p:cNvPr id="618" name="Google Shape;618;p52"/>
          <p:cNvSpPr txBox="1"/>
          <p:nvPr/>
        </p:nvSpPr>
        <p:spPr>
          <a:xfrm>
            <a:off x="1600200" y="5460778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619" name="Google Shape;619;p52"/>
          <p:cNvSpPr txBox="1"/>
          <p:nvPr/>
        </p:nvSpPr>
        <p:spPr>
          <a:xfrm>
            <a:off x="2878931" y="5397794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</a:t>
            </a:r>
            <a:endParaRPr/>
          </a:p>
        </p:txBody>
      </p:sp>
      <p:sp>
        <p:nvSpPr>
          <p:cNvPr id="620" name="Google Shape;620;p52"/>
          <p:cNvSpPr txBox="1"/>
          <p:nvPr/>
        </p:nvSpPr>
        <p:spPr>
          <a:xfrm>
            <a:off x="4163615" y="2006894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Mdate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52"/>
          <p:cNvSpPr txBox="1"/>
          <p:nvPr/>
        </p:nvSpPr>
        <p:spPr>
          <a:xfrm>
            <a:off x="4057650" y="2904387"/>
            <a:ext cx="102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</a:t>
            </a:r>
            <a:endParaRPr/>
          </a:p>
        </p:txBody>
      </p:sp>
      <p:sp>
        <p:nvSpPr>
          <p:cNvPr id="622" name="Google Shape;622;p52"/>
          <p:cNvSpPr txBox="1"/>
          <p:nvPr/>
        </p:nvSpPr>
        <p:spPr>
          <a:xfrm>
            <a:off x="4092177" y="3875996"/>
            <a:ext cx="13989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Participation</a:t>
            </a:r>
            <a:endParaRPr/>
          </a:p>
        </p:txBody>
      </p:sp>
      <p:sp>
        <p:nvSpPr>
          <p:cNvPr id="623" name="Google Shape;623;p52"/>
          <p:cNvSpPr txBox="1"/>
          <p:nvPr/>
        </p:nvSpPr>
        <p:spPr>
          <a:xfrm>
            <a:off x="4323161" y="4881122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/>
          </a:p>
        </p:txBody>
      </p:sp>
      <p:sp>
        <p:nvSpPr>
          <p:cNvPr id="624" name="Google Shape;624;p52"/>
          <p:cNvSpPr txBox="1"/>
          <p:nvPr/>
        </p:nvSpPr>
        <p:spPr>
          <a:xfrm>
            <a:off x="7172324" y="498253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</a:t>
            </a:r>
            <a:endParaRPr/>
          </a:p>
        </p:txBody>
      </p:sp>
      <p:sp>
        <p:nvSpPr>
          <p:cNvPr id="625" name="Google Shape;625;p52"/>
          <p:cNvSpPr txBox="1"/>
          <p:nvPr/>
        </p:nvSpPr>
        <p:spPr>
          <a:xfrm>
            <a:off x="6386512" y="1422178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</p:txBody>
      </p:sp>
      <p:sp>
        <p:nvSpPr>
          <p:cNvPr id="626" name="Google Shape;626;p52"/>
          <p:cNvSpPr txBox="1"/>
          <p:nvPr/>
        </p:nvSpPr>
        <p:spPr>
          <a:xfrm>
            <a:off x="7786687" y="1391460"/>
            <a:ext cx="1038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</a:t>
            </a:r>
            <a:endParaRPr/>
          </a:p>
        </p:txBody>
      </p:sp>
      <p:sp>
        <p:nvSpPr>
          <p:cNvPr id="627" name="Google Shape;627;p52"/>
          <p:cNvSpPr txBox="1"/>
          <p:nvPr/>
        </p:nvSpPr>
        <p:spPr>
          <a:xfrm>
            <a:off x="6705600" y="2235494"/>
            <a:ext cx="13858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628" name="Google Shape;628;p52"/>
          <p:cNvSpPr txBox="1"/>
          <p:nvPr/>
        </p:nvSpPr>
        <p:spPr>
          <a:xfrm>
            <a:off x="6688930" y="4100251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sp>
        <p:nvSpPr>
          <p:cNvPr id="629" name="Google Shape;629;p52"/>
          <p:cNvSpPr txBox="1"/>
          <p:nvPr/>
        </p:nvSpPr>
        <p:spPr>
          <a:xfrm>
            <a:off x="6348412" y="523899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52"/>
          <p:cNvSpPr txBox="1"/>
          <p:nvPr/>
        </p:nvSpPr>
        <p:spPr>
          <a:xfrm>
            <a:off x="7627142" y="5238999"/>
            <a:ext cx="1135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Pnumber</a:t>
            </a:r>
            <a:endParaRPr/>
          </a:p>
        </p:txBody>
      </p:sp>
      <p:cxnSp>
        <p:nvCxnSpPr>
          <p:cNvPr id="631" name="Google Shape;631;p52"/>
          <p:cNvCxnSpPr>
            <a:stCxn id="584" idx="4"/>
          </p:cNvCxnSpPr>
          <p:nvPr/>
        </p:nvCxnSpPr>
        <p:spPr>
          <a:xfrm>
            <a:off x="981075" y="1210485"/>
            <a:ext cx="204900" cy="94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2" name="Google Shape;632;p52"/>
          <p:cNvCxnSpPr>
            <a:stCxn id="585" idx="4"/>
            <a:endCxn id="596" idx="0"/>
          </p:cNvCxnSpPr>
          <p:nvPr/>
        </p:nvCxnSpPr>
        <p:spPr>
          <a:xfrm>
            <a:off x="1752600" y="1915335"/>
            <a:ext cx="47700" cy="247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3" name="Google Shape;633;p52"/>
          <p:cNvCxnSpPr>
            <a:stCxn id="588" idx="4"/>
          </p:cNvCxnSpPr>
          <p:nvPr/>
        </p:nvCxnSpPr>
        <p:spPr>
          <a:xfrm flipH="1">
            <a:off x="1957500" y="1400985"/>
            <a:ext cx="709500" cy="748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4" name="Google Shape;634;p52"/>
          <p:cNvCxnSpPr>
            <a:stCxn id="591" idx="4"/>
          </p:cNvCxnSpPr>
          <p:nvPr/>
        </p:nvCxnSpPr>
        <p:spPr>
          <a:xfrm flipH="1">
            <a:off x="2083575" y="981885"/>
            <a:ext cx="1678800" cy="1167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5" name="Google Shape;635;p52"/>
          <p:cNvCxnSpPr>
            <a:stCxn id="608" idx="1"/>
          </p:cNvCxnSpPr>
          <p:nvPr/>
        </p:nvCxnSpPr>
        <p:spPr>
          <a:xfrm flipH="1">
            <a:off x="2419500" y="1381935"/>
            <a:ext cx="1504800" cy="771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6" name="Google Shape;636;p52"/>
          <p:cNvCxnSpPr/>
          <p:nvPr/>
        </p:nvCxnSpPr>
        <p:spPr>
          <a:xfrm flipH="1">
            <a:off x="2414587" y="1444919"/>
            <a:ext cx="1624013" cy="7905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7" name="Google Shape;637;p52"/>
          <p:cNvCxnSpPr>
            <a:stCxn id="596" idx="2"/>
            <a:endCxn id="603" idx="0"/>
          </p:cNvCxnSpPr>
          <p:nvPr/>
        </p:nvCxnSpPr>
        <p:spPr>
          <a:xfrm>
            <a:off x="1800225" y="2696385"/>
            <a:ext cx="0" cy="46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8" name="Google Shape;638;p52"/>
          <p:cNvCxnSpPr/>
          <p:nvPr/>
        </p:nvCxnSpPr>
        <p:spPr>
          <a:xfrm flipH="1">
            <a:off x="1909761" y="4029884"/>
            <a:ext cx="1" cy="43969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9" name="Google Shape;639;p52"/>
          <p:cNvCxnSpPr/>
          <p:nvPr/>
        </p:nvCxnSpPr>
        <p:spPr>
          <a:xfrm flipH="1">
            <a:off x="866775" y="5185540"/>
            <a:ext cx="428625" cy="10164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0" name="Google Shape;640;p52"/>
          <p:cNvCxnSpPr>
            <a:stCxn id="600" idx="2"/>
            <a:endCxn id="586" idx="0"/>
          </p:cNvCxnSpPr>
          <p:nvPr/>
        </p:nvCxnSpPr>
        <p:spPr>
          <a:xfrm>
            <a:off x="1807368" y="5155383"/>
            <a:ext cx="249900" cy="246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1" name="Google Shape;641;p52"/>
          <p:cNvCxnSpPr/>
          <p:nvPr/>
        </p:nvCxnSpPr>
        <p:spPr>
          <a:xfrm>
            <a:off x="2083593" y="5172885"/>
            <a:ext cx="1235865" cy="1428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2" name="Google Shape;642;p52"/>
          <p:cNvCxnSpPr>
            <a:endCxn id="602" idx="1"/>
          </p:cNvCxnSpPr>
          <p:nvPr/>
        </p:nvCxnSpPr>
        <p:spPr>
          <a:xfrm>
            <a:off x="2393100" y="2696385"/>
            <a:ext cx="1531200" cy="1333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3" name="Google Shape;643;p52"/>
          <p:cNvCxnSpPr>
            <a:endCxn id="605" idx="1"/>
          </p:cNvCxnSpPr>
          <p:nvPr/>
        </p:nvCxnSpPr>
        <p:spPr>
          <a:xfrm>
            <a:off x="2444976" y="2686957"/>
            <a:ext cx="1444200" cy="391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4" name="Google Shape;644;p52"/>
          <p:cNvCxnSpPr>
            <a:stCxn id="595" idx="4"/>
            <a:endCxn id="605" idx="0"/>
          </p:cNvCxnSpPr>
          <p:nvPr/>
        </p:nvCxnSpPr>
        <p:spPr>
          <a:xfrm>
            <a:off x="4572000" y="2458260"/>
            <a:ext cx="0" cy="228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5" name="Google Shape;645;p52"/>
          <p:cNvCxnSpPr>
            <a:endCxn id="601" idx="0"/>
          </p:cNvCxnSpPr>
          <p:nvPr/>
        </p:nvCxnSpPr>
        <p:spPr>
          <a:xfrm>
            <a:off x="4612350" y="4440885"/>
            <a:ext cx="16800" cy="351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6" name="Google Shape;646;p52"/>
          <p:cNvCxnSpPr/>
          <p:nvPr/>
        </p:nvCxnSpPr>
        <p:spPr>
          <a:xfrm flipH="1">
            <a:off x="1752599" y="4040957"/>
            <a:ext cx="1" cy="40005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7" name="Google Shape;647;p52"/>
          <p:cNvCxnSpPr/>
          <p:nvPr/>
        </p:nvCxnSpPr>
        <p:spPr>
          <a:xfrm flipH="1">
            <a:off x="5180406" y="2235494"/>
            <a:ext cx="1572819" cy="79003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8" name="Google Shape;648;p52"/>
          <p:cNvCxnSpPr>
            <a:endCxn id="598" idx="0"/>
          </p:cNvCxnSpPr>
          <p:nvPr/>
        </p:nvCxnSpPr>
        <p:spPr>
          <a:xfrm flipH="1">
            <a:off x="7367588" y="1840260"/>
            <a:ext cx="856200" cy="313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9" name="Google Shape;649;p52"/>
          <p:cNvCxnSpPr>
            <a:endCxn id="598" idx="0"/>
          </p:cNvCxnSpPr>
          <p:nvPr/>
        </p:nvCxnSpPr>
        <p:spPr>
          <a:xfrm flipH="1">
            <a:off x="7367588" y="1032360"/>
            <a:ext cx="190500" cy="1121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0" name="Google Shape;650;p52"/>
          <p:cNvCxnSpPr>
            <a:endCxn id="598" idx="0"/>
          </p:cNvCxnSpPr>
          <p:nvPr/>
        </p:nvCxnSpPr>
        <p:spPr>
          <a:xfrm>
            <a:off x="7031888" y="1859160"/>
            <a:ext cx="335700" cy="294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1" name="Google Shape;651;p52"/>
          <p:cNvCxnSpPr/>
          <p:nvPr/>
        </p:nvCxnSpPr>
        <p:spPr>
          <a:xfrm flipH="1">
            <a:off x="6831805" y="4563285"/>
            <a:ext cx="200025" cy="62358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2" name="Google Shape;652;p52"/>
          <p:cNvCxnSpPr/>
          <p:nvPr/>
        </p:nvCxnSpPr>
        <p:spPr>
          <a:xfrm>
            <a:off x="5289948" y="4040957"/>
            <a:ext cx="1268014" cy="4714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3" name="Google Shape;653;p52"/>
          <p:cNvCxnSpPr/>
          <p:nvPr/>
        </p:nvCxnSpPr>
        <p:spPr>
          <a:xfrm rot="10800000" flipH="1">
            <a:off x="5216724" y="2295799"/>
            <a:ext cx="1536501" cy="80117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4" name="Google Shape;654;p52"/>
          <p:cNvCxnSpPr>
            <a:endCxn id="592" idx="0"/>
          </p:cNvCxnSpPr>
          <p:nvPr/>
        </p:nvCxnSpPr>
        <p:spPr>
          <a:xfrm>
            <a:off x="7398411" y="4563336"/>
            <a:ext cx="740700" cy="580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5" name="Google Shape;655;p52"/>
          <p:cNvSpPr txBox="1"/>
          <p:nvPr/>
        </p:nvSpPr>
        <p:spPr>
          <a:xfrm>
            <a:off x="3162301" y="176079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656" name="Google Shape;656;p52"/>
          <p:cNvSpPr txBox="1"/>
          <p:nvPr/>
        </p:nvSpPr>
        <p:spPr>
          <a:xfrm>
            <a:off x="1438275" y="4025717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657" name="Google Shape;657;p52"/>
          <p:cNvSpPr txBox="1"/>
          <p:nvPr/>
        </p:nvSpPr>
        <p:spPr>
          <a:xfrm>
            <a:off x="3257550" y="3247287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658" name="Google Shape;658;p52"/>
          <p:cNvSpPr txBox="1"/>
          <p:nvPr/>
        </p:nvSpPr>
        <p:spPr>
          <a:xfrm>
            <a:off x="5889724" y="3704487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sp>
        <p:nvSpPr>
          <p:cNvPr id="659" name="Google Shape;659;p52"/>
          <p:cNvSpPr txBox="1"/>
          <p:nvPr/>
        </p:nvSpPr>
        <p:spPr>
          <a:xfrm>
            <a:off x="5871565" y="1196494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60" name="Google Shape;660;p52"/>
          <p:cNvSpPr txBox="1"/>
          <p:nvPr/>
        </p:nvSpPr>
        <p:spPr>
          <a:xfrm>
            <a:off x="5491161" y="2420160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61" name="Google Shape;661;p52"/>
          <p:cNvSpPr txBox="1"/>
          <p:nvPr/>
        </p:nvSpPr>
        <p:spPr>
          <a:xfrm>
            <a:off x="3105150" y="2513326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62" name="Google Shape;662;p52"/>
          <p:cNvSpPr txBox="1"/>
          <p:nvPr/>
        </p:nvSpPr>
        <p:spPr>
          <a:xfrm>
            <a:off x="1524000" y="2743236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63" name="Google Shape;663;p52"/>
          <p:cNvSpPr/>
          <p:nvPr/>
        </p:nvSpPr>
        <p:spPr>
          <a:xfrm>
            <a:off x="272275" y="228600"/>
            <a:ext cx="4833595" cy="2883088"/>
          </a:xfrm>
          <a:custGeom>
            <a:avLst/>
            <a:gdLst/>
            <a:ahLst/>
            <a:cxnLst/>
            <a:rect l="l" t="t" r="r" b="b"/>
            <a:pathLst>
              <a:path w="4833595" h="2883088" extrusionOk="0">
                <a:moveTo>
                  <a:pt x="765950" y="143685"/>
                </a:moveTo>
                <a:cubicBezTo>
                  <a:pt x="70625" y="196072"/>
                  <a:pt x="221437" y="-80152"/>
                  <a:pt x="146825" y="343710"/>
                </a:cubicBezTo>
                <a:cubicBezTo>
                  <a:pt x="72213" y="767572"/>
                  <a:pt x="-221475" y="2316973"/>
                  <a:pt x="318275" y="2686860"/>
                </a:cubicBezTo>
                <a:cubicBezTo>
                  <a:pt x="858025" y="3056748"/>
                  <a:pt x="2867800" y="2839260"/>
                  <a:pt x="3385325" y="2563035"/>
                </a:cubicBezTo>
                <a:cubicBezTo>
                  <a:pt x="3902850" y="2286810"/>
                  <a:pt x="3201175" y="1339073"/>
                  <a:pt x="3423425" y="1029510"/>
                </a:cubicBezTo>
                <a:cubicBezTo>
                  <a:pt x="3645675" y="719947"/>
                  <a:pt x="4569600" y="872347"/>
                  <a:pt x="4718825" y="705660"/>
                </a:cubicBezTo>
                <a:cubicBezTo>
                  <a:pt x="4868050" y="538973"/>
                  <a:pt x="4982350" y="123047"/>
                  <a:pt x="4318775" y="29385"/>
                </a:cubicBezTo>
                <a:cubicBezTo>
                  <a:pt x="3655200" y="-64277"/>
                  <a:pt x="1461275" y="91298"/>
                  <a:pt x="765950" y="143685"/>
                </a:cubicBezTo>
                <a:close/>
              </a:path>
            </a:pathLst>
          </a:cu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52"/>
          <p:cNvSpPr/>
          <p:nvPr/>
        </p:nvSpPr>
        <p:spPr>
          <a:xfrm>
            <a:off x="5850116" y="33089"/>
            <a:ext cx="3223952" cy="3064193"/>
          </a:xfrm>
          <a:custGeom>
            <a:avLst/>
            <a:gdLst/>
            <a:ahLst/>
            <a:cxnLst/>
            <a:rect l="l" t="t" r="r" b="b"/>
            <a:pathLst>
              <a:path w="3223952" h="2103488" extrusionOk="0">
                <a:moveTo>
                  <a:pt x="322084" y="111916"/>
                </a:moveTo>
                <a:cubicBezTo>
                  <a:pt x="815797" y="-38897"/>
                  <a:pt x="2687459" y="-56359"/>
                  <a:pt x="3074809" y="178591"/>
                </a:cubicBezTo>
                <a:cubicBezTo>
                  <a:pt x="3462159" y="413541"/>
                  <a:pt x="3014484" y="1202529"/>
                  <a:pt x="2646184" y="1521616"/>
                </a:cubicBezTo>
                <a:cubicBezTo>
                  <a:pt x="2277884" y="1840703"/>
                  <a:pt x="1287284" y="2166141"/>
                  <a:pt x="865009" y="2093116"/>
                </a:cubicBezTo>
                <a:cubicBezTo>
                  <a:pt x="442734" y="2020091"/>
                  <a:pt x="198259" y="1413666"/>
                  <a:pt x="112534" y="1083466"/>
                </a:cubicBezTo>
                <a:cubicBezTo>
                  <a:pt x="26809" y="753266"/>
                  <a:pt x="-171629" y="262729"/>
                  <a:pt x="322084" y="111916"/>
                </a:cubicBezTo>
                <a:close/>
              </a:path>
            </a:pathLst>
          </a:cu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2"/>
          <p:cNvSpPr/>
          <p:nvPr/>
        </p:nvSpPr>
        <p:spPr>
          <a:xfrm>
            <a:off x="5740724" y="3526387"/>
            <a:ext cx="3396415" cy="2265623"/>
          </a:xfrm>
          <a:custGeom>
            <a:avLst/>
            <a:gdLst/>
            <a:ahLst/>
            <a:cxnLst/>
            <a:rect l="l" t="t" r="r" b="b"/>
            <a:pathLst>
              <a:path w="3396415" h="2265623" extrusionOk="0">
                <a:moveTo>
                  <a:pt x="602926" y="151073"/>
                </a:moveTo>
                <a:cubicBezTo>
                  <a:pt x="1025201" y="-196590"/>
                  <a:pt x="2292026" y="163773"/>
                  <a:pt x="2707951" y="170123"/>
                </a:cubicBezTo>
                <a:cubicBezTo>
                  <a:pt x="3123876" y="176473"/>
                  <a:pt x="3019101" y="-160077"/>
                  <a:pt x="3098476" y="189173"/>
                </a:cubicBezTo>
                <a:cubicBezTo>
                  <a:pt x="3177851" y="538423"/>
                  <a:pt x="3671563" y="1921136"/>
                  <a:pt x="3184201" y="2265623"/>
                </a:cubicBezTo>
                <a:cubicBezTo>
                  <a:pt x="2696839" y="2610110"/>
                  <a:pt x="598163" y="2606935"/>
                  <a:pt x="174301" y="2256098"/>
                </a:cubicBezTo>
                <a:cubicBezTo>
                  <a:pt x="-249561" y="1905261"/>
                  <a:pt x="180651" y="498736"/>
                  <a:pt x="602926" y="151073"/>
                </a:cubicBezTo>
                <a:close/>
              </a:path>
            </a:pathLst>
          </a:cu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6" name="Google Shape;666;p52"/>
          <p:cNvCxnSpPr/>
          <p:nvPr/>
        </p:nvCxnSpPr>
        <p:spPr>
          <a:xfrm>
            <a:off x="5289948" y="1362885"/>
            <a:ext cx="1463277" cy="8286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7" name="Google Shape;667;p52"/>
          <p:cNvSpPr txBox="1"/>
          <p:nvPr/>
        </p:nvSpPr>
        <p:spPr>
          <a:xfrm>
            <a:off x="175020" y="6414436"/>
            <a:ext cx="7543800" cy="38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None/>
            </a:pPr>
            <a:r>
              <a:rPr lang="en-AU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Strong Entity Types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3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Mapping Strong Entity Types</a:t>
            </a:r>
            <a:endParaRPr/>
          </a:p>
        </p:txBody>
      </p:sp>
      <p:sp>
        <p:nvSpPr>
          <p:cNvPr id="673" name="Google Shape;673;p5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37</a:t>
            </a:fld>
            <a:endParaRPr/>
          </a:p>
        </p:txBody>
      </p:sp>
      <p:graphicFrame>
        <p:nvGraphicFramePr>
          <p:cNvPr id="674" name="Google Shape;674;p53"/>
          <p:cNvGraphicFramePr/>
          <p:nvPr/>
        </p:nvGraphicFramePr>
        <p:xfrm>
          <a:off x="2209800" y="2108691"/>
          <a:ext cx="3901400" cy="5080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9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SSN</a:t>
                      </a:r>
                      <a:endParaRPr sz="1800" u="sng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Fname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Lname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Birdate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5" name="Google Shape;675;p53"/>
          <p:cNvGraphicFramePr/>
          <p:nvPr/>
        </p:nvGraphicFramePr>
        <p:xfrm>
          <a:off x="2209800" y="3226291"/>
          <a:ext cx="2032000" cy="5334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6" name="Google Shape;676;p53"/>
          <p:cNvGraphicFramePr/>
          <p:nvPr/>
        </p:nvGraphicFramePr>
        <p:xfrm>
          <a:off x="2209800" y="4394691"/>
          <a:ext cx="2133600" cy="4318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Pnumber</a:t>
                      </a:r>
                      <a:endParaRPr sz="1800" u="sng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7" name="Google Shape;677;p53"/>
          <p:cNvSpPr txBox="1"/>
          <p:nvPr/>
        </p:nvSpPr>
        <p:spPr>
          <a:xfrm>
            <a:off x="2133600" y="1651491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678" name="Google Shape;678;p53"/>
          <p:cNvSpPr txBox="1"/>
          <p:nvPr/>
        </p:nvSpPr>
        <p:spPr>
          <a:xfrm>
            <a:off x="2190750" y="2837909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679" name="Google Shape;679;p53"/>
          <p:cNvSpPr txBox="1"/>
          <p:nvPr/>
        </p:nvSpPr>
        <p:spPr>
          <a:xfrm>
            <a:off x="2152650" y="3988291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sp>
        <p:nvSpPr>
          <p:cNvPr id="680" name="Google Shape;680;p53"/>
          <p:cNvSpPr txBox="1"/>
          <p:nvPr/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endParaRPr sz="36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175020" y="6414436"/>
            <a:ext cx="7543800" cy="38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None/>
            </a:pPr>
            <a:r>
              <a:rPr lang="en-AU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Strong Entity Types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4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Mapping Weak Entity Types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54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400"/>
              <a:t>Step 2 : For each </a:t>
            </a:r>
            <a:r>
              <a:rPr lang="en-AU" sz="2400" b="1" i="1"/>
              <a:t>weak entity type </a:t>
            </a:r>
            <a:r>
              <a:rPr lang="en-AU" sz="2400"/>
              <a:t>W with the owner entity type E, create a new relation R with</a:t>
            </a:r>
            <a:endParaRPr sz="2400"/>
          </a:p>
          <a:p>
            <a:pPr marL="384048" lvl="1" indent="-2209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Attributes : </a:t>
            </a:r>
            <a:endParaRPr sz="2400"/>
          </a:p>
          <a:p>
            <a:pPr marL="566928" lvl="2" indent="-2209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all simple attributes (and simple components of composite attributes) of W, </a:t>
            </a:r>
            <a:endParaRPr sz="2400"/>
          </a:p>
          <a:p>
            <a:pPr marL="566928" lvl="2" indent="-2209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and include the primary key attributes of the relation derived from E as the foreign key.</a:t>
            </a:r>
            <a:endParaRPr sz="2400"/>
          </a:p>
          <a:p>
            <a:pPr marL="384048" lvl="1" indent="-2209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Key of R: foreign key to E and partial key of W.</a:t>
            </a:r>
            <a:endParaRPr sz="2400"/>
          </a:p>
        </p:txBody>
      </p:sp>
      <p:sp>
        <p:nvSpPr>
          <p:cNvPr id="689" name="Google Shape;689;p5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38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39</a:t>
            </a:fld>
            <a:endParaRPr/>
          </a:p>
        </p:txBody>
      </p:sp>
      <p:sp>
        <p:nvSpPr>
          <p:cNvPr id="695" name="Google Shape;695;p55"/>
          <p:cNvSpPr/>
          <p:nvPr/>
        </p:nvSpPr>
        <p:spPr>
          <a:xfrm>
            <a:off x="648594" y="569143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55"/>
          <p:cNvSpPr/>
          <p:nvPr/>
        </p:nvSpPr>
        <p:spPr>
          <a:xfrm>
            <a:off x="1420119" y="1273993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55"/>
          <p:cNvSpPr/>
          <p:nvPr/>
        </p:nvSpPr>
        <p:spPr>
          <a:xfrm>
            <a:off x="1724919" y="5293543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8" name="Google Shape;698;p55"/>
          <p:cNvSpPr/>
          <p:nvPr/>
        </p:nvSpPr>
        <p:spPr>
          <a:xfrm>
            <a:off x="6454081" y="5064943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55"/>
          <p:cNvSpPr/>
          <p:nvPr/>
        </p:nvSpPr>
        <p:spPr>
          <a:xfrm>
            <a:off x="2334519" y="759643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55"/>
          <p:cNvSpPr/>
          <p:nvPr/>
        </p:nvSpPr>
        <p:spPr>
          <a:xfrm>
            <a:off x="6458844" y="1254943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1" name="Google Shape;701;p55"/>
          <p:cNvSpPr/>
          <p:nvPr/>
        </p:nvSpPr>
        <p:spPr>
          <a:xfrm>
            <a:off x="7901880" y="1205175"/>
            <a:ext cx="985837" cy="535543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p55"/>
          <p:cNvSpPr/>
          <p:nvPr/>
        </p:nvSpPr>
        <p:spPr>
          <a:xfrm>
            <a:off x="3429894" y="340543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55"/>
          <p:cNvSpPr/>
          <p:nvPr/>
        </p:nvSpPr>
        <p:spPr>
          <a:xfrm>
            <a:off x="7694712" y="5035594"/>
            <a:ext cx="1138236" cy="534948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55"/>
          <p:cNvSpPr/>
          <p:nvPr/>
        </p:nvSpPr>
        <p:spPr>
          <a:xfrm>
            <a:off x="534294" y="5188768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55"/>
          <p:cNvSpPr/>
          <p:nvPr/>
        </p:nvSpPr>
        <p:spPr>
          <a:xfrm>
            <a:off x="3010794" y="5207818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55"/>
          <p:cNvSpPr/>
          <p:nvPr/>
        </p:nvSpPr>
        <p:spPr>
          <a:xfrm>
            <a:off x="4239519" y="1816918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55"/>
          <p:cNvSpPr/>
          <p:nvPr/>
        </p:nvSpPr>
        <p:spPr>
          <a:xfrm>
            <a:off x="1310581" y="2055043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708" name="Google Shape;708;p55"/>
          <p:cNvSpPr/>
          <p:nvPr/>
        </p:nvSpPr>
        <p:spPr>
          <a:xfrm>
            <a:off x="6682681" y="3921943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55"/>
          <p:cNvSpPr/>
          <p:nvPr/>
        </p:nvSpPr>
        <p:spPr>
          <a:xfrm>
            <a:off x="6877944" y="2045518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55"/>
          <p:cNvSpPr/>
          <p:nvPr/>
        </p:nvSpPr>
        <p:spPr>
          <a:xfrm>
            <a:off x="1301055" y="4437841"/>
            <a:ext cx="1228725" cy="5334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1" name="Google Shape;711;p55"/>
          <p:cNvSpPr/>
          <p:nvPr/>
        </p:nvSpPr>
        <p:spPr>
          <a:xfrm>
            <a:off x="1167705" y="4361641"/>
            <a:ext cx="1528763" cy="6858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55"/>
          <p:cNvSpPr/>
          <p:nvPr/>
        </p:nvSpPr>
        <p:spPr>
          <a:xfrm>
            <a:off x="4296669" y="4683943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3" name="Google Shape;713;p55"/>
          <p:cNvSpPr/>
          <p:nvPr/>
        </p:nvSpPr>
        <p:spPr>
          <a:xfrm>
            <a:off x="4049019" y="3521893"/>
            <a:ext cx="1365648" cy="800100"/>
          </a:xfrm>
          <a:prstGeom prst="flowChartDecision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4" name="Google Shape;714;p55"/>
          <p:cNvSpPr/>
          <p:nvPr/>
        </p:nvSpPr>
        <p:spPr>
          <a:xfrm>
            <a:off x="1172467" y="3051477"/>
            <a:ext cx="1504951" cy="9144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55"/>
          <p:cNvSpPr/>
          <p:nvPr/>
        </p:nvSpPr>
        <p:spPr>
          <a:xfrm>
            <a:off x="1353442" y="3165777"/>
            <a:ext cx="1143000" cy="6858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55"/>
          <p:cNvSpPr/>
          <p:nvPr/>
        </p:nvSpPr>
        <p:spPr>
          <a:xfrm>
            <a:off x="4013895" y="2578918"/>
            <a:ext cx="1365648" cy="783193"/>
          </a:xfrm>
          <a:prstGeom prst="flowChartDecision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55"/>
          <p:cNvSpPr/>
          <p:nvPr/>
        </p:nvSpPr>
        <p:spPr>
          <a:xfrm>
            <a:off x="7258944" y="302443"/>
            <a:ext cx="914400" cy="5334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55"/>
          <p:cNvSpPr/>
          <p:nvPr/>
        </p:nvSpPr>
        <p:spPr>
          <a:xfrm>
            <a:off x="7049394" y="207193"/>
            <a:ext cx="1276350" cy="7239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55"/>
          <p:cNvSpPr/>
          <p:nvPr/>
        </p:nvSpPr>
        <p:spPr>
          <a:xfrm>
            <a:off x="4049019" y="950143"/>
            <a:ext cx="1381124" cy="647700"/>
          </a:xfrm>
          <a:prstGeom prst="flowChartDecision">
            <a:avLst/>
          </a:prstGeom>
          <a:noFill/>
          <a:ln w="15875" cap="flat" cmpd="sng">
            <a:solidFill>
              <a:srgbClr val="FFD7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55"/>
          <p:cNvSpPr txBox="1"/>
          <p:nvPr/>
        </p:nvSpPr>
        <p:spPr>
          <a:xfrm>
            <a:off x="810519" y="657011"/>
            <a:ext cx="638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721" name="Google Shape;721;p55"/>
          <p:cNvSpPr txBox="1"/>
          <p:nvPr/>
        </p:nvSpPr>
        <p:spPr>
          <a:xfrm>
            <a:off x="1472506" y="1336977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722" name="Google Shape;722;p55"/>
          <p:cNvSpPr txBox="1"/>
          <p:nvPr/>
        </p:nvSpPr>
        <p:spPr>
          <a:xfrm>
            <a:off x="2434531" y="835843"/>
            <a:ext cx="8905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55"/>
          <p:cNvSpPr txBox="1"/>
          <p:nvPr/>
        </p:nvSpPr>
        <p:spPr>
          <a:xfrm>
            <a:off x="3487044" y="428411"/>
            <a:ext cx="828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55"/>
          <p:cNvSpPr txBox="1"/>
          <p:nvPr/>
        </p:nvSpPr>
        <p:spPr>
          <a:xfrm>
            <a:off x="1372494" y="2112193"/>
            <a:ext cx="11715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725" name="Google Shape;725;p55"/>
          <p:cNvSpPr txBox="1"/>
          <p:nvPr/>
        </p:nvSpPr>
        <p:spPr>
          <a:xfrm>
            <a:off x="4269284" y="1098852"/>
            <a:ext cx="12930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Works_For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6" name="Google Shape;726;p55"/>
          <p:cNvSpPr txBox="1"/>
          <p:nvPr/>
        </p:nvSpPr>
        <p:spPr>
          <a:xfrm>
            <a:off x="1551086" y="3324011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</a:t>
            </a:r>
            <a:endParaRPr/>
          </a:p>
        </p:txBody>
      </p:sp>
      <p:sp>
        <p:nvSpPr>
          <p:cNvPr id="727" name="Google Shape;727;p55"/>
          <p:cNvSpPr txBox="1"/>
          <p:nvPr/>
        </p:nvSpPr>
        <p:spPr>
          <a:xfrm>
            <a:off x="1277243" y="4502968"/>
            <a:ext cx="12406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</a:t>
            </a:r>
            <a:endParaRPr/>
          </a:p>
        </p:txBody>
      </p:sp>
      <p:sp>
        <p:nvSpPr>
          <p:cNvPr id="728" name="Google Shape;728;p55"/>
          <p:cNvSpPr txBox="1"/>
          <p:nvPr/>
        </p:nvSpPr>
        <p:spPr>
          <a:xfrm>
            <a:off x="558106" y="5275480"/>
            <a:ext cx="890588" cy="39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- - - - -</a:t>
            </a:r>
            <a:endParaRPr/>
          </a:p>
        </p:txBody>
      </p:sp>
      <p:sp>
        <p:nvSpPr>
          <p:cNvPr id="729" name="Google Shape;729;p55"/>
          <p:cNvSpPr txBox="1"/>
          <p:nvPr/>
        </p:nvSpPr>
        <p:spPr>
          <a:xfrm>
            <a:off x="1724919" y="5352836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730" name="Google Shape;730;p55"/>
          <p:cNvSpPr txBox="1"/>
          <p:nvPr/>
        </p:nvSpPr>
        <p:spPr>
          <a:xfrm>
            <a:off x="3003650" y="5289852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</a:t>
            </a:r>
            <a:endParaRPr/>
          </a:p>
        </p:txBody>
      </p:sp>
      <p:sp>
        <p:nvSpPr>
          <p:cNvPr id="731" name="Google Shape;731;p55"/>
          <p:cNvSpPr txBox="1"/>
          <p:nvPr/>
        </p:nvSpPr>
        <p:spPr>
          <a:xfrm>
            <a:off x="4288334" y="1898952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Mdate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p55"/>
          <p:cNvSpPr txBox="1"/>
          <p:nvPr/>
        </p:nvSpPr>
        <p:spPr>
          <a:xfrm>
            <a:off x="4182369" y="2796445"/>
            <a:ext cx="102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</a:t>
            </a:r>
            <a:endParaRPr/>
          </a:p>
        </p:txBody>
      </p:sp>
      <p:sp>
        <p:nvSpPr>
          <p:cNvPr id="733" name="Google Shape;733;p55"/>
          <p:cNvSpPr txBox="1"/>
          <p:nvPr/>
        </p:nvSpPr>
        <p:spPr>
          <a:xfrm>
            <a:off x="4216896" y="3768054"/>
            <a:ext cx="13989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Participation</a:t>
            </a:r>
            <a:endParaRPr/>
          </a:p>
        </p:txBody>
      </p:sp>
      <p:sp>
        <p:nvSpPr>
          <p:cNvPr id="734" name="Google Shape;734;p55"/>
          <p:cNvSpPr txBox="1"/>
          <p:nvPr/>
        </p:nvSpPr>
        <p:spPr>
          <a:xfrm>
            <a:off x="4447880" y="4773180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/>
          </a:p>
        </p:txBody>
      </p:sp>
      <p:sp>
        <p:nvSpPr>
          <p:cNvPr id="735" name="Google Shape;735;p55"/>
          <p:cNvSpPr txBox="1"/>
          <p:nvPr/>
        </p:nvSpPr>
        <p:spPr>
          <a:xfrm>
            <a:off x="7297043" y="390311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</a:t>
            </a:r>
            <a:endParaRPr/>
          </a:p>
        </p:txBody>
      </p:sp>
      <p:sp>
        <p:nvSpPr>
          <p:cNvPr id="736" name="Google Shape;736;p55"/>
          <p:cNvSpPr txBox="1"/>
          <p:nvPr/>
        </p:nvSpPr>
        <p:spPr>
          <a:xfrm>
            <a:off x="6511231" y="1314236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</p:txBody>
      </p:sp>
      <p:sp>
        <p:nvSpPr>
          <p:cNvPr id="737" name="Google Shape;737;p55"/>
          <p:cNvSpPr txBox="1"/>
          <p:nvPr/>
        </p:nvSpPr>
        <p:spPr>
          <a:xfrm>
            <a:off x="7911406" y="1283518"/>
            <a:ext cx="1038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</a:t>
            </a:r>
            <a:endParaRPr/>
          </a:p>
        </p:txBody>
      </p:sp>
      <p:sp>
        <p:nvSpPr>
          <p:cNvPr id="738" name="Google Shape;738;p55"/>
          <p:cNvSpPr txBox="1"/>
          <p:nvPr/>
        </p:nvSpPr>
        <p:spPr>
          <a:xfrm>
            <a:off x="6830319" y="2127552"/>
            <a:ext cx="13858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739" name="Google Shape;739;p55"/>
          <p:cNvSpPr txBox="1"/>
          <p:nvPr/>
        </p:nvSpPr>
        <p:spPr>
          <a:xfrm>
            <a:off x="6813649" y="399230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sp>
        <p:nvSpPr>
          <p:cNvPr id="740" name="Google Shape;740;p55"/>
          <p:cNvSpPr txBox="1"/>
          <p:nvPr/>
        </p:nvSpPr>
        <p:spPr>
          <a:xfrm>
            <a:off x="6473131" y="5131057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1" name="Google Shape;741;p55"/>
          <p:cNvSpPr txBox="1"/>
          <p:nvPr/>
        </p:nvSpPr>
        <p:spPr>
          <a:xfrm>
            <a:off x="7780436" y="5131057"/>
            <a:ext cx="1135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Pnumber</a:t>
            </a:r>
            <a:endParaRPr/>
          </a:p>
        </p:txBody>
      </p:sp>
      <p:cxnSp>
        <p:nvCxnSpPr>
          <p:cNvPr id="742" name="Google Shape;742;p55"/>
          <p:cNvCxnSpPr>
            <a:stCxn id="695" idx="4"/>
          </p:cNvCxnSpPr>
          <p:nvPr/>
        </p:nvCxnSpPr>
        <p:spPr>
          <a:xfrm>
            <a:off x="1105794" y="1102543"/>
            <a:ext cx="204900" cy="94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3" name="Google Shape;743;p55"/>
          <p:cNvCxnSpPr>
            <a:stCxn id="696" idx="4"/>
            <a:endCxn id="707" idx="0"/>
          </p:cNvCxnSpPr>
          <p:nvPr/>
        </p:nvCxnSpPr>
        <p:spPr>
          <a:xfrm>
            <a:off x="1877319" y="1807393"/>
            <a:ext cx="47700" cy="247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4" name="Google Shape;744;p55"/>
          <p:cNvCxnSpPr>
            <a:stCxn id="699" idx="4"/>
          </p:cNvCxnSpPr>
          <p:nvPr/>
        </p:nvCxnSpPr>
        <p:spPr>
          <a:xfrm flipH="1">
            <a:off x="2082219" y="1293043"/>
            <a:ext cx="709500" cy="748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5" name="Google Shape;745;p55"/>
          <p:cNvCxnSpPr>
            <a:stCxn id="702" idx="4"/>
          </p:cNvCxnSpPr>
          <p:nvPr/>
        </p:nvCxnSpPr>
        <p:spPr>
          <a:xfrm flipH="1">
            <a:off x="2208294" y="873943"/>
            <a:ext cx="1678800" cy="1167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6" name="Google Shape;746;p55"/>
          <p:cNvCxnSpPr>
            <a:stCxn id="719" idx="1"/>
          </p:cNvCxnSpPr>
          <p:nvPr/>
        </p:nvCxnSpPr>
        <p:spPr>
          <a:xfrm flipH="1">
            <a:off x="2544219" y="1273993"/>
            <a:ext cx="1504800" cy="771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7" name="Google Shape;747;p55"/>
          <p:cNvCxnSpPr/>
          <p:nvPr/>
        </p:nvCxnSpPr>
        <p:spPr>
          <a:xfrm flipH="1">
            <a:off x="2539306" y="1336977"/>
            <a:ext cx="1624013" cy="7905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8" name="Google Shape;748;p55"/>
          <p:cNvCxnSpPr>
            <a:stCxn id="707" idx="2"/>
            <a:endCxn id="714" idx="0"/>
          </p:cNvCxnSpPr>
          <p:nvPr/>
        </p:nvCxnSpPr>
        <p:spPr>
          <a:xfrm>
            <a:off x="1924944" y="2588443"/>
            <a:ext cx="0" cy="46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9" name="Google Shape;749;p55"/>
          <p:cNvCxnSpPr/>
          <p:nvPr/>
        </p:nvCxnSpPr>
        <p:spPr>
          <a:xfrm flipH="1">
            <a:off x="2034480" y="3921942"/>
            <a:ext cx="1" cy="43969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0" name="Google Shape;750;p55"/>
          <p:cNvCxnSpPr/>
          <p:nvPr/>
        </p:nvCxnSpPr>
        <p:spPr>
          <a:xfrm flipH="1">
            <a:off x="991494" y="5077598"/>
            <a:ext cx="428625" cy="10164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1" name="Google Shape;751;p55"/>
          <p:cNvCxnSpPr>
            <a:stCxn id="711" idx="2"/>
            <a:endCxn id="697" idx="0"/>
          </p:cNvCxnSpPr>
          <p:nvPr/>
        </p:nvCxnSpPr>
        <p:spPr>
          <a:xfrm>
            <a:off x="1932087" y="5047441"/>
            <a:ext cx="249900" cy="246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2" name="Google Shape;752;p55"/>
          <p:cNvCxnSpPr/>
          <p:nvPr/>
        </p:nvCxnSpPr>
        <p:spPr>
          <a:xfrm>
            <a:off x="2208312" y="5064943"/>
            <a:ext cx="1235865" cy="1428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3" name="Google Shape;753;p55"/>
          <p:cNvCxnSpPr>
            <a:endCxn id="713" idx="1"/>
          </p:cNvCxnSpPr>
          <p:nvPr/>
        </p:nvCxnSpPr>
        <p:spPr>
          <a:xfrm>
            <a:off x="2517819" y="2588443"/>
            <a:ext cx="1531200" cy="1333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4" name="Google Shape;754;p55"/>
          <p:cNvCxnSpPr>
            <a:endCxn id="716" idx="1"/>
          </p:cNvCxnSpPr>
          <p:nvPr/>
        </p:nvCxnSpPr>
        <p:spPr>
          <a:xfrm>
            <a:off x="2569695" y="2579015"/>
            <a:ext cx="1444200" cy="391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5" name="Google Shape;755;p55"/>
          <p:cNvCxnSpPr>
            <a:stCxn id="706" idx="4"/>
            <a:endCxn id="716" idx="0"/>
          </p:cNvCxnSpPr>
          <p:nvPr/>
        </p:nvCxnSpPr>
        <p:spPr>
          <a:xfrm>
            <a:off x="4696719" y="2350318"/>
            <a:ext cx="0" cy="228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6" name="Google Shape;756;p55"/>
          <p:cNvCxnSpPr>
            <a:endCxn id="712" idx="0"/>
          </p:cNvCxnSpPr>
          <p:nvPr/>
        </p:nvCxnSpPr>
        <p:spPr>
          <a:xfrm>
            <a:off x="4737069" y="4332943"/>
            <a:ext cx="16800" cy="351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7" name="Google Shape;757;p55"/>
          <p:cNvCxnSpPr/>
          <p:nvPr/>
        </p:nvCxnSpPr>
        <p:spPr>
          <a:xfrm flipH="1">
            <a:off x="1877318" y="3933015"/>
            <a:ext cx="1" cy="40005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8" name="Google Shape;758;p55"/>
          <p:cNvCxnSpPr/>
          <p:nvPr/>
        </p:nvCxnSpPr>
        <p:spPr>
          <a:xfrm flipH="1">
            <a:off x="5305125" y="2127552"/>
            <a:ext cx="1572819" cy="79003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9" name="Google Shape;759;p55"/>
          <p:cNvCxnSpPr>
            <a:endCxn id="709" idx="0"/>
          </p:cNvCxnSpPr>
          <p:nvPr/>
        </p:nvCxnSpPr>
        <p:spPr>
          <a:xfrm flipH="1">
            <a:off x="7492307" y="1732318"/>
            <a:ext cx="856200" cy="313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0" name="Google Shape;760;p55"/>
          <p:cNvCxnSpPr>
            <a:endCxn id="709" idx="0"/>
          </p:cNvCxnSpPr>
          <p:nvPr/>
        </p:nvCxnSpPr>
        <p:spPr>
          <a:xfrm flipH="1">
            <a:off x="7492307" y="924418"/>
            <a:ext cx="190500" cy="1121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1" name="Google Shape;761;p55"/>
          <p:cNvCxnSpPr>
            <a:endCxn id="709" idx="0"/>
          </p:cNvCxnSpPr>
          <p:nvPr/>
        </p:nvCxnSpPr>
        <p:spPr>
          <a:xfrm>
            <a:off x="7156607" y="1751218"/>
            <a:ext cx="335700" cy="294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2" name="Google Shape;762;p55"/>
          <p:cNvCxnSpPr/>
          <p:nvPr/>
        </p:nvCxnSpPr>
        <p:spPr>
          <a:xfrm flipH="1">
            <a:off x="6956524" y="4455343"/>
            <a:ext cx="200025" cy="62358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3" name="Google Shape;763;p55"/>
          <p:cNvCxnSpPr/>
          <p:nvPr/>
        </p:nvCxnSpPr>
        <p:spPr>
          <a:xfrm>
            <a:off x="5414667" y="3933015"/>
            <a:ext cx="1268014" cy="4714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4" name="Google Shape;764;p55"/>
          <p:cNvCxnSpPr/>
          <p:nvPr/>
        </p:nvCxnSpPr>
        <p:spPr>
          <a:xfrm rot="10800000" flipH="1">
            <a:off x="5341443" y="2187857"/>
            <a:ext cx="1536501" cy="80117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5" name="Google Shape;765;p55"/>
          <p:cNvCxnSpPr/>
          <p:nvPr/>
        </p:nvCxnSpPr>
        <p:spPr>
          <a:xfrm>
            <a:off x="7523262" y="4455343"/>
            <a:ext cx="740569" cy="606087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6" name="Google Shape;766;p55"/>
          <p:cNvSpPr txBox="1"/>
          <p:nvPr/>
        </p:nvSpPr>
        <p:spPr>
          <a:xfrm>
            <a:off x="3287020" y="1652850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767" name="Google Shape;767;p55"/>
          <p:cNvSpPr txBox="1"/>
          <p:nvPr/>
        </p:nvSpPr>
        <p:spPr>
          <a:xfrm>
            <a:off x="1562994" y="3917775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768" name="Google Shape;768;p55"/>
          <p:cNvSpPr txBox="1"/>
          <p:nvPr/>
        </p:nvSpPr>
        <p:spPr>
          <a:xfrm>
            <a:off x="3382269" y="3139345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769" name="Google Shape;769;p55"/>
          <p:cNvSpPr txBox="1"/>
          <p:nvPr/>
        </p:nvSpPr>
        <p:spPr>
          <a:xfrm>
            <a:off x="6014443" y="3596545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sp>
        <p:nvSpPr>
          <p:cNvPr id="770" name="Google Shape;770;p55"/>
          <p:cNvSpPr txBox="1"/>
          <p:nvPr/>
        </p:nvSpPr>
        <p:spPr>
          <a:xfrm>
            <a:off x="5996284" y="108855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71" name="Google Shape;771;p55"/>
          <p:cNvSpPr txBox="1"/>
          <p:nvPr/>
        </p:nvSpPr>
        <p:spPr>
          <a:xfrm>
            <a:off x="5615880" y="2312218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72" name="Google Shape;772;p55"/>
          <p:cNvSpPr txBox="1"/>
          <p:nvPr/>
        </p:nvSpPr>
        <p:spPr>
          <a:xfrm>
            <a:off x="3229869" y="2405384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73" name="Google Shape;773;p55"/>
          <p:cNvSpPr txBox="1"/>
          <p:nvPr/>
        </p:nvSpPr>
        <p:spPr>
          <a:xfrm>
            <a:off x="1648719" y="2635294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74" name="Google Shape;774;p55"/>
          <p:cNvSpPr/>
          <p:nvPr/>
        </p:nvSpPr>
        <p:spPr>
          <a:xfrm>
            <a:off x="574776" y="2655058"/>
            <a:ext cx="3789553" cy="3501267"/>
          </a:xfrm>
          <a:custGeom>
            <a:avLst/>
            <a:gdLst/>
            <a:ahLst/>
            <a:cxnLst/>
            <a:rect l="l" t="t" r="r" b="b"/>
            <a:pathLst>
              <a:path w="4211929" h="3565526" extrusionOk="0">
                <a:moveTo>
                  <a:pt x="1943994" y="283393"/>
                </a:moveTo>
                <a:cubicBezTo>
                  <a:pt x="1347094" y="-196032"/>
                  <a:pt x="885131" y="-16644"/>
                  <a:pt x="600969" y="445318"/>
                </a:cubicBezTo>
                <a:cubicBezTo>
                  <a:pt x="316807" y="907280"/>
                  <a:pt x="-357881" y="2575743"/>
                  <a:pt x="239019" y="3055168"/>
                </a:cubicBezTo>
                <a:cubicBezTo>
                  <a:pt x="835919" y="3534593"/>
                  <a:pt x="3891857" y="3780655"/>
                  <a:pt x="4182369" y="3321868"/>
                </a:cubicBezTo>
                <a:cubicBezTo>
                  <a:pt x="4472881" y="2863081"/>
                  <a:pt x="2540894" y="762818"/>
                  <a:pt x="1943994" y="283393"/>
                </a:cubicBezTo>
                <a:close/>
              </a:path>
            </a:pathLst>
          </a:cu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5" name="Google Shape;775;p55"/>
          <p:cNvCxnSpPr/>
          <p:nvPr/>
        </p:nvCxnSpPr>
        <p:spPr>
          <a:xfrm>
            <a:off x="5414667" y="1254943"/>
            <a:ext cx="1463277" cy="8286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6" name="Google Shape;776;p55"/>
          <p:cNvSpPr txBox="1"/>
          <p:nvPr/>
        </p:nvSpPr>
        <p:spPr>
          <a:xfrm>
            <a:off x="175020" y="6414436"/>
            <a:ext cx="7543800" cy="38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None/>
            </a:pPr>
            <a:r>
              <a:rPr lang="en-AU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Weak Entity Types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6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Mapping Weak Entity Types</a:t>
            </a:r>
            <a:endParaRPr/>
          </a:p>
        </p:txBody>
      </p:sp>
      <p:sp>
        <p:nvSpPr>
          <p:cNvPr id="783" name="Google Shape;783;p5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40</a:t>
            </a:fld>
            <a:endParaRPr/>
          </a:p>
        </p:txBody>
      </p:sp>
      <p:graphicFrame>
        <p:nvGraphicFramePr>
          <p:cNvPr id="784" name="Google Shape;784;p56"/>
          <p:cNvGraphicFramePr/>
          <p:nvPr/>
        </p:nvGraphicFramePr>
        <p:xfrm>
          <a:off x="2362200" y="1676400"/>
          <a:ext cx="3901400" cy="5080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9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SSN</a:t>
                      </a:r>
                      <a:endParaRPr sz="1800" u="sng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Fname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Lname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Birdate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5" name="Google Shape;785;p56"/>
          <p:cNvGraphicFramePr/>
          <p:nvPr/>
        </p:nvGraphicFramePr>
        <p:xfrm>
          <a:off x="2362200" y="2794000"/>
          <a:ext cx="2032000" cy="5334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6" name="Google Shape;786;p56"/>
          <p:cNvGraphicFramePr/>
          <p:nvPr/>
        </p:nvGraphicFramePr>
        <p:xfrm>
          <a:off x="2362200" y="3962400"/>
          <a:ext cx="2133600" cy="4318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Pnumber</a:t>
                      </a:r>
                      <a:endParaRPr sz="1800" u="sng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7" name="Google Shape;787;p56"/>
          <p:cNvSpPr txBox="1"/>
          <p:nvPr/>
        </p:nvSpPr>
        <p:spPr>
          <a:xfrm>
            <a:off x="2295524" y="1261551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788" name="Google Shape;788;p56"/>
          <p:cNvSpPr txBox="1"/>
          <p:nvPr/>
        </p:nvSpPr>
        <p:spPr>
          <a:xfrm>
            <a:off x="2343150" y="2405618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789" name="Google Shape;789;p56"/>
          <p:cNvSpPr txBox="1"/>
          <p:nvPr/>
        </p:nvSpPr>
        <p:spPr>
          <a:xfrm>
            <a:off x="2305050" y="3556000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graphicFrame>
        <p:nvGraphicFramePr>
          <p:cNvPr id="790" name="Google Shape;790;p56"/>
          <p:cNvGraphicFramePr/>
          <p:nvPr/>
        </p:nvGraphicFramePr>
        <p:xfrm>
          <a:off x="2381249" y="5080000"/>
          <a:ext cx="4064000" cy="4572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Fname</a:t>
                      </a:r>
                      <a:endParaRPr sz="1800">
                        <a:solidFill>
                          <a:srgbClr val="5913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Birdate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1" name="Google Shape;791;p56"/>
          <p:cNvSpPr txBox="1"/>
          <p:nvPr/>
        </p:nvSpPr>
        <p:spPr>
          <a:xfrm>
            <a:off x="2295524" y="4622800"/>
            <a:ext cx="1971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 </a:t>
            </a:r>
            <a:endParaRPr/>
          </a:p>
        </p:txBody>
      </p:sp>
      <p:cxnSp>
        <p:nvCxnSpPr>
          <p:cNvPr id="792" name="Google Shape;792;p56"/>
          <p:cNvCxnSpPr/>
          <p:nvPr/>
        </p:nvCxnSpPr>
        <p:spPr>
          <a:xfrm rot="10800000">
            <a:off x="2543175" y="5461000"/>
            <a:ext cx="17240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3" name="Google Shape;793;p56"/>
          <p:cNvSpPr txBox="1"/>
          <p:nvPr/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endParaRPr sz="36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56"/>
          <p:cNvSpPr txBox="1"/>
          <p:nvPr/>
        </p:nvSpPr>
        <p:spPr>
          <a:xfrm>
            <a:off x="2594700" y="1730300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6"/>
          <p:cNvSpPr txBox="1"/>
          <p:nvPr/>
        </p:nvSpPr>
        <p:spPr>
          <a:xfrm>
            <a:off x="2594700" y="5108500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6" name="Google Shape;796;p56"/>
          <p:cNvCxnSpPr>
            <a:stCxn id="795" idx="1"/>
            <a:endCxn id="794" idx="1"/>
          </p:cNvCxnSpPr>
          <p:nvPr/>
        </p:nvCxnSpPr>
        <p:spPr>
          <a:xfrm rot="10800000" flipH="1">
            <a:off x="2594700" y="1930300"/>
            <a:ext cx="600" cy="3378300"/>
          </a:xfrm>
          <a:prstGeom prst="bentConnector3">
            <a:avLst>
              <a:gd name="adj1" fmla="val -69891667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7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>
                <a:latin typeface="Times New Roman"/>
                <a:ea typeface="Times New Roman"/>
                <a:cs typeface="Times New Roman"/>
                <a:sym typeface="Times New Roman"/>
              </a:rPr>
              <a:t>Mapping 1:1 Relationship Types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57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400"/>
              <a:t>Step 3 : For each </a:t>
            </a:r>
            <a:r>
              <a:rPr lang="en-AU" sz="2400" b="1" i="1"/>
              <a:t>1:1 relationship type </a:t>
            </a:r>
            <a:r>
              <a:rPr lang="en-AU" sz="2400"/>
              <a:t>B. Let E and F be the participating entity types. Let S and T be the corresponding relations.</a:t>
            </a:r>
            <a:endParaRPr sz="2400"/>
          </a:p>
          <a:p>
            <a:pPr marL="384048" lvl="1" indent="-22098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Choose one of S and T (let S be the one that participates totally if there is one).</a:t>
            </a:r>
            <a:endParaRPr sz="2400"/>
          </a:p>
          <a:p>
            <a:pPr marL="384048" lvl="1" indent="-22098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Add attributes from the primary key of T to S as a foreign key.</a:t>
            </a:r>
            <a:endParaRPr sz="2400"/>
          </a:p>
          <a:p>
            <a:pPr marL="384048" lvl="1" indent="-22098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Add all simple attributes (and simple components of composite attributes) of B as attributes of S.</a:t>
            </a:r>
            <a:endParaRPr sz="2400"/>
          </a:p>
          <a:p>
            <a:pPr marL="0" lvl="0" indent="0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(Alternatively: merge the two entity types and the relationship into a single relation, especially if </a:t>
            </a:r>
            <a:r>
              <a:rPr lang="en-AU" b="1" i="1"/>
              <a:t>both participate totally and do not participate in other relationships</a:t>
            </a:r>
            <a:r>
              <a:rPr lang="en-AU" i="1"/>
              <a:t>).</a:t>
            </a:r>
            <a:endParaRPr i="1"/>
          </a:p>
        </p:txBody>
      </p:sp>
      <p:sp>
        <p:nvSpPr>
          <p:cNvPr id="803" name="Google Shape;803;p5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41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42</a:t>
            </a:fld>
            <a:endParaRPr/>
          </a:p>
        </p:txBody>
      </p:sp>
      <p:sp>
        <p:nvSpPr>
          <p:cNvPr id="809" name="Google Shape;809;p58"/>
          <p:cNvSpPr/>
          <p:nvPr/>
        </p:nvSpPr>
        <p:spPr>
          <a:xfrm>
            <a:off x="523875" y="6858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0" name="Google Shape;810;p58"/>
          <p:cNvSpPr/>
          <p:nvPr/>
        </p:nvSpPr>
        <p:spPr>
          <a:xfrm>
            <a:off x="1295400" y="139065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1" name="Google Shape;811;p58"/>
          <p:cNvSpPr/>
          <p:nvPr/>
        </p:nvSpPr>
        <p:spPr>
          <a:xfrm>
            <a:off x="1600200" y="54102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2" name="Google Shape;812;p58"/>
          <p:cNvSpPr/>
          <p:nvPr/>
        </p:nvSpPr>
        <p:spPr>
          <a:xfrm>
            <a:off x="6329362" y="51816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3" name="Google Shape;813;p58"/>
          <p:cNvSpPr/>
          <p:nvPr/>
        </p:nvSpPr>
        <p:spPr>
          <a:xfrm>
            <a:off x="2209800" y="8763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4" name="Google Shape;814;p58"/>
          <p:cNvSpPr/>
          <p:nvPr/>
        </p:nvSpPr>
        <p:spPr>
          <a:xfrm>
            <a:off x="6334125" y="13716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58"/>
          <p:cNvSpPr/>
          <p:nvPr/>
        </p:nvSpPr>
        <p:spPr>
          <a:xfrm>
            <a:off x="7777161" y="1321832"/>
            <a:ext cx="985837" cy="535543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58"/>
          <p:cNvSpPr/>
          <p:nvPr/>
        </p:nvSpPr>
        <p:spPr>
          <a:xfrm>
            <a:off x="3305175" y="4572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58"/>
          <p:cNvSpPr/>
          <p:nvPr/>
        </p:nvSpPr>
        <p:spPr>
          <a:xfrm>
            <a:off x="7569993" y="5152251"/>
            <a:ext cx="1138236" cy="534948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8" name="Google Shape;818;p58"/>
          <p:cNvSpPr/>
          <p:nvPr/>
        </p:nvSpPr>
        <p:spPr>
          <a:xfrm>
            <a:off x="409575" y="530542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58"/>
          <p:cNvSpPr/>
          <p:nvPr/>
        </p:nvSpPr>
        <p:spPr>
          <a:xfrm>
            <a:off x="2886075" y="532447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58"/>
          <p:cNvSpPr/>
          <p:nvPr/>
        </p:nvSpPr>
        <p:spPr>
          <a:xfrm>
            <a:off x="4114800" y="193357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58"/>
          <p:cNvSpPr/>
          <p:nvPr/>
        </p:nvSpPr>
        <p:spPr>
          <a:xfrm>
            <a:off x="1185862" y="2171700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822" name="Google Shape;822;p58"/>
          <p:cNvSpPr/>
          <p:nvPr/>
        </p:nvSpPr>
        <p:spPr>
          <a:xfrm>
            <a:off x="6557962" y="4038600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58"/>
          <p:cNvSpPr/>
          <p:nvPr/>
        </p:nvSpPr>
        <p:spPr>
          <a:xfrm>
            <a:off x="6753225" y="2162175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p58"/>
          <p:cNvSpPr/>
          <p:nvPr/>
        </p:nvSpPr>
        <p:spPr>
          <a:xfrm>
            <a:off x="1176336" y="4554498"/>
            <a:ext cx="1228725" cy="5334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58"/>
          <p:cNvSpPr/>
          <p:nvPr/>
        </p:nvSpPr>
        <p:spPr>
          <a:xfrm>
            <a:off x="1042986" y="4478298"/>
            <a:ext cx="1528763" cy="6858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58"/>
          <p:cNvSpPr/>
          <p:nvPr/>
        </p:nvSpPr>
        <p:spPr>
          <a:xfrm>
            <a:off x="4171950" y="48006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58"/>
          <p:cNvSpPr/>
          <p:nvPr/>
        </p:nvSpPr>
        <p:spPr>
          <a:xfrm>
            <a:off x="3924300" y="3638550"/>
            <a:ext cx="1365648" cy="800100"/>
          </a:xfrm>
          <a:prstGeom prst="flowChartDecision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58"/>
          <p:cNvSpPr/>
          <p:nvPr/>
        </p:nvSpPr>
        <p:spPr>
          <a:xfrm>
            <a:off x="1047748" y="3168134"/>
            <a:ext cx="1504951" cy="9144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9" name="Google Shape;829;p58"/>
          <p:cNvSpPr/>
          <p:nvPr/>
        </p:nvSpPr>
        <p:spPr>
          <a:xfrm>
            <a:off x="1228723" y="3282434"/>
            <a:ext cx="1143000" cy="6858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0" name="Google Shape;830;p58"/>
          <p:cNvSpPr/>
          <p:nvPr/>
        </p:nvSpPr>
        <p:spPr>
          <a:xfrm>
            <a:off x="3889176" y="2695575"/>
            <a:ext cx="1365648" cy="783193"/>
          </a:xfrm>
          <a:prstGeom prst="flowChartDecision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1" name="Google Shape;831;p58"/>
          <p:cNvSpPr/>
          <p:nvPr/>
        </p:nvSpPr>
        <p:spPr>
          <a:xfrm>
            <a:off x="7134225" y="419100"/>
            <a:ext cx="914400" cy="5334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2" name="Google Shape;832;p58"/>
          <p:cNvSpPr/>
          <p:nvPr/>
        </p:nvSpPr>
        <p:spPr>
          <a:xfrm>
            <a:off x="6924675" y="323850"/>
            <a:ext cx="1276350" cy="7239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3" name="Google Shape;833;p58"/>
          <p:cNvSpPr/>
          <p:nvPr/>
        </p:nvSpPr>
        <p:spPr>
          <a:xfrm>
            <a:off x="3924300" y="1066800"/>
            <a:ext cx="1381124" cy="647700"/>
          </a:xfrm>
          <a:prstGeom prst="flowChartDecision">
            <a:avLst/>
          </a:prstGeom>
          <a:noFill/>
          <a:ln w="15875" cap="flat" cmpd="sng">
            <a:solidFill>
              <a:srgbClr val="FFD7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4" name="Google Shape;834;p58"/>
          <p:cNvSpPr txBox="1"/>
          <p:nvPr/>
        </p:nvSpPr>
        <p:spPr>
          <a:xfrm>
            <a:off x="685800" y="773668"/>
            <a:ext cx="638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835" name="Google Shape;835;p58"/>
          <p:cNvSpPr txBox="1"/>
          <p:nvPr/>
        </p:nvSpPr>
        <p:spPr>
          <a:xfrm>
            <a:off x="1347787" y="1453634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836" name="Google Shape;836;p58"/>
          <p:cNvSpPr txBox="1"/>
          <p:nvPr/>
        </p:nvSpPr>
        <p:spPr>
          <a:xfrm>
            <a:off x="2309812" y="952500"/>
            <a:ext cx="8905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58"/>
          <p:cNvSpPr txBox="1"/>
          <p:nvPr/>
        </p:nvSpPr>
        <p:spPr>
          <a:xfrm>
            <a:off x="3362325" y="545068"/>
            <a:ext cx="828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8" name="Google Shape;838;p58"/>
          <p:cNvSpPr txBox="1"/>
          <p:nvPr/>
        </p:nvSpPr>
        <p:spPr>
          <a:xfrm>
            <a:off x="1247775" y="2228850"/>
            <a:ext cx="11715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839" name="Google Shape;839;p58"/>
          <p:cNvSpPr txBox="1"/>
          <p:nvPr/>
        </p:nvSpPr>
        <p:spPr>
          <a:xfrm>
            <a:off x="4144565" y="1215509"/>
            <a:ext cx="12930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Works_For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0" name="Google Shape;840;p58"/>
          <p:cNvSpPr txBox="1"/>
          <p:nvPr/>
        </p:nvSpPr>
        <p:spPr>
          <a:xfrm>
            <a:off x="1426367" y="3440668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</a:t>
            </a:r>
            <a:endParaRPr/>
          </a:p>
        </p:txBody>
      </p:sp>
      <p:sp>
        <p:nvSpPr>
          <p:cNvPr id="841" name="Google Shape;841;p58"/>
          <p:cNvSpPr txBox="1"/>
          <p:nvPr/>
        </p:nvSpPr>
        <p:spPr>
          <a:xfrm>
            <a:off x="1152524" y="4619625"/>
            <a:ext cx="12406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</a:t>
            </a:r>
            <a:endParaRPr/>
          </a:p>
        </p:txBody>
      </p:sp>
      <p:sp>
        <p:nvSpPr>
          <p:cNvPr id="842" name="Google Shape;842;p58"/>
          <p:cNvSpPr txBox="1"/>
          <p:nvPr/>
        </p:nvSpPr>
        <p:spPr>
          <a:xfrm>
            <a:off x="433387" y="5392137"/>
            <a:ext cx="890588" cy="39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- - - - -</a:t>
            </a:r>
            <a:endParaRPr/>
          </a:p>
        </p:txBody>
      </p:sp>
      <p:sp>
        <p:nvSpPr>
          <p:cNvPr id="843" name="Google Shape;843;p58"/>
          <p:cNvSpPr txBox="1"/>
          <p:nvPr/>
        </p:nvSpPr>
        <p:spPr>
          <a:xfrm>
            <a:off x="1600200" y="5469493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844" name="Google Shape;844;p58"/>
          <p:cNvSpPr txBox="1"/>
          <p:nvPr/>
        </p:nvSpPr>
        <p:spPr>
          <a:xfrm>
            <a:off x="2878931" y="540650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</a:t>
            </a:r>
            <a:endParaRPr/>
          </a:p>
        </p:txBody>
      </p:sp>
      <p:sp>
        <p:nvSpPr>
          <p:cNvPr id="845" name="Google Shape;845;p58"/>
          <p:cNvSpPr txBox="1"/>
          <p:nvPr/>
        </p:nvSpPr>
        <p:spPr>
          <a:xfrm>
            <a:off x="4163615" y="201560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Mdate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58"/>
          <p:cNvSpPr txBox="1"/>
          <p:nvPr/>
        </p:nvSpPr>
        <p:spPr>
          <a:xfrm>
            <a:off x="4057650" y="2913102"/>
            <a:ext cx="102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</a:t>
            </a:r>
            <a:endParaRPr/>
          </a:p>
        </p:txBody>
      </p:sp>
      <p:sp>
        <p:nvSpPr>
          <p:cNvPr id="847" name="Google Shape;847;p58"/>
          <p:cNvSpPr txBox="1"/>
          <p:nvPr/>
        </p:nvSpPr>
        <p:spPr>
          <a:xfrm>
            <a:off x="4092177" y="3884711"/>
            <a:ext cx="13989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Participation</a:t>
            </a:r>
            <a:endParaRPr/>
          </a:p>
        </p:txBody>
      </p:sp>
      <p:sp>
        <p:nvSpPr>
          <p:cNvPr id="848" name="Google Shape;848;p58"/>
          <p:cNvSpPr txBox="1"/>
          <p:nvPr/>
        </p:nvSpPr>
        <p:spPr>
          <a:xfrm>
            <a:off x="4323161" y="4889837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/>
          </a:p>
        </p:txBody>
      </p:sp>
      <p:sp>
        <p:nvSpPr>
          <p:cNvPr id="849" name="Google Shape;849;p58"/>
          <p:cNvSpPr txBox="1"/>
          <p:nvPr/>
        </p:nvSpPr>
        <p:spPr>
          <a:xfrm>
            <a:off x="7172324" y="506968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</a:t>
            </a:r>
            <a:endParaRPr/>
          </a:p>
        </p:txBody>
      </p:sp>
      <p:sp>
        <p:nvSpPr>
          <p:cNvPr id="850" name="Google Shape;850;p58"/>
          <p:cNvSpPr txBox="1"/>
          <p:nvPr/>
        </p:nvSpPr>
        <p:spPr>
          <a:xfrm>
            <a:off x="6386512" y="1430893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</p:txBody>
      </p:sp>
      <p:sp>
        <p:nvSpPr>
          <p:cNvPr id="851" name="Google Shape;851;p58"/>
          <p:cNvSpPr txBox="1"/>
          <p:nvPr/>
        </p:nvSpPr>
        <p:spPr>
          <a:xfrm>
            <a:off x="7786687" y="1400175"/>
            <a:ext cx="1038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</a:t>
            </a:r>
            <a:endParaRPr/>
          </a:p>
        </p:txBody>
      </p:sp>
      <p:sp>
        <p:nvSpPr>
          <p:cNvPr id="852" name="Google Shape;852;p58"/>
          <p:cNvSpPr txBox="1"/>
          <p:nvPr/>
        </p:nvSpPr>
        <p:spPr>
          <a:xfrm>
            <a:off x="6705600" y="2244209"/>
            <a:ext cx="13858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853" name="Google Shape;853;p58"/>
          <p:cNvSpPr txBox="1"/>
          <p:nvPr/>
        </p:nvSpPr>
        <p:spPr>
          <a:xfrm>
            <a:off x="6688930" y="4108966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sp>
        <p:nvSpPr>
          <p:cNvPr id="854" name="Google Shape;854;p58"/>
          <p:cNvSpPr txBox="1"/>
          <p:nvPr/>
        </p:nvSpPr>
        <p:spPr>
          <a:xfrm>
            <a:off x="6348412" y="5247714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5" name="Google Shape;855;p58"/>
          <p:cNvSpPr txBox="1"/>
          <p:nvPr/>
        </p:nvSpPr>
        <p:spPr>
          <a:xfrm>
            <a:off x="7655717" y="5247714"/>
            <a:ext cx="1135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Pnumber</a:t>
            </a:r>
            <a:endParaRPr/>
          </a:p>
        </p:txBody>
      </p:sp>
      <p:cxnSp>
        <p:nvCxnSpPr>
          <p:cNvPr id="856" name="Google Shape;856;p58"/>
          <p:cNvCxnSpPr>
            <a:stCxn id="809" idx="4"/>
          </p:cNvCxnSpPr>
          <p:nvPr/>
        </p:nvCxnSpPr>
        <p:spPr>
          <a:xfrm>
            <a:off x="981075" y="1219200"/>
            <a:ext cx="204900" cy="94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7" name="Google Shape;857;p58"/>
          <p:cNvCxnSpPr>
            <a:stCxn id="810" idx="4"/>
            <a:endCxn id="821" idx="0"/>
          </p:cNvCxnSpPr>
          <p:nvPr/>
        </p:nvCxnSpPr>
        <p:spPr>
          <a:xfrm>
            <a:off x="1752600" y="1924050"/>
            <a:ext cx="47700" cy="247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8" name="Google Shape;858;p58"/>
          <p:cNvCxnSpPr>
            <a:stCxn id="813" idx="4"/>
          </p:cNvCxnSpPr>
          <p:nvPr/>
        </p:nvCxnSpPr>
        <p:spPr>
          <a:xfrm flipH="1">
            <a:off x="1957500" y="1409700"/>
            <a:ext cx="709500" cy="748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9" name="Google Shape;859;p58"/>
          <p:cNvCxnSpPr>
            <a:stCxn id="816" idx="4"/>
          </p:cNvCxnSpPr>
          <p:nvPr/>
        </p:nvCxnSpPr>
        <p:spPr>
          <a:xfrm flipH="1">
            <a:off x="2083575" y="990600"/>
            <a:ext cx="1678800" cy="1167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0" name="Google Shape;860;p58"/>
          <p:cNvCxnSpPr>
            <a:stCxn id="833" idx="1"/>
          </p:cNvCxnSpPr>
          <p:nvPr/>
        </p:nvCxnSpPr>
        <p:spPr>
          <a:xfrm flipH="1">
            <a:off x="2419500" y="1390650"/>
            <a:ext cx="1504800" cy="771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1" name="Google Shape;861;p58"/>
          <p:cNvCxnSpPr/>
          <p:nvPr/>
        </p:nvCxnSpPr>
        <p:spPr>
          <a:xfrm flipH="1">
            <a:off x="2414587" y="1453634"/>
            <a:ext cx="1624013" cy="7905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2" name="Google Shape;862;p58"/>
          <p:cNvCxnSpPr>
            <a:stCxn id="821" idx="2"/>
            <a:endCxn id="828" idx="0"/>
          </p:cNvCxnSpPr>
          <p:nvPr/>
        </p:nvCxnSpPr>
        <p:spPr>
          <a:xfrm>
            <a:off x="1800225" y="2705100"/>
            <a:ext cx="0" cy="46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3" name="Google Shape;863;p58"/>
          <p:cNvCxnSpPr/>
          <p:nvPr/>
        </p:nvCxnSpPr>
        <p:spPr>
          <a:xfrm flipH="1">
            <a:off x="1909761" y="4038599"/>
            <a:ext cx="1" cy="43969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4" name="Google Shape;864;p58"/>
          <p:cNvCxnSpPr/>
          <p:nvPr/>
        </p:nvCxnSpPr>
        <p:spPr>
          <a:xfrm flipH="1">
            <a:off x="866775" y="5194255"/>
            <a:ext cx="428625" cy="10164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5" name="Google Shape;865;p58"/>
          <p:cNvCxnSpPr>
            <a:stCxn id="825" idx="2"/>
            <a:endCxn id="811" idx="0"/>
          </p:cNvCxnSpPr>
          <p:nvPr/>
        </p:nvCxnSpPr>
        <p:spPr>
          <a:xfrm>
            <a:off x="1807368" y="5164098"/>
            <a:ext cx="249900" cy="246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6" name="Google Shape;866;p58"/>
          <p:cNvCxnSpPr/>
          <p:nvPr/>
        </p:nvCxnSpPr>
        <p:spPr>
          <a:xfrm>
            <a:off x="2083593" y="5181600"/>
            <a:ext cx="1235865" cy="1428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7" name="Google Shape;867;p58"/>
          <p:cNvCxnSpPr>
            <a:endCxn id="827" idx="1"/>
          </p:cNvCxnSpPr>
          <p:nvPr/>
        </p:nvCxnSpPr>
        <p:spPr>
          <a:xfrm>
            <a:off x="2393100" y="2705100"/>
            <a:ext cx="1531200" cy="1333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8" name="Google Shape;868;p58"/>
          <p:cNvCxnSpPr>
            <a:endCxn id="830" idx="1"/>
          </p:cNvCxnSpPr>
          <p:nvPr/>
        </p:nvCxnSpPr>
        <p:spPr>
          <a:xfrm>
            <a:off x="2444976" y="2695672"/>
            <a:ext cx="1444200" cy="391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9" name="Google Shape;869;p58"/>
          <p:cNvCxnSpPr>
            <a:stCxn id="820" idx="4"/>
            <a:endCxn id="830" idx="0"/>
          </p:cNvCxnSpPr>
          <p:nvPr/>
        </p:nvCxnSpPr>
        <p:spPr>
          <a:xfrm>
            <a:off x="4572000" y="2466975"/>
            <a:ext cx="0" cy="228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0" name="Google Shape;870;p58"/>
          <p:cNvCxnSpPr>
            <a:endCxn id="826" idx="0"/>
          </p:cNvCxnSpPr>
          <p:nvPr/>
        </p:nvCxnSpPr>
        <p:spPr>
          <a:xfrm>
            <a:off x="4612350" y="4449600"/>
            <a:ext cx="16800" cy="351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1" name="Google Shape;871;p58"/>
          <p:cNvCxnSpPr/>
          <p:nvPr/>
        </p:nvCxnSpPr>
        <p:spPr>
          <a:xfrm flipH="1">
            <a:off x="1752599" y="4049672"/>
            <a:ext cx="1" cy="40005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2" name="Google Shape;872;p58"/>
          <p:cNvCxnSpPr/>
          <p:nvPr/>
        </p:nvCxnSpPr>
        <p:spPr>
          <a:xfrm flipH="1">
            <a:off x="5180406" y="2244209"/>
            <a:ext cx="1572819" cy="79003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3" name="Google Shape;873;p58"/>
          <p:cNvCxnSpPr>
            <a:endCxn id="823" idx="0"/>
          </p:cNvCxnSpPr>
          <p:nvPr/>
        </p:nvCxnSpPr>
        <p:spPr>
          <a:xfrm flipH="1">
            <a:off x="7367588" y="1848975"/>
            <a:ext cx="856200" cy="313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4" name="Google Shape;874;p58"/>
          <p:cNvCxnSpPr>
            <a:endCxn id="823" idx="0"/>
          </p:cNvCxnSpPr>
          <p:nvPr/>
        </p:nvCxnSpPr>
        <p:spPr>
          <a:xfrm flipH="1">
            <a:off x="7367588" y="1041075"/>
            <a:ext cx="190500" cy="1121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5" name="Google Shape;875;p58"/>
          <p:cNvCxnSpPr>
            <a:endCxn id="823" idx="0"/>
          </p:cNvCxnSpPr>
          <p:nvPr/>
        </p:nvCxnSpPr>
        <p:spPr>
          <a:xfrm>
            <a:off x="7031888" y="1867875"/>
            <a:ext cx="335700" cy="294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6" name="Google Shape;876;p58"/>
          <p:cNvCxnSpPr/>
          <p:nvPr/>
        </p:nvCxnSpPr>
        <p:spPr>
          <a:xfrm flipH="1">
            <a:off x="6831805" y="4572000"/>
            <a:ext cx="200025" cy="62358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7" name="Google Shape;877;p58"/>
          <p:cNvCxnSpPr/>
          <p:nvPr/>
        </p:nvCxnSpPr>
        <p:spPr>
          <a:xfrm>
            <a:off x="5289948" y="4049672"/>
            <a:ext cx="1268014" cy="4714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8" name="Google Shape;878;p58"/>
          <p:cNvCxnSpPr/>
          <p:nvPr/>
        </p:nvCxnSpPr>
        <p:spPr>
          <a:xfrm rot="10800000" flipH="1">
            <a:off x="5216724" y="2304514"/>
            <a:ext cx="1536501" cy="80117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9" name="Google Shape;879;p58"/>
          <p:cNvCxnSpPr/>
          <p:nvPr/>
        </p:nvCxnSpPr>
        <p:spPr>
          <a:xfrm>
            <a:off x="7398543" y="4572000"/>
            <a:ext cx="740569" cy="606087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0" name="Google Shape;880;p58"/>
          <p:cNvSpPr txBox="1"/>
          <p:nvPr/>
        </p:nvSpPr>
        <p:spPr>
          <a:xfrm>
            <a:off x="3162301" y="1769507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881" name="Google Shape;881;p58"/>
          <p:cNvSpPr txBox="1"/>
          <p:nvPr/>
        </p:nvSpPr>
        <p:spPr>
          <a:xfrm>
            <a:off x="1438275" y="403443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882" name="Google Shape;882;p58"/>
          <p:cNvSpPr txBox="1"/>
          <p:nvPr/>
        </p:nvSpPr>
        <p:spPr>
          <a:xfrm>
            <a:off x="3257550" y="325600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883" name="Google Shape;883;p58"/>
          <p:cNvSpPr txBox="1"/>
          <p:nvPr/>
        </p:nvSpPr>
        <p:spPr>
          <a:xfrm>
            <a:off x="5889724" y="371320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sp>
        <p:nvSpPr>
          <p:cNvPr id="884" name="Google Shape;884;p58"/>
          <p:cNvSpPr txBox="1"/>
          <p:nvPr/>
        </p:nvSpPr>
        <p:spPr>
          <a:xfrm>
            <a:off x="5871565" y="1205209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85" name="Google Shape;885;p58"/>
          <p:cNvSpPr txBox="1"/>
          <p:nvPr/>
        </p:nvSpPr>
        <p:spPr>
          <a:xfrm>
            <a:off x="5491161" y="2428875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86" name="Google Shape;886;p58"/>
          <p:cNvSpPr txBox="1"/>
          <p:nvPr/>
        </p:nvSpPr>
        <p:spPr>
          <a:xfrm>
            <a:off x="3105150" y="2522041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87" name="Google Shape;887;p58"/>
          <p:cNvSpPr txBox="1"/>
          <p:nvPr/>
        </p:nvSpPr>
        <p:spPr>
          <a:xfrm>
            <a:off x="1524000" y="2751951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88" name="Google Shape;888;p58"/>
          <p:cNvSpPr/>
          <p:nvPr/>
        </p:nvSpPr>
        <p:spPr>
          <a:xfrm>
            <a:off x="3505004" y="1731065"/>
            <a:ext cx="2512187" cy="1888638"/>
          </a:xfrm>
          <a:custGeom>
            <a:avLst/>
            <a:gdLst/>
            <a:ahLst/>
            <a:cxnLst/>
            <a:rect l="l" t="t" r="r" b="b"/>
            <a:pathLst>
              <a:path w="2512187" h="1888638" extrusionOk="0">
                <a:moveTo>
                  <a:pt x="362146" y="145360"/>
                </a:moveTo>
                <a:cubicBezTo>
                  <a:pt x="652658" y="-2277"/>
                  <a:pt x="1400371" y="-81653"/>
                  <a:pt x="1752796" y="126310"/>
                </a:cubicBezTo>
                <a:cubicBezTo>
                  <a:pt x="2105221" y="334273"/>
                  <a:pt x="2657671" y="1101035"/>
                  <a:pt x="2476696" y="1393135"/>
                </a:cubicBezTo>
                <a:cubicBezTo>
                  <a:pt x="2295721" y="1685235"/>
                  <a:pt x="1078109" y="1942410"/>
                  <a:pt x="666946" y="1878910"/>
                </a:cubicBezTo>
                <a:cubicBezTo>
                  <a:pt x="255783" y="1815410"/>
                  <a:pt x="54171" y="1301060"/>
                  <a:pt x="9721" y="1012135"/>
                </a:cubicBezTo>
                <a:cubicBezTo>
                  <a:pt x="-34729" y="723210"/>
                  <a:pt x="71634" y="292997"/>
                  <a:pt x="362146" y="145360"/>
                </a:cubicBezTo>
                <a:close/>
              </a:path>
            </a:pathLst>
          </a:cu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9" name="Google Shape;889;p58"/>
          <p:cNvCxnSpPr/>
          <p:nvPr/>
        </p:nvCxnSpPr>
        <p:spPr>
          <a:xfrm>
            <a:off x="5289948" y="1371600"/>
            <a:ext cx="1463277" cy="8286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0" name="Google Shape;890;p58"/>
          <p:cNvSpPr txBox="1"/>
          <p:nvPr/>
        </p:nvSpPr>
        <p:spPr>
          <a:xfrm>
            <a:off x="175020" y="6414436"/>
            <a:ext cx="7543800" cy="38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None/>
            </a:pPr>
            <a:r>
              <a:rPr lang="en-AU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1:1 Relationship Types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9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>
                <a:latin typeface="Times New Roman"/>
                <a:ea typeface="Times New Roman"/>
                <a:cs typeface="Times New Roman"/>
                <a:sym typeface="Times New Roman"/>
              </a:rPr>
              <a:t>Mapping 1:1 Relationship Types</a:t>
            </a:r>
            <a:endParaRPr/>
          </a:p>
        </p:txBody>
      </p:sp>
      <p:sp>
        <p:nvSpPr>
          <p:cNvPr id="896" name="Google Shape;896;p5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43</a:t>
            </a:fld>
            <a:endParaRPr/>
          </a:p>
        </p:txBody>
      </p:sp>
      <p:graphicFrame>
        <p:nvGraphicFramePr>
          <p:cNvPr id="897" name="Google Shape;897;p59"/>
          <p:cNvGraphicFramePr/>
          <p:nvPr/>
        </p:nvGraphicFramePr>
        <p:xfrm>
          <a:off x="2362200" y="1778000"/>
          <a:ext cx="3901400" cy="5080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9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SSN</a:t>
                      </a:r>
                      <a:endParaRPr sz="1800" u="sng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Fname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Lname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Birdate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8" name="Google Shape;898;p59"/>
          <p:cNvGraphicFramePr/>
          <p:nvPr/>
        </p:nvGraphicFramePr>
        <p:xfrm>
          <a:off x="2362200" y="2895600"/>
          <a:ext cx="4114800" cy="5334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9A9A8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AU" sz="18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9A9A8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AU" sz="18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Mdate</a:t>
                      </a:r>
                      <a:endParaRPr sz="1800">
                        <a:solidFill>
                          <a:srgbClr val="FFC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9" name="Google Shape;899;p59"/>
          <p:cNvGraphicFramePr/>
          <p:nvPr/>
        </p:nvGraphicFramePr>
        <p:xfrm>
          <a:off x="2362200" y="4064000"/>
          <a:ext cx="2133600" cy="4318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Pnumber</a:t>
                      </a:r>
                      <a:endParaRPr sz="1800" u="sng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0" name="Google Shape;900;p59"/>
          <p:cNvSpPr txBox="1"/>
          <p:nvPr/>
        </p:nvSpPr>
        <p:spPr>
          <a:xfrm>
            <a:off x="2292212" y="1361181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901" name="Google Shape;901;p59"/>
          <p:cNvSpPr txBox="1"/>
          <p:nvPr/>
        </p:nvSpPr>
        <p:spPr>
          <a:xfrm>
            <a:off x="2343150" y="2507218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902" name="Google Shape;902;p59"/>
          <p:cNvSpPr txBox="1"/>
          <p:nvPr/>
        </p:nvSpPr>
        <p:spPr>
          <a:xfrm>
            <a:off x="2305050" y="3657600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graphicFrame>
        <p:nvGraphicFramePr>
          <p:cNvPr id="903" name="Google Shape;903;p59"/>
          <p:cNvGraphicFramePr/>
          <p:nvPr/>
        </p:nvGraphicFramePr>
        <p:xfrm>
          <a:off x="2381249" y="5181600"/>
          <a:ext cx="4064000" cy="4572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Fname</a:t>
                      </a:r>
                      <a:endParaRPr sz="1800">
                        <a:solidFill>
                          <a:srgbClr val="5913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Birdate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4" name="Google Shape;904;p59"/>
          <p:cNvSpPr txBox="1"/>
          <p:nvPr/>
        </p:nvSpPr>
        <p:spPr>
          <a:xfrm>
            <a:off x="2295525" y="4724400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</a:t>
            </a:r>
            <a:endParaRPr/>
          </a:p>
        </p:txBody>
      </p:sp>
      <p:cxnSp>
        <p:nvCxnSpPr>
          <p:cNvPr id="905" name="Google Shape;905;p59"/>
          <p:cNvCxnSpPr/>
          <p:nvPr/>
        </p:nvCxnSpPr>
        <p:spPr>
          <a:xfrm rot="10800000">
            <a:off x="2543175" y="5562600"/>
            <a:ext cx="17240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06" name="Google Shape;906;p59"/>
          <p:cNvGrpSpPr/>
          <p:nvPr/>
        </p:nvGrpSpPr>
        <p:grpSpPr>
          <a:xfrm>
            <a:off x="3000375" y="2286000"/>
            <a:ext cx="1876425" cy="609600"/>
            <a:chOff x="2009775" y="914400"/>
            <a:chExt cx="1876425" cy="609600"/>
          </a:xfrm>
        </p:grpSpPr>
        <p:cxnSp>
          <p:nvCxnSpPr>
            <p:cNvPr id="907" name="Google Shape;907;p59"/>
            <p:cNvCxnSpPr/>
            <p:nvPr/>
          </p:nvCxnSpPr>
          <p:spPr>
            <a:xfrm rot="10800000">
              <a:off x="2009775" y="914400"/>
              <a:ext cx="0" cy="304801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08" name="Google Shape;908;p59"/>
            <p:cNvCxnSpPr/>
            <p:nvPr/>
          </p:nvCxnSpPr>
          <p:spPr>
            <a:xfrm>
              <a:off x="2009775" y="1219200"/>
              <a:ext cx="1876425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9" name="Google Shape;909;p59"/>
            <p:cNvCxnSpPr/>
            <p:nvPr/>
          </p:nvCxnSpPr>
          <p:spPr>
            <a:xfrm>
              <a:off x="3886200" y="1219200"/>
              <a:ext cx="0" cy="3048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10" name="Google Shape;910;p59"/>
          <p:cNvSpPr txBox="1"/>
          <p:nvPr/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endParaRPr sz="36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1" name="Google Shape;911;p59"/>
          <p:cNvSpPr txBox="1"/>
          <p:nvPr/>
        </p:nvSpPr>
        <p:spPr>
          <a:xfrm>
            <a:off x="2518500" y="1806500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59"/>
          <p:cNvSpPr txBox="1"/>
          <p:nvPr/>
        </p:nvSpPr>
        <p:spPr>
          <a:xfrm>
            <a:off x="2518500" y="5184700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3" name="Google Shape;913;p59"/>
          <p:cNvCxnSpPr>
            <a:stCxn id="912" idx="1"/>
            <a:endCxn id="911" idx="1"/>
          </p:cNvCxnSpPr>
          <p:nvPr/>
        </p:nvCxnSpPr>
        <p:spPr>
          <a:xfrm rot="10800000" flipH="1">
            <a:off x="2518500" y="2006500"/>
            <a:ext cx="600" cy="3378300"/>
          </a:xfrm>
          <a:prstGeom prst="bentConnector3">
            <a:avLst>
              <a:gd name="adj1" fmla="val -57191667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0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>
                <a:latin typeface="Times New Roman"/>
                <a:ea typeface="Times New Roman"/>
                <a:cs typeface="Times New Roman"/>
                <a:sym typeface="Times New Roman"/>
              </a:rPr>
              <a:t>Mapping 1:N Relationship Types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0" name="Google Shape;920;p60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400"/>
              <a:t>Step 4 : For each </a:t>
            </a:r>
            <a:r>
              <a:rPr lang="en-AU" sz="2400" b="1" i="1"/>
              <a:t>1:N relationship type</a:t>
            </a:r>
            <a:r>
              <a:rPr lang="en-AU" sz="2400"/>
              <a:t> B. Let E and F be the participating entity types. Let S and T be the corresponding relations. Let E be the entity on the 1 side and F on the N side. </a:t>
            </a:r>
            <a:endParaRPr sz="2400"/>
          </a:p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 sz="2400"/>
              <a:t>Add to the relation belonging to entity T, </a:t>
            </a:r>
            <a:endParaRPr sz="2400"/>
          </a:p>
          <a:p>
            <a:pPr marL="384048" lvl="1" indent="-22098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the attributes from the primary key of S as a foreign key.</a:t>
            </a:r>
            <a:endParaRPr sz="2400"/>
          </a:p>
          <a:p>
            <a:pPr marL="384048" lvl="1" indent="-22098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any simple attributes (or simple components of composite attributes) from relationship B. </a:t>
            </a:r>
            <a:endParaRPr sz="2400"/>
          </a:p>
          <a:p>
            <a:pPr marL="0" lvl="0" indent="0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AU" sz="2000"/>
              <a:t>(Notice that this doesn’t add any new tuples, just attributes.)</a:t>
            </a:r>
            <a:endParaRPr sz="2000"/>
          </a:p>
        </p:txBody>
      </p:sp>
      <p:sp>
        <p:nvSpPr>
          <p:cNvPr id="921" name="Google Shape;921;p6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44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45</a:t>
            </a:fld>
            <a:endParaRPr/>
          </a:p>
        </p:txBody>
      </p:sp>
      <p:sp>
        <p:nvSpPr>
          <p:cNvPr id="927" name="Google Shape;927;p61"/>
          <p:cNvSpPr/>
          <p:nvPr/>
        </p:nvSpPr>
        <p:spPr>
          <a:xfrm>
            <a:off x="523875" y="6858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8" name="Google Shape;928;p61"/>
          <p:cNvSpPr/>
          <p:nvPr/>
        </p:nvSpPr>
        <p:spPr>
          <a:xfrm>
            <a:off x="1295400" y="139065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61"/>
          <p:cNvSpPr/>
          <p:nvPr/>
        </p:nvSpPr>
        <p:spPr>
          <a:xfrm>
            <a:off x="1600200" y="54102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61"/>
          <p:cNvSpPr/>
          <p:nvPr/>
        </p:nvSpPr>
        <p:spPr>
          <a:xfrm>
            <a:off x="6329362" y="51816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1" name="Google Shape;931;p61"/>
          <p:cNvSpPr/>
          <p:nvPr/>
        </p:nvSpPr>
        <p:spPr>
          <a:xfrm>
            <a:off x="2209800" y="8763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61"/>
          <p:cNvSpPr/>
          <p:nvPr/>
        </p:nvSpPr>
        <p:spPr>
          <a:xfrm>
            <a:off x="6334125" y="13716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3" name="Google Shape;933;p61"/>
          <p:cNvSpPr/>
          <p:nvPr/>
        </p:nvSpPr>
        <p:spPr>
          <a:xfrm>
            <a:off x="7777161" y="1321832"/>
            <a:ext cx="985837" cy="535543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61"/>
          <p:cNvSpPr/>
          <p:nvPr/>
        </p:nvSpPr>
        <p:spPr>
          <a:xfrm>
            <a:off x="3305175" y="4572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61"/>
          <p:cNvSpPr/>
          <p:nvPr/>
        </p:nvSpPr>
        <p:spPr>
          <a:xfrm>
            <a:off x="7569993" y="5152251"/>
            <a:ext cx="1138236" cy="534948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61"/>
          <p:cNvSpPr/>
          <p:nvPr/>
        </p:nvSpPr>
        <p:spPr>
          <a:xfrm>
            <a:off x="409575" y="530542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p61"/>
          <p:cNvSpPr/>
          <p:nvPr/>
        </p:nvSpPr>
        <p:spPr>
          <a:xfrm>
            <a:off x="2886075" y="532447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p61"/>
          <p:cNvSpPr/>
          <p:nvPr/>
        </p:nvSpPr>
        <p:spPr>
          <a:xfrm>
            <a:off x="4114800" y="193357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p61"/>
          <p:cNvSpPr/>
          <p:nvPr/>
        </p:nvSpPr>
        <p:spPr>
          <a:xfrm>
            <a:off x="1185862" y="2171700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940" name="Google Shape;940;p61"/>
          <p:cNvSpPr/>
          <p:nvPr/>
        </p:nvSpPr>
        <p:spPr>
          <a:xfrm>
            <a:off x="6557962" y="4038600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1" name="Google Shape;941;p61"/>
          <p:cNvSpPr/>
          <p:nvPr/>
        </p:nvSpPr>
        <p:spPr>
          <a:xfrm>
            <a:off x="6753225" y="2162175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2" name="Google Shape;942;p61"/>
          <p:cNvSpPr/>
          <p:nvPr/>
        </p:nvSpPr>
        <p:spPr>
          <a:xfrm>
            <a:off x="1176336" y="4554498"/>
            <a:ext cx="1228725" cy="5334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3" name="Google Shape;943;p61"/>
          <p:cNvSpPr/>
          <p:nvPr/>
        </p:nvSpPr>
        <p:spPr>
          <a:xfrm>
            <a:off x="1042986" y="4478298"/>
            <a:ext cx="1528763" cy="6858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61"/>
          <p:cNvSpPr/>
          <p:nvPr/>
        </p:nvSpPr>
        <p:spPr>
          <a:xfrm>
            <a:off x="4171950" y="48006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5" name="Google Shape;945;p61"/>
          <p:cNvSpPr/>
          <p:nvPr/>
        </p:nvSpPr>
        <p:spPr>
          <a:xfrm>
            <a:off x="3924300" y="3638550"/>
            <a:ext cx="1365648" cy="800100"/>
          </a:xfrm>
          <a:prstGeom prst="flowChartDecision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61"/>
          <p:cNvSpPr/>
          <p:nvPr/>
        </p:nvSpPr>
        <p:spPr>
          <a:xfrm>
            <a:off x="1047748" y="3168134"/>
            <a:ext cx="1504951" cy="9144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61"/>
          <p:cNvSpPr/>
          <p:nvPr/>
        </p:nvSpPr>
        <p:spPr>
          <a:xfrm>
            <a:off x="1228723" y="3282434"/>
            <a:ext cx="1143000" cy="6858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8" name="Google Shape;948;p61"/>
          <p:cNvSpPr/>
          <p:nvPr/>
        </p:nvSpPr>
        <p:spPr>
          <a:xfrm>
            <a:off x="3889176" y="2695575"/>
            <a:ext cx="1365648" cy="783193"/>
          </a:xfrm>
          <a:prstGeom prst="flowChartDecision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9" name="Google Shape;949;p61"/>
          <p:cNvSpPr/>
          <p:nvPr/>
        </p:nvSpPr>
        <p:spPr>
          <a:xfrm>
            <a:off x="7134225" y="419100"/>
            <a:ext cx="914400" cy="5334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0" name="Google Shape;950;p61"/>
          <p:cNvSpPr/>
          <p:nvPr/>
        </p:nvSpPr>
        <p:spPr>
          <a:xfrm>
            <a:off x="6924675" y="323850"/>
            <a:ext cx="1276350" cy="7239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1" name="Google Shape;951;p61"/>
          <p:cNvSpPr/>
          <p:nvPr/>
        </p:nvSpPr>
        <p:spPr>
          <a:xfrm>
            <a:off x="3924300" y="1066800"/>
            <a:ext cx="1381124" cy="647700"/>
          </a:xfrm>
          <a:prstGeom prst="flowChartDecision">
            <a:avLst/>
          </a:prstGeom>
          <a:noFill/>
          <a:ln w="15875" cap="flat" cmpd="sng">
            <a:solidFill>
              <a:srgbClr val="FFD7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2" name="Google Shape;952;p61"/>
          <p:cNvSpPr txBox="1"/>
          <p:nvPr/>
        </p:nvSpPr>
        <p:spPr>
          <a:xfrm>
            <a:off x="685800" y="773668"/>
            <a:ext cx="638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953" name="Google Shape;953;p61"/>
          <p:cNvSpPr txBox="1"/>
          <p:nvPr/>
        </p:nvSpPr>
        <p:spPr>
          <a:xfrm>
            <a:off x="1347787" y="1453634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954" name="Google Shape;954;p61"/>
          <p:cNvSpPr txBox="1"/>
          <p:nvPr/>
        </p:nvSpPr>
        <p:spPr>
          <a:xfrm>
            <a:off x="2309812" y="952500"/>
            <a:ext cx="8905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61"/>
          <p:cNvSpPr txBox="1"/>
          <p:nvPr/>
        </p:nvSpPr>
        <p:spPr>
          <a:xfrm>
            <a:off x="3362325" y="545068"/>
            <a:ext cx="828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61"/>
          <p:cNvSpPr txBox="1"/>
          <p:nvPr/>
        </p:nvSpPr>
        <p:spPr>
          <a:xfrm>
            <a:off x="1247775" y="2228850"/>
            <a:ext cx="11715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957" name="Google Shape;957;p61"/>
          <p:cNvSpPr txBox="1"/>
          <p:nvPr/>
        </p:nvSpPr>
        <p:spPr>
          <a:xfrm>
            <a:off x="4144565" y="1215509"/>
            <a:ext cx="12930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Works_For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8" name="Google Shape;958;p61"/>
          <p:cNvSpPr txBox="1"/>
          <p:nvPr/>
        </p:nvSpPr>
        <p:spPr>
          <a:xfrm>
            <a:off x="1426367" y="3440668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</a:t>
            </a:r>
            <a:endParaRPr/>
          </a:p>
        </p:txBody>
      </p:sp>
      <p:sp>
        <p:nvSpPr>
          <p:cNvPr id="959" name="Google Shape;959;p61"/>
          <p:cNvSpPr txBox="1"/>
          <p:nvPr/>
        </p:nvSpPr>
        <p:spPr>
          <a:xfrm>
            <a:off x="1152524" y="4619625"/>
            <a:ext cx="12406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</a:t>
            </a:r>
            <a:endParaRPr/>
          </a:p>
        </p:txBody>
      </p:sp>
      <p:sp>
        <p:nvSpPr>
          <p:cNvPr id="960" name="Google Shape;960;p61"/>
          <p:cNvSpPr txBox="1"/>
          <p:nvPr/>
        </p:nvSpPr>
        <p:spPr>
          <a:xfrm>
            <a:off x="433387" y="5392137"/>
            <a:ext cx="890588" cy="39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- - - - -</a:t>
            </a:r>
            <a:endParaRPr/>
          </a:p>
        </p:txBody>
      </p:sp>
      <p:sp>
        <p:nvSpPr>
          <p:cNvPr id="961" name="Google Shape;961;p61"/>
          <p:cNvSpPr txBox="1"/>
          <p:nvPr/>
        </p:nvSpPr>
        <p:spPr>
          <a:xfrm>
            <a:off x="1600200" y="5469493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962" name="Google Shape;962;p61"/>
          <p:cNvSpPr txBox="1"/>
          <p:nvPr/>
        </p:nvSpPr>
        <p:spPr>
          <a:xfrm>
            <a:off x="2878931" y="540650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</a:t>
            </a:r>
            <a:endParaRPr/>
          </a:p>
        </p:txBody>
      </p:sp>
      <p:sp>
        <p:nvSpPr>
          <p:cNvPr id="963" name="Google Shape;963;p61"/>
          <p:cNvSpPr txBox="1"/>
          <p:nvPr/>
        </p:nvSpPr>
        <p:spPr>
          <a:xfrm>
            <a:off x="4163615" y="201560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Mdate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61"/>
          <p:cNvSpPr txBox="1"/>
          <p:nvPr/>
        </p:nvSpPr>
        <p:spPr>
          <a:xfrm>
            <a:off x="4057650" y="2913102"/>
            <a:ext cx="102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</a:t>
            </a:r>
            <a:endParaRPr/>
          </a:p>
        </p:txBody>
      </p:sp>
      <p:sp>
        <p:nvSpPr>
          <p:cNvPr id="965" name="Google Shape;965;p61"/>
          <p:cNvSpPr txBox="1"/>
          <p:nvPr/>
        </p:nvSpPr>
        <p:spPr>
          <a:xfrm>
            <a:off x="4092177" y="3884711"/>
            <a:ext cx="13989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Participation</a:t>
            </a:r>
            <a:endParaRPr/>
          </a:p>
        </p:txBody>
      </p:sp>
      <p:sp>
        <p:nvSpPr>
          <p:cNvPr id="966" name="Google Shape;966;p61"/>
          <p:cNvSpPr txBox="1"/>
          <p:nvPr/>
        </p:nvSpPr>
        <p:spPr>
          <a:xfrm>
            <a:off x="4323161" y="4889837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/>
          </a:p>
        </p:txBody>
      </p:sp>
      <p:sp>
        <p:nvSpPr>
          <p:cNvPr id="967" name="Google Shape;967;p61"/>
          <p:cNvSpPr txBox="1"/>
          <p:nvPr/>
        </p:nvSpPr>
        <p:spPr>
          <a:xfrm>
            <a:off x="7172324" y="506968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</a:t>
            </a:r>
            <a:endParaRPr/>
          </a:p>
        </p:txBody>
      </p:sp>
      <p:sp>
        <p:nvSpPr>
          <p:cNvPr id="968" name="Google Shape;968;p61"/>
          <p:cNvSpPr txBox="1"/>
          <p:nvPr/>
        </p:nvSpPr>
        <p:spPr>
          <a:xfrm>
            <a:off x="6386512" y="1430893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</p:txBody>
      </p:sp>
      <p:sp>
        <p:nvSpPr>
          <p:cNvPr id="969" name="Google Shape;969;p61"/>
          <p:cNvSpPr txBox="1"/>
          <p:nvPr/>
        </p:nvSpPr>
        <p:spPr>
          <a:xfrm>
            <a:off x="7786687" y="1400175"/>
            <a:ext cx="1038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</a:t>
            </a:r>
            <a:endParaRPr/>
          </a:p>
        </p:txBody>
      </p:sp>
      <p:sp>
        <p:nvSpPr>
          <p:cNvPr id="970" name="Google Shape;970;p61"/>
          <p:cNvSpPr txBox="1"/>
          <p:nvPr/>
        </p:nvSpPr>
        <p:spPr>
          <a:xfrm>
            <a:off x="6705600" y="2244209"/>
            <a:ext cx="13858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971" name="Google Shape;971;p61"/>
          <p:cNvSpPr txBox="1"/>
          <p:nvPr/>
        </p:nvSpPr>
        <p:spPr>
          <a:xfrm>
            <a:off x="6688930" y="4108966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sp>
        <p:nvSpPr>
          <p:cNvPr id="972" name="Google Shape;972;p61"/>
          <p:cNvSpPr txBox="1"/>
          <p:nvPr/>
        </p:nvSpPr>
        <p:spPr>
          <a:xfrm>
            <a:off x="6348412" y="5247714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3" name="Google Shape;973;p61"/>
          <p:cNvSpPr txBox="1"/>
          <p:nvPr/>
        </p:nvSpPr>
        <p:spPr>
          <a:xfrm>
            <a:off x="7655717" y="5247714"/>
            <a:ext cx="1135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Pnumber</a:t>
            </a:r>
            <a:endParaRPr/>
          </a:p>
        </p:txBody>
      </p:sp>
      <p:cxnSp>
        <p:nvCxnSpPr>
          <p:cNvPr id="974" name="Google Shape;974;p61"/>
          <p:cNvCxnSpPr>
            <a:stCxn id="927" idx="4"/>
          </p:cNvCxnSpPr>
          <p:nvPr/>
        </p:nvCxnSpPr>
        <p:spPr>
          <a:xfrm>
            <a:off x="981075" y="1219200"/>
            <a:ext cx="204900" cy="94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5" name="Google Shape;975;p61"/>
          <p:cNvCxnSpPr>
            <a:stCxn id="928" idx="4"/>
            <a:endCxn id="939" idx="0"/>
          </p:cNvCxnSpPr>
          <p:nvPr/>
        </p:nvCxnSpPr>
        <p:spPr>
          <a:xfrm>
            <a:off x="1752600" y="1924050"/>
            <a:ext cx="47700" cy="247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6" name="Google Shape;976;p61"/>
          <p:cNvCxnSpPr>
            <a:stCxn id="931" idx="4"/>
          </p:cNvCxnSpPr>
          <p:nvPr/>
        </p:nvCxnSpPr>
        <p:spPr>
          <a:xfrm flipH="1">
            <a:off x="1957500" y="1409700"/>
            <a:ext cx="709500" cy="748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7" name="Google Shape;977;p61"/>
          <p:cNvCxnSpPr>
            <a:stCxn id="934" idx="4"/>
          </p:cNvCxnSpPr>
          <p:nvPr/>
        </p:nvCxnSpPr>
        <p:spPr>
          <a:xfrm flipH="1">
            <a:off x="2083575" y="990600"/>
            <a:ext cx="1678800" cy="1167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8" name="Google Shape;978;p61"/>
          <p:cNvCxnSpPr>
            <a:stCxn id="951" idx="1"/>
          </p:cNvCxnSpPr>
          <p:nvPr/>
        </p:nvCxnSpPr>
        <p:spPr>
          <a:xfrm flipH="1">
            <a:off x="2419500" y="1390650"/>
            <a:ext cx="1504800" cy="771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9" name="Google Shape;979;p61"/>
          <p:cNvCxnSpPr/>
          <p:nvPr/>
        </p:nvCxnSpPr>
        <p:spPr>
          <a:xfrm flipH="1">
            <a:off x="2414587" y="1453634"/>
            <a:ext cx="1624013" cy="7905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0" name="Google Shape;980;p61"/>
          <p:cNvCxnSpPr>
            <a:stCxn id="939" idx="2"/>
            <a:endCxn id="946" idx="0"/>
          </p:cNvCxnSpPr>
          <p:nvPr/>
        </p:nvCxnSpPr>
        <p:spPr>
          <a:xfrm>
            <a:off x="1800225" y="2705100"/>
            <a:ext cx="0" cy="46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1" name="Google Shape;981;p61"/>
          <p:cNvCxnSpPr/>
          <p:nvPr/>
        </p:nvCxnSpPr>
        <p:spPr>
          <a:xfrm flipH="1">
            <a:off x="1909761" y="4038599"/>
            <a:ext cx="1" cy="43969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2" name="Google Shape;982;p61"/>
          <p:cNvCxnSpPr/>
          <p:nvPr/>
        </p:nvCxnSpPr>
        <p:spPr>
          <a:xfrm flipH="1">
            <a:off x="866775" y="5194255"/>
            <a:ext cx="428625" cy="10164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3" name="Google Shape;983;p61"/>
          <p:cNvCxnSpPr>
            <a:stCxn id="943" idx="2"/>
            <a:endCxn id="929" idx="0"/>
          </p:cNvCxnSpPr>
          <p:nvPr/>
        </p:nvCxnSpPr>
        <p:spPr>
          <a:xfrm>
            <a:off x="1807368" y="5164098"/>
            <a:ext cx="249900" cy="246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4" name="Google Shape;984;p61"/>
          <p:cNvCxnSpPr/>
          <p:nvPr/>
        </p:nvCxnSpPr>
        <p:spPr>
          <a:xfrm>
            <a:off x="2083593" y="5181600"/>
            <a:ext cx="1235865" cy="1428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5" name="Google Shape;985;p61"/>
          <p:cNvCxnSpPr>
            <a:endCxn id="945" idx="1"/>
          </p:cNvCxnSpPr>
          <p:nvPr/>
        </p:nvCxnSpPr>
        <p:spPr>
          <a:xfrm>
            <a:off x="2393100" y="2705100"/>
            <a:ext cx="1531200" cy="1333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6" name="Google Shape;986;p61"/>
          <p:cNvCxnSpPr>
            <a:endCxn id="948" idx="1"/>
          </p:cNvCxnSpPr>
          <p:nvPr/>
        </p:nvCxnSpPr>
        <p:spPr>
          <a:xfrm>
            <a:off x="2444976" y="2695672"/>
            <a:ext cx="1444200" cy="391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7" name="Google Shape;987;p61"/>
          <p:cNvCxnSpPr>
            <a:stCxn id="938" idx="4"/>
            <a:endCxn id="948" idx="0"/>
          </p:cNvCxnSpPr>
          <p:nvPr/>
        </p:nvCxnSpPr>
        <p:spPr>
          <a:xfrm>
            <a:off x="4572000" y="2466975"/>
            <a:ext cx="0" cy="228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8" name="Google Shape;988;p61"/>
          <p:cNvCxnSpPr>
            <a:endCxn id="944" idx="0"/>
          </p:cNvCxnSpPr>
          <p:nvPr/>
        </p:nvCxnSpPr>
        <p:spPr>
          <a:xfrm>
            <a:off x="4612350" y="4449600"/>
            <a:ext cx="16800" cy="351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9" name="Google Shape;989;p61"/>
          <p:cNvCxnSpPr/>
          <p:nvPr/>
        </p:nvCxnSpPr>
        <p:spPr>
          <a:xfrm flipH="1">
            <a:off x="1752599" y="4049672"/>
            <a:ext cx="1" cy="40005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0" name="Google Shape;990;p61"/>
          <p:cNvCxnSpPr/>
          <p:nvPr/>
        </p:nvCxnSpPr>
        <p:spPr>
          <a:xfrm flipH="1">
            <a:off x="5180406" y="2244209"/>
            <a:ext cx="1572819" cy="79003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1" name="Google Shape;991;p61"/>
          <p:cNvCxnSpPr>
            <a:endCxn id="941" idx="0"/>
          </p:cNvCxnSpPr>
          <p:nvPr/>
        </p:nvCxnSpPr>
        <p:spPr>
          <a:xfrm flipH="1">
            <a:off x="7367588" y="1848975"/>
            <a:ext cx="856200" cy="313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2" name="Google Shape;992;p61"/>
          <p:cNvCxnSpPr>
            <a:endCxn id="941" idx="0"/>
          </p:cNvCxnSpPr>
          <p:nvPr/>
        </p:nvCxnSpPr>
        <p:spPr>
          <a:xfrm flipH="1">
            <a:off x="7367588" y="1041075"/>
            <a:ext cx="190500" cy="1121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3" name="Google Shape;993;p61"/>
          <p:cNvCxnSpPr>
            <a:endCxn id="941" idx="0"/>
          </p:cNvCxnSpPr>
          <p:nvPr/>
        </p:nvCxnSpPr>
        <p:spPr>
          <a:xfrm>
            <a:off x="7031888" y="1867875"/>
            <a:ext cx="335700" cy="294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4" name="Google Shape;994;p61"/>
          <p:cNvCxnSpPr/>
          <p:nvPr/>
        </p:nvCxnSpPr>
        <p:spPr>
          <a:xfrm flipH="1">
            <a:off x="6831805" y="4572000"/>
            <a:ext cx="200025" cy="62358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5" name="Google Shape;995;p61"/>
          <p:cNvCxnSpPr/>
          <p:nvPr/>
        </p:nvCxnSpPr>
        <p:spPr>
          <a:xfrm>
            <a:off x="5289948" y="4049672"/>
            <a:ext cx="1268014" cy="4714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6" name="Google Shape;996;p61"/>
          <p:cNvCxnSpPr/>
          <p:nvPr/>
        </p:nvCxnSpPr>
        <p:spPr>
          <a:xfrm rot="10800000" flipH="1">
            <a:off x="5216724" y="2304514"/>
            <a:ext cx="1536501" cy="80117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7" name="Google Shape;997;p61"/>
          <p:cNvCxnSpPr/>
          <p:nvPr/>
        </p:nvCxnSpPr>
        <p:spPr>
          <a:xfrm>
            <a:off x="7398543" y="4572000"/>
            <a:ext cx="740569" cy="606087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8" name="Google Shape;998;p61"/>
          <p:cNvSpPr txBox="1"/>
          <p:nvPr/>
        </p:nvSpPr>
        <p:spPr>
          <a:xfrm>
            <a:off x="3162301" y="1769507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999" name="Google Shape;999;p61"/>
          <p:cNvSpPr txBox="1"/>
          <p:nvPr/>
        </p:nvSpPr>
        <p:spPr>
          <a:xfrm>
            <a:off x="1438275" y="403443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000" name="Google Shape;1000;p61"/>
          <p:cNvSpPr txBox="1"/>
          <p:nvPr/>
        </p:nvSpPr>
        <p:spPr>
          <a:xfrm>
            <a:off x="3257550" y="325600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001" name="Google Shape;1001;p61"/>
          <p:cNvSpPr txBox="1"/>
          <p:nvPr/>
        </p:nvSpPr>
        <p:spPr>
          <a:xfrm>
            <a:off x="5889724" y="371320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sp>
        <p:nvSpPr>
          <p:cNvPr id="1002" name="Google Shape;1002;p61"/>
          <p:cNvSpPr txBox="1"/>
          <p:nvPr/>
        </p:nvSpPr>
        <p:spPr>
          <a:xfrm>
            <a:off x="5871565" y="1205209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03" name="Google Shape;1003;p61"/>
          <p:cNvSpPr txBox="1"/>
          <p:nvPr/>
        </p:nvSpPr>
        <p:spPr>
          <a:xfrm>
            <a:off x="5491161" y="2428875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04" name="Google Shape;1004;p61"/>
          <p:cNvSpPr txBox="1"/>
          <p:nvPr/>
        </p:nvSpPr>
        <p:spPr>
          <a:xfrm>
            <a:off x="3105150" y="2522041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05" name="Google Shape;1005;p61"/>
          <p:cNvSpPr txBox="1"/>
          <p:nvPr/>
        </p:nvSpPr>
        <p:spPr>
          <a:xfrm>
            <a:off x="1524000" y="2751951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06" name="Google Shape;1006;p61"/>
          <p:cNvSpPr/>
          <p:nvPr/>
        </p:nvSpPr>
        <p:spPr>
          <a:xfrm>
            <a:off x="3530969" y="875515"/>
            <a:ext cx="2336432" cy="1068192"/>
          </a:xfrm>
          <a:custGeom>
            <a:avLst/>
            <a:gdLst/>
            <a:ahLst/>
            <a:cxnLst/>
            <a:rect l="l" t="t" r="r" b="b"/>
            <a:pathLst>
              <a:path w="2746457" h="1068192" extrusionOk="0">
                <a:moveTo>
                  <a:pt x="917207" y="785"/>
                </a:moveTo>
                <a:cubicBezTo>
                  <a:pt x="466357" y="18247"/>
                  <a:pt x="-121018" y="365910"/>
                  <a:pt x="21857" y="543710"/>
                </a:cubicBezTo>
                <a:cubicBezTo>
                  <a:pt x="164732" y="721510"/>
                  <a:pt x="1323607" y="1085047"/>
                  <a:pt x="1774457" y="1067585"/>
                </a:cubicBezTo>
                <a:cubicBezTo>
                  <a:pt x="2225307" y="1050123"/>
                  <a:pt x="2866657" y="616735"/>
                  <a:pt x="2726957" y="438935"/>
                </a:cubicBezTo>
                <a:cubicBezTo>
                  <a:pt x="2587257" y="261135"/>
                  <a:pt x="1368057" y="-16677"/>
                  <a:pt x="917207" y="785"/>
                </a:cubicBezTo>
                <a:close/>
              </a:path>
            </a:pathLst>
          </a:cu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7" name="Google Shape;1007;p61"/>
          <p:cNvCxnSpPr/>
          <p:nvPr/>
        </p:nvCxnSpPr>
        <p:spPr>
          <a:xfrm>
            <a:off x="5289948" y="1371600"/>
            <a:ext cx="1463277" cy="8286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8" name="Google Shape;1008;p61"/>
          <p:cNvSpPr txBox="1"/>
          <p:nvPr/>
        </p:nvSpPr>
        <p:spPr>
          <a:xfrm>
            <a:off x="175020" y="6414436"/>
            <a:ext cx="7543800" cy="38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None/>
            </a:pPr>
            <a:r>
              <a:rPr lang="en-AU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1:N Relationship Types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62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>
                <a:latin typeface="Times New Roman"/>
                <a:ea typeface="Times New Roman"/>
                <a:cs typeface="Times New Roman"/>
                <a:sym typeface="Times New Roman"/>
              </a:rPr>
              <a:t>Mapping 1:N Relationship Types</a:t>
            </a:r>
            <a:endParaRPr/>
          </a:p>
        </p:txBody>
      </p:sp>
      <p:sp>
        <p:nvSpPr>
          <p:cNvPr id="1014" name="Google Shape;1014;p6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46</a:t>
            </a:fld>
            <a:endParaRPr/>
          </a:p>
        </p:txBody>
      </p:sp>
      <p:graphicFrame>
        <p:nvGraphicFramePr>
          <p:cNvPr id="1015" name="Google Shape;1015;p62"/>
          <p:cNvGraphicFramePr/>
          <p:nvPr/>
        </p:nvGraphicFramePr>
        <p:xfrm>
          <a:off x="2234779" y="1701800"/>
          <a:ext cx="5181625" cy="5080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SSN</a:t>
                      </a:r>
                      <a:endParaRPr sz="1800" u="sng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Fname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Lname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Birdate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Dname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6" name="Google Shape;1016;p62"/>
          <p:cNvGraphicFramePr/>
          <p:nvPr/>
        </p:nvGraphicFramePr>
        <p:xfrm>
          <a:off x="2234779" y="2819400"/>
          <a:ext cx="4114800" cy="5334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9A9A8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AU" sz="18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9A9A8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AU" sz="18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Mdate</a:t>
                      </a:r>
                      <a:endParaRPr sz="1800">
                        <a:solidFill>
                          <a:srgbClr val="FFC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7" name="Google Shape;1017;p62"/>
          <p:cNvGraphicFramePr/>
          <p:nvPr/>
        </p:nvGraphicFramePr>
        <p:xfrm>
          <a:off x="2234779" y="3987800"/>
          <a:ext cx="2133600" cy="4318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Pnumber</a:t>
                      </a:r>
                      <a:endParaRPr sz="1800" u="sng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18" name="Google Shape;1018;p62"/>
          <p:cNvSpPr txBox="1"/>
          <p:nvPr/>
        </p:nvSpPr>
        <p:spPr>
          <a:xfrm>
            <a:off x="2168104" y="1295916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1019" name="Google Shape;1019;p62"/>
          <p:cNvSpPr txBox="1"/>
          <p:nvPr/>
        </p:nvSpPr>
        <p:spPr>
          <a:xfrm>
            <a:off x="2215729" y="2431018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1020" name="Google Shape;1020;p62"/>
          <p:cNvSpPr txBox="1"/>
          <p:nvPr/>
        </p:nvSpPr>
        <p:spPr>
          <a:xfrm>
            <a:off x="2177629" y="3581400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graphicFrame>
        <p:nvGraphicFramePr>
          <p:cNvPr id="1021" name="Google Shape;1021;p62"/>
          <p:cNvGraphicFramePr/>
          <p:nvPr/>
        </p:nvGraphicFramePr>
        <p:xfrm>
          <a:off x="2253828" y="5105400"/>
          <a:ext cx="4064000" cy="4572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Fname</a:t>
                      </a:r>
                      <a:endParaRPr sz="1800">
                        <a:solidFill>
                          <a:srgbClr val="5913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Birdate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2" name="Google Shape;1022;p62"/>
          <p:cNvSpPr txBox="1"/>
          <p:nvPr/>
        </p:nvSpPr>
        <p:spPr>
          <a:xfrm>
            <a:off x="2168104" y="4648200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</a:t>
            </a:r>
            <a:endParaRPr/>
          </a:p>
        </p:txBody>
      </p:sp>
      <p:cxnSp>
        <p:nvCxnSpPr>
          <p:cNvPr id="1023" name="Google Shape;1023;p62"/>
          <p:cNvCxnSpPr/>
          <p:nvPr/>
        </p:nvCxnSpPr>
        <p:spPr>
          <a:xfrm rot="10800000">
            <a:off x="2415754" y="5486400"/>
            <a:ext cx="17240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24" name="Google Shape;1024;p62"/>
          <p:cNvGrpSpPr/>
          <p:nvPr/>
        </p:nvGrpSpPr>
        <p:grpSpPr>
          <a:xfrm>
            <a:off x="2872954" y="2209800"/>
            <a:ext cx="1876425" cy="609600"/>
            <a:chOff x="2009775" y="914400"/>
            <a:chExt cx="1876425" cy="609600"/>
          </a:xfrm>
        </p:grpSpPr>
        <p:cxnSp>
          <p:nvCxnSpPr>
            <p:cNvPr id="1025" name="Google Shape;1025;p62"/>
            <p:cNvCxnSpPr/>
            <p:nvPr/>
          </p:nvCxnSpPr>
          <p:spPr>
            <a:xfrm rot="10800000">
              <a:off x="2009775" y="914400"/>
              <a:ext cx="0" cy="304801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26" name="Google Shape;1026;p62"/>
            <p:cNvCxnSpPr/>
            <p:nvPr/>
          </p:nvCxnSpPr>
          <p:spPr>
            <a:xfrm>
              <a:off x="2009775" y="1219200"/>
              <a:ext cx="1876425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7" name="Google Shape;1027;p62"/>
            <p:cNvCxnSpPr/>
            <p:nvPr/>
          </p:nvCxnSpPr>
          <p:spPr>
            <a:xfrm>
              <a:off x="3886200" y="1219200"/>
              <a:ext cx="0" cy="3048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028" name="Google Shape;1028;p62"/>
          <p:cNvCxnSpPr/>
          <p:nvPr/>
        </p:nvCxnSpPr>
        <p:spPr>
          <a:xfrm>
            <a:off x="6882979" y="2209800"/>
            <a:ext cx="0" cy="1371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9" name="Google Shape;1029;p62"/>
          <p:cNvCxnSpPr/>
          <p:nvPr/>
        </p:nvCxnSpPr>
        <p:spPr>
          <a:xfrm rot="10800000">
            <a:off x="2892004" y="3581400"/>
            <a:ext cx="3990975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0" name="Google Shape;1030;p62"/>
          <p:cNvCxnSpPr/>
          <p:nvPr/>
        </p:nvCxnSpPr>
        <p:spPr>
          <a:xfrm rot="10800000">
            <a:off x="2892004" y="3352800"/>
            <a:ext cx="0" cy="228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31" name="Google Shape;1031;p62"/>
          <p:cNvSpPr txBox="1"/>
          <p:nvPr/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endParaRPr sz="36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62"/>
          <p:cNvSpPr txBox="1"/>
          <p:nvPr/>
        </p:nvSpPr>
        <p:spPr>
          <a:xfrm>
            <a:off x="2518500" y="1806500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62"/>
          <p:cNvSpPr txBox="1"/>
          <p:nvPr/>
        </p:nvSpPr>
        <p:spPr>
          <a:xfrm>
            <a:off x="2518500" y="5184700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4" name="Google Shape;1034;p62"/>
          <p:cNvCxnSpPr>
            <a:stCxn id="1033" idx="1"/>
            <a:endCxn id="1032" idx="1"/>
          </p:cNvCxnSpPr>
          <p:nvPr/>
        </p:nvCxnSpPr>
        <p:spPr>
          <a:xfrm rot="10800000" flipH="1">
            <a:off x="2518500" y="2006500"/>
            <a:ext cx="600" cy="3378300"/>
          </a:xfrm>
          <a:prstGeom prst="bentConnector3">
            <a:avLst>
              <a:gd name="adj1" fmla="val -81945833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3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>
                <a:latin typeface="Times New Roman"/>
                <a:ea typeface="Times New Roman"/>
                <a:cs typeface="Times New Roman"/>
                <a:sym typeface="Times New Roman"/>
              </a:rPr>
              <a:t>Mapping M: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AU" sz="3600">
                <a:latin typeface="Times New Roman"/>
                <a:ea typeface="Times New Roman"/>
                <a:cs typeface="Times New Roman"/>
                <a:sym typeface="Times New Roman"/>
              </a:rPr>
              <a:t> Relationship Types</a:t>
            </a:r>
            <a:endParaRPr/>
          </a:p>
        </p:txBody>
      </p:sp>
      <p:sp>
        <p:nvSpPr>
          <p:cNvPr id="1040" name="Google Shape;1040;p63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400"/>
              <a:t>Step 5 : For each </a:t>
            </a:r>
            <a:r>
              <a:rPr lang="en-AU" sz="2400" b="1" i="1"/>
              <a:t>N:M relationship type </a:t>
            </a:r>
            <a:r>
              <a:rPr lang="en-AU" sz="2400"/>
              <a:t>B. Let E and F be the participating entity types. Let S and T be the corresponding relations</a:t>
            </a:r>
            <a:br>
              <a:rPr lang="en-AU" sz="2400"/>
            </a:br>
            <a:br>
              <a:rPr lang="en-AU" sz="2400"/>
            </a:br>
            <a:r>
              <a:rPr lang="en-AU" sz="2400"/>
              <a:t>Create a new relation R (</a:t>
            </a:r>
            <a:r>
              <a:rPr lang="en-AU" sz="2400" i="1"/>
              <a:t>cross-reference</a:t>
            </a:r>
            <a:r>
              <a:rPr lang="en-AU" sz="2400"/>
              <a:t>) with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AU" sz="2400"/>
              <a:t>Attributes : </a:t>
            </a:r>
            <a:endParaRPr sz="2400"/>
          </a:p>
          <a:p>
            <a:pPr marL="384048" lvl="1" indent="-22098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Attributes from the key of S as foreign key,</a:t>
            </a:r>
            <a:endParaRPr sz="2400"/>
          </a:p>
          <a:p>
            <a:pPr marL="384048" lvl="1" indent="-2209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And attributes from the key of T as foreign key,</a:t>
            </a:r>
            <a:endParaRPr sz="2400"/>
          </a:p>
          <a:p>
            <a:pPr marL="384048" lvl="1" indent="-2209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AU" sz="2400"/>
              <a:t>And simple attributes, and simple components of composite attributes of relation B.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AU" sz="2400"/>
              <a:t>Key : All attributes from the key of S and the key of T.</a:t>
            </a:r>
            <a:endParaRPr sz="2400"/>
          </a:p>
        </p:txBody>
      </p:sp>
      <p:sp>
        <p:nvSpPr>
          <p:cNvPr id="1041" name="Google Shape;1041;p6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47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6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48</a:t>
            </a:fld>
            <a:endParaRPr/>
          </a:p>
        </p:txBody>
      </p:sp>
      <p:sp>
        <p:nvSpPr>
          <p:cNvPr id="1047" name="Google Shape;1047;p64"/>
          <p:cNvSpPr/>
          <p:nvPr/>
        </p:nvSpPr>
        <p:spPr>
          <a:xfrm>
            <a:off x="523875" y="66675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" name="Google Shape;1048;p64"/>
          <p:cNvSpPr/>
          <p:nvPr/>
        </p:nvSpPr>
        <p:spPr>
          <a:xfrm>
            <a:off x="1295400" y="13716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64"/>
          <p:cNvSpPr/>
          <p:nvPr/>
        </p:nvSpPr>
        <p:spPr>
          <a:xfrm>
            <a:off x="1600200" y="539115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p64"/>
          <p:cNvSpPr/>
          <p:nvPr/>
        </p:nvSpPr>
        <p:spPr>
          <a:xfrm>
            <a:off x="6329362" y="516255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1" name="Google Shape;1051;p64"/>
          <p:cNvSpPr/>
          <p:nvPr/>
        </p:nvSpPr>
        <p:spPr>
          <a:xfrm>
            <a:off x="2209800" y="85725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2" name="Google Shape;1052;p64"/>
          <p:cNvSpPr/>
          <p:nvPr/>
        </p:nvSpPr>
        <p:spPr>
          <a:xfrm>
            <a:off x="6334125" y="135255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3" name="Google Shape;1053;p64"/>
          <p:cNvSpPr/>
          <p:nvPr/>
        </p:nvSpPr>
        <p:spPr>
          <a:xfrm>
            <a:off x="7777161" y="1302782"/>
            <a:ext cx="985837" cy="535543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4" name="Google Shape;1054;p64"/>
          <p:cNvSpPr/>
          <p:nvPr/>
        </p:nvSpPr>
        <p:spPr>
          <a:xfrm>
            <a:off x="3305175" y="43815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5" name="Google Shape;1055;p64"/>
          <p:cNvSpPr/>
          <p:nvPr/>
        </p:nvSpPr>
        <p:spPr>
          <a:xfrm>
            <a:off x="7569993" y="5133201"/>
            <a:ext cx="1138236" cy="534948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6" name="Google Shape;1056;p64"/>
          <p:cNvSpPr/>
          <p:nvPr/>
        </p:nvSpPr>
        <p:spPr>
          <a:xfrm>
            <a:off x="409575" y="528637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7" name="Google Shape;1057;p64"/>
          <p:cNvSpPr/>
          <p:nvPr/>
        </p:nvSpPr>
        <p:spPr>
          <a:xfrm>
            <a:off x="2886075" y="530542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8" name="Google Shape;1058;p64"/>
          <p:cNvSpPr/>
          <p:nvPr/>
        </p:nvSpPr>
        <p:spPr>
          <a:xfrm>
            <a:off x="4114800" y="191452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9" name="Google Shape;1059;p64"/>
          <p:cNvSpPr/>
          <p:nvPr/>
        </p:nvSpPr>
        <p:spPr>
          <a:xfrm>
            <a:off x="1185862" y="2152650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1060" name="Google Shape;1060;p64"/>
          <p:cNvSpPr/>
          <p:nvPr/>
        </p:nvSpPr>
        <p:spPr>
          <a:xfrm>
            <a:off x="6557962" y="4019550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1" name="Google Shape;1061;p64"/>
          <p:cNvSpPr/>
          <p:nvPr/>
        </p:nvSpPr>
        <p:spPr>
          <a:xfrm>
            <a:off x="6753225" y="2143125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2" name="Google Shape;1062;p64"/>
          <p:cNvSpPr/>
          <p:nvPr/>
        </p:nvSpPr>
        <p:spPr>
          <a:xfrm>
            <a:off x="1176336" y="4535448"/>
            <a:ext cx="1228725" cy="5334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3" name="Google Shape;1063;p64"/>
          <p:cNvSpPr/>
          <p:nvPr/>
        </p:nvSpPr>
        <p:spPr>
          <a:xfrm>
            <a:off x="1042986" y="4459248"/>
            <a:ext cx="1528763" cy="6858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4" name="Google Shape;1064;p64"/>
          <p:cNvSpPr/>
          <p:nvPr/>
        </p:nvSpPr>
        <p:spPr>
          <a:xfrm>
            <a:off x="4171950" y="478155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5" name="Google Shape;1065;p64"/>
          <p:cNvSpPr/>
          <p:nvPr/>
        </p:nvSpPr>
        <p:spPr>
          <a:xfrm>
            <a:off x="3924300" y="3619500"/>
            <a:ext cx="1365648" cy="800100"/>
          </a:xfrm>
          <a:prstGeom prst="flowChartDecision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6" name="Google Shape;1066;p64"/>
          <p:cNvSpPr/>
          <p:nvPr/>
        </p:nvSpPr>
        <p:spPr>
          <a:xfrm>
            <a:off x="1047748" y="3149084"/>
            <a:ext cx="1504951" cy="9144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7" name="Google Shape;1067;p64"/>
          <p:cNvSpPr/>
          <p:nvPr/>
        </p:nvSpPr>
        <p:spPr>
          <a:xfrm>
            <a:off x="1228723" y="3263384"/>
            <a:ext cx="1143000" cy="6858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8" name="Google Shape;1068;p64"/>
          <p:cNvSpPr/>
          <p:nvPr/>
        </p:nvSpPr>
        <p:spPr>
          <a:xfrm>
            <a:off x="3889176" y="2676525"/>
            <a:ext cx="1365648" cy="783193"/>
          </a:xfrm>
          <a:prstGeom prst="flowChartDecision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9" name="Google Shape;1069;p64"/>
          <p:cNvSpPr/>
          <p:nvPr/>
        </p:nvSpPr>
        <p:spPr>
          <a:xfrm>
            <a:off x="7134225" y="400050"/>
            <a:ext cx="914400" cy="5334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0" name="Google Shape;1070;p64"/>
          <p:cNvSpPr/>
          <p:nvPr/>
        </p:nvSpPr>
        <p:spPr>
          <a:xfrm>
            <a:off x="6924675" y="304800"/>
            <a:ext cx="1276350" cy="7239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1" name="Google Shape;1071;p64"/>
          <p:cNvSpPr/>
          <p:nvPr/>
        </p:nvSpPr>
        <p:spPr>
          <a:xfrm>
            <a:off x="3924300" y="1047750"/>
            <a:ext cx="1381124" cy="647700"/>
          </a:xfrm>
          <a:prstGeom prst="flowChartDecision">
            <a:avLst/>
          </a:prstGeom>
          <a:noFill/>
          <a:ln w="15875" cap="flat" cmpd="sng">
            <a:solidFill>
              <a:srgbClr val="FFD7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2" name="Google Shape;1072;p64"/>
          <p:cNvSpPr txBox="1"/>
          <p:nvPr/>
        </p:nvSpPr>
        <p:spPr>
          <a:xfrm>
            <a:off x="685800" y="754618"/>
            <a:ext cx="638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1073" name="Google Shape;1073;p64"/>
          <p:cNvSpPr txBox="1"/>
          <p:nvPr/>
        </p:nvSpPr>
        <p:spPr>
          <a:xfrm>
            <a:off x="1347787" y="1434584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1074" name="Google Shape;1074;p64"/>
          <p:cNvSpPr txBox="1"/>
          <p:nvPr/>
        </p:nvSpPr>
        <p:spPr>
          <a:xfrm>
            <a:off x="2309812" y="933450"/>
            <a:ext cx="8905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64"/>
          <p:cNvSpPr txBox="1"/>
          <p:nvPr/>
        </p:nvSpPr>
        <p:spPr>
          <a:xfrm>
            <a:off x="3362325" y="526018"/>
            <a:ext cx="828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p64"/>
          <p:cNvSpPr txBox="1"/>
          <p:nvPr/>
        </p:nvSpPr>
        <p:spPr>
          <a:xfrm>
            <a:off x="1247775" y="2209800"/>
            <a:ext cx="11715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1077" name="Google Shape;1077;p64"/>
          <p:cNvSpPr txBox="1"/>
          <p:nvPr/>
        </p:nvSpPr>
        <p:spPr>
          <a:xfrm>
            <a:off x="4144565" y="1196459"/>
            <a:ext cx="12930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Works_For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8" name="Google Shape;1078;p64"/>
          <p:cNvSpPr txBox="1"/>
          <p:nvPr/>
        </p:nvSpPr>
        <p:spPr>
          <a:xfrm>
            <a:off x="1426367" y="3421618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</a:t>
            </a:r>
            <a:endParaRPr/>
          </a:p>
        </p:txBody>
      </p:sp>
      <p:sp>
        <p:nvSpPr>
          <p:cNvPr id="1079" name="Google Shape;1079;p64"/>
          <p:cNvSpPr txBox="1"/>
          <p:nvPr/>
        </p:nvSpPr>
        <p:spPr>
          <a:xfrm>
            <a:off x="1152524" y="4600575"/>
            <a:ext cx="12406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</a:t>
            </a:r>
            <a:endParaRPr/>
          </a:p>
        </p:txBody>
      </p:sp>
      <p:sp>
        <p:nvSpPr>
          <p:cNvPr id="1080" name="Google Shape;1080;p64"/>
          <p:cNvSpPr txBox="1"/>
          <p:nvPr/>
        </p:nvSpPr>
        <p:spPr>
          <a:xfrm>
            <a:off x="433387" y="5373087"/>
            <a:ext cx="890588" cy="39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- - - - -</a:t>
            </a:r>
            <a:endParaRPr/>
          </a:p>
        </p:txBody>
      </p:sp>
      <p:sp>
        <p:nvSpPr>
          <p:cNvPr id="1081" name="Google Shape;1081;p64"/>
          <p:cNvSpPr txBox="1"/>
          <p:nvPr/>
        </p:nvSpPr>
        <p:spPr>
          <a:xfrm>
            <a:off x="1600200" y="5450443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1082" name="Google Shape;1082;p64"/>
          <p:cNvSpPr txBox="1"/>
          <p:nvPr/>
        </p:nvSpPr>
        <p:spPr>
          <a:xfrm>
            <a:off x="2878931" y="538745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</a:t>
            </a:r>
            <a:endParaRPr/>
          </a:p>
        </p:txBody>
      </p:sp>
      <p:sp>
        <p:nvSpPr>
          <p:cNvPr id="1083" name="Google Shape;1083;p64"/>
          <p:cNvSpPr txBox="1"/>
          <p:nvPr/>
        </p:nvSpPr>
        <p:spPr>
          <a:xfrm>
            <a:off x="4163615" y="199655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Mdate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4" name="Google Shape;1084;p64"/>
          <p:cNvSpPr txBox="1"/>
          <p:nvPr/>
        </p:nvSpPr>
        <p:spPr>
          <a:xfrm>
            <a:off x="4057650" y="2894052"/>
            <a:ext cx="102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</a:t>
            </a:r>
            <a:endParaRPr/>
          </a:p>
        </p:txBody>
      </p:sp>
      <p:sp>
        <p:nvSpPr>
          <p:cNvPr id="1085" name="Google Shape;1085;p64"/>
          <p:cNvSpPr txBox="1"/>
          <p:nvPr/>
        </p:nvSpPr>
        <p:spPr>
          <a:xfrm>
            <a:off x="4092177" y="3865661"/>
            <a:ext cx="13989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Participation</a:t>
            </a:r>
            <a:endParaRPr/>
          </a:p>
        </p:txBody>
      </p:sp>
      <p:sp>
        <p:nvSpPr>
          <p:cNvPr id="1086" name="Google Shape;1086;p64"/>
          <p:cNvSpPr txBox="1"/>
          <p:nvPr/>
        </p:nvSpPr>
        <p:spPr>
          <a:xfrm>
            <a:off x="4323161" y="4870787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/>
          </a:p>
        </p:txBody>
      </p:sp>
      <p:sp>
        <p:nvSpPr>
          <p:cNvPr id="1087" name="Google Shape;1087;p64"/>
          <p:cNvSpPr txBox="1"/>
          <p:nvPr/>
        </p:nvSpPr>
        <p:spPr>
          <a:xfrm>
            <a:off x="7172324" y="487918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</a:t>
            </a:r>
            <a:endParaRPr/>
          </a:p>
        </p:txBody>
      </p:sp>
      <p:sp>
        <p:nvSpPr>
          <p:cNvPr id="1088" name="Google Shape;1088;p64"/>
          <p:cNvSpPr txBox="1"/>
          <p:nvPr/>
        </p:nvSpPr>
        <p:spPr>
          <a:xfrm>
            <a:off x="6386512" y="1411843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</p:txBody>
      </p:sp>
      <p:sp>
        <p:nvSpPr>
          <p:cNvPr id="1089" name="Google Shape;1089;p64"/>
          <p:cNvSpPr txBox="1"/>
          <p:nvPr/>
        </p:nvSpPr>
        <p:spPr>
          <a:xfrm>
            <a:off x="7786687" y="1381125"/>
            <a:ext cx="1038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</a:t>
            </a:r>
            <a:endParaRPr/>
          </a:p>
        </p:txBody>
      </p:sp>
      <p:sp>
        <p:nvSpPr>
          <p:cNvPr id="1090" name="Google Shape;1090;p64"/>
          <p:cNvSpPr txBox="1"/>
          <p:nvPr/>
        </p:nvSpPr>
        <p:spPr>
          <a:xfrm>
            <a:off x="6705600" y="2225159"/>
            <a:ext cx="13858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1091" name="Google Shape;1091;p64"/>
          <p:cNvSpPr txBox="1"/>
          <p:nvPr/>
        </p:nvSpPr>
        <p:spPr>
          <a:xfrm>
            <a:off x="6688930" y="4089916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sp>
        <p:nvSpPr>
          <p:cNvPr id="1092" name="Google Shape;1092;p64"/>
          <p:cNvSpPr txBox="1"/>
          <p:nvPr/>
        </p:nvSpPr>
        <p:spPr>
          <a:xfrm>
            <a:off x="6348412" y="5228664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3" name="Google Shape;1093;p64"/>
          <p:cNvSpPr txBox="1"/>
          <p:nvPr/>
        </p:nvSpPr>
        <p:spPr>
          <a:xfrm>
            <a:off x="7655717" y="5228664"/>
            <a:ext cx="1135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Pnumber</a:t>
            </a:r>
            <a:endParaRPr/>
          </a:p>
        </p:txBody>
      </p:sp>
      <p:cxnSp>
        <p:nvCxnSpPr>
          <p:cNvPr id="1094" name="Google Shape;1094;p64"/>
          <p:cNvCxnSpPr>
            <a:stCxn id="1047" idx="4"/>
          </p:cNvCxnSpPr>
          <p:nvPr/>
        </p:nvCxnSpPr>
        <p:spPr>
          <a:xfrm>
            <a:off x="981075" y="1200150"/>
            <a:ext cx="204900" cy="94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5" name="Google Shape;1095;p64"/>
          <p:cNvCxnSpPr>
            <a:stCxn id="1048" idx="4"/>
            <a:endCxn id="1059" idx="0"/>
          </p:cNvCxnSpPr>
          <p:nvPr/>
        </p:nvCxnSpPr>
        <p:spPr>
          <a:xfrm>
            <a:off x="1752600" y="1905000"/>
            <a:ext cx="47700" cy="247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6" name="Google Shape;1096;p64"/>
          <p:cNvCxnSpPr>
            <a:stCxn id="1051" idx="4"/>
          </p:cNvCxnSpPr>
          <p:nvPr/>
        </p:nvCxnSpPr>
        <p:spPr>
          <a:xfrm flipH="1">
            <a:off x="1957500" y="1390650"/>
            <a:ext cx="709500" cy="748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7" name="Google Shape;1097;p64"/>
          <p:cNvCxnSpPr>
            <a:stCxn id="1054" idx="4"/>
          </p:cNvCxnSpPr>
          <p:nvPr/>
        </p:nvCxnSpPr>
        <p:spPr>
          <a:xfrm flipH="1">
            <a:off x="2083575" y="971550"/>
            <a:ext cx="1678800" cy="1167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8" name="Google Shape;1098;p64"/>
          <p:cNvCxnSpPr>
            <a:stCxn id="1071" idx="1"/>
          </p:cNvCxnSpPr>
          <p:nvPr/>
        </p:nvCxnSpPr>
        <p:spPr>
          <a:xfrm flipH="1">
            <a:off x="2419500" y="1371600"/>
            <a:ext cx="1504800" cy="771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9" name="Google Shape;1099;p64"/>
          <p:cNvCxnSpPr/>
          <p:nvPr/>
        </p:nvCxnSpPr>
        <p:spPr>
          <a:xfrm flipH="1">
            <a:off x="2414587" y="1434584"/>
            <a:ext cx="1624013" cy="7905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0" name="Google Shape;1100;p64"/>
          <p:cNvCxnSpPr>
            <a:stCxn id="1059" idx="2"/>
            <a:endCxn id="1066" idx="0"/>
          </p:cNvCxnSpPr>
          <p:nvPr/>
        </p:nvCxnSpPr>
        <p:spPr>
          <a:xfrm>
            <a:off x="1800225" y="2686050"/>
            <a:ext cx="0" cy="46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1" name="Google Shape;1101;p64"/>
          <p:cNvCxnSpPr/>
          <p:nvPr/>
        </p:nvCxnSpPr>
        <p:spPr>
          <a:xfrm flipH="1">
            <a:off x="1909761" y="4019549"/>
            <a:ext cx="1" cy="43969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2" name="Google Shape;1102;p64"/>
          <p:cNvCxnSpPr/>
          <p:nvPr/>
        </p:nvCxnSpPr>
        <p:spPr>
          <a:xfrm flipH="1">
            <a:off x="866775" y="5175205"/>
            <a:ext cx="428625" cy="10164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3" name="Google Shape;1103;p64"/>
          <p:cNvCxnSpPr>
            <a:stCxn id="1063" idx="2"/>
            <a:endCxn id="1049" idx="0"/>
          </p:cNvCxnSpPr>
          <p:nvPr/>
        </p:nvCxnSpPr>
        <p:spPr>
          <a:xfrm>
            <a:off x="1807368" y="5145048"/>
            <a:ext cx="249900" cy="246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4" name="Google Shape;1104;p64"/>
          <p:cNvCxnSpPr/>
          <p:nvPr/>
        </p:nvCxnSpPr>
        <p:spPr>
          <a:xfrm>
            <a:off x="2083593" y="5162550"/>
            <a:ext cx="1235865" cy="1428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5" name="Google Shape;1105;p64"/>
          <p:cNvCxnSpPr>
            <a:endCxn id="1065" idx="1"/>
          </p:cNvCxnSpPr>
          <p:nvPr/>
        </p:nvCxnSpPr>
        <p:spPr>
          <a:xfrm>
            <a:off x="2393100" y="2686050"/>
            <a:ext cx="1531200" cy="1333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6" name="Google Shape;1106;p64"/>
          <p:cNvCxnSpPr>
            <a:endCxn id="1068" idx="1"/>
          </p:cNvCxnSpPr>
          <p:nvPr/>
        </p:nvCxnSpPr>
        <p:spPr>
          <a:xfrm>
            <a:off x="2444976" y="2676622"/>
            <a:ext cx="1444200" cy="391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7" name="Google Shape;1107;p64"/>
          <p:cNvCxnSpPr>
            <a:stCxn id="1058" idx="4"/>
            <a:endCxn id="1068" idx="0"/>
          </p:cNvCxnSpPr>
          <p:nvPr/>
        </p:nvCxnSpPr>
        <p:spPr>
          <a:xfrm>
            <a:off x="4572000" y="2447925"/>
            <a:ext cx="0" cy="228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8" name="Google Shape;1108;p64"/>
          <p:cNvCxnSpPr>
            <a:endCxn id="1064" idx="0"/>
          </p:cNvCxnSpPr>
          <p:nvPr/>
        </p:nvCxnSpPr>
        <p:spPr>
          <a:xfrm>
            <a:off x="4612350" y="4430550"/>
            <a:ext cx="16800" cy="351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9" name="Google Shape;1109;p64"/>
          <p:cNvCxnSpPr/>
          <p:nvPr/>
        </p:nvCxnSpPr>
        <p:spPr>
          <a:xfrm flipH="1">
            <a:off x="1752599" y="4030622"/>
            <a:ext cx="1" cy="40005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0" name="Google Shape;1110;p64"/>
          <p:cNvCxnSpPr/>
          <p:nvPr/>
        </p:nvCxnSpPr>
        <p:spPr>
          <a:xfrm flipH="1">
            <a:off x="5180406" y="2225159"/>
            <a:ext cx="1572819" cy="79003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1" name="Google Shape;1111;p64"/>
          <p:cNvCxnSpPr>
            <a:endCxn id="1061" idx="0"/>
          </p:cNvCxnSpPr>
          <p:nvPr/>
        </p:nvCxnSpPr>
        <p:spPr>
          <a:xfrm flipH="1">
            <a:off x="7367588" y="1829925"/>
            <a:ext cx="856200" cy="313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2" name="Google Shape;1112;p64"/>
          <p:cNvCxnSpPr>
            <a:endCxn id="1061" idx="0"/>
          </p:cNvCxnSpPr>
          <p:nvPr/>
        </p:nvCxnSpPr>
        <p:spPr>
          <a:xfrm flipH="1">
            <a:off x="7367588" y="1022025"/>
            <a:ext cx="190500" cy="1121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3" name="Google Shape;1113;p64"/>
          <p:cNvCxnSpPr>
            <a:endCxn id="1061" idx="0"/>
          </p:cNvCxnSpPr>
          <p:nvPr/>
        </p:nvCxnSpPr>
        <p:spPr>
          <a:xfrm>
            <a:off x="7031888" y="1848825"/>
            <a:ext cx="335700" cy="294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4" name="Google Shape;1114;p64"/>
          <p:cNvCxnSpPr/>
          <p:nvPr/>
        </p:nvCxnSpPr>
        <p:spPr>
          <a:xfrm flipH="1">
            <a:off x="6831805" y="4552950"/>
            <a:ext cx="200025" cy="62358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5" name="Google Shape;1115;p64"/>
          <p:cNvCxnSpPr/>
          <p:nvPr/>
        </p:nvCxnSpPr>
        <p:spPr>
          <a:xfrm>
            <a:off x="5289948" y="4030622"/>
            <a:ext cx="1268014" cy="4714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6" name="Google Shape;1116;p64"/>
          <p:cNvCxnSpPr/>
          <p:nvPr/>
        </p:nvCxnSpPr>
        <p:spPr>
          <a:xfrm rot="10800000" flipH="1">
            <a:off x="5216724" y="2285464"/>
            <a:ext cx="1536501" cy="80117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7" name="Google Shape;1117;p64"/>
          <p:cNvCxnSpPr/>
          <p:nvPr/>
        </p:nvCxnSpPr>
        <p:spPr>
          <a:xfrm>
            <a:off x="7398543" y="4552950"/>
            <a:ext cx="740569" cy="606087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8" name="Google Shape;1118;p64"/>
          <p:cNvSpPr txBox="1"/>
          <p:nvPr/>
        </p:nvSpPr>
        <p:spPr>
          <a:xfrm>
            <a:off x="3162301" y="1750457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119" name="Google Shape;1119;p64"/>
          <p:cNvSpPr txBox="1"/>
          <p:nvPr/>
        </p:nvSpPr>
        <p:spPr>
          <a:xfrm>
            <a:off x="1438275" y="401538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120" name="Google Shape;1120;p64"/>
          <p:cNvSpPr txBox="1"/>
          <p:nvPr/>
        </p:nvSpPr>
        <p:spPr>
          <a:xfrm>
            <a:off x="3257550" y="323695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121" name="Google Shape;1121;p64"/>
          <p:cNvSpPr txBox="1"/>
          <p:nvPr/>
        </p:nvSpPr>
        <p:spPr>
          <a:xfrm>
            <a:off x="5889724" y="369415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sp>
        <p:nvSpPr>
          <p:cNvPr id="1122" name="Google Shape;1122;p64"/>
          <p:cNvSpPr txBox="1"/>
          <p:nvPr/>
        </p:nvSpPr>
        <p:spPr>
          <a:xfrm>
            <a:off x="5871565" y="1186159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23" name="Google Shape;1123;p64"/>
          <p:cNvSpPr txBox="1"/>
          <p:nvPr/>
        </p:nvSpPr>
        <p:spPr>
          <a:xfrm>
            <a:off x="5491161" y="2409825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24" name="Google Shape;1124;p64"/>
          <p:cNvSpPr txBox="1"/>
          <p:nvPr/>
        </p:nvSpPr>
        <p:spPr>
          <a:xfrm>
            <a:off x="3105150" y="2502991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25" name="Google Shape;1125;p64"/>
          <p:cNvSpPr txBox="1"/>
          <p:nvPr/>
        </p:nvSpPr>
        <p:spPr>
          <a:xfrm>
            <a:off x="1524000" y="2732901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26" name="Google Shape;1126;p64"/>
          <p:cNvSpPr/>
          <p:nvPr/>
        </p:nvSpPr>
        <p:spPr>
          <a:xfrm>
            <a:off x="3733800" y="3505200"/>
            <a:ext cx="2037250" cy="2339090"/>
          </a:xfrm>
          <a:custGeom>
            <a:avLst/>
            <a:gdLst/>
            <a:ahLst/>
            <a:cxnLst/>
            <a:rect l="l" t="t" r="r" b="b"/>
            <a:pathLst>
              <a:path w="2037250" h="2339090" extrusionOk="0">
                <a:moveTo>
                  <a:pt x="1476570" y="200374"/>
                </a:moveTo>
                <a:cubicBezTo>
                  <a:pt x="1168595" y="-71089"/>
                  <a:pt x="336745" y="-80613"/>
                  <a:pt x="133545" y="257524"/>
                </a:cubicBezTo>
                <a:cubicBezTo>
                  <a:pt x="-69655" y="595661"/>
                  <a:pt x="-50605" y="1957736"/>
                  <a:pt x="257370" y="2229199"/>
                </a:cubicBezTo>
                <a:cubicBezTo>
                  <a:pt x="565345" y="2500662"/>
                  <a:pt x="1776608" y="2224437"/>
                  <a:pt x="1981395" y="1886299"/>
                </a:cubicBezTo>
                <a:cubicBezTo>
                  <a:pt x="2186183" y="1548162"/>
                  <a:pt x="1784545" y="471837"/>
                  <a:pt x="1476570" y="200374"/>
                </a:cubicBezTo>
                <a:close/>
              </a:path>
            </a:pathLst>
          </a:cu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7" name="Google Shape;1127;p64"/>
          <p:cNvCxnSpPr/>
          <p:nvPr/>
        </p:nvCxnSpPr>
        <p:spPr>
          <a:xfrm>
            <a:off x="5289948" y="1352550"/>
            <a:ext cx="1463277" cy="8286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8" name="Google Shape;1128;p64"/>
          <p:cNvSpPr txBox="1"/>
          <p:nvPr/>
        </p:nvSpPr>
        <p:spPr>
          <a:xfrm>
            <a:off x="175020" y="6414436"/>
            <a:ext cx="7543800" cy="38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None/>
            </a:pPr>
            <a:r>
              <a:rPr lang="en-AU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M:N Relationship Types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6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49</a:t>
            </a:fld>
            <a:endParaRPr/>
          </a:p>
        </p:txBody>
      </p:sp>
      <p:graphicFrame>
        <p:nvGraphicFramePr>
          <p:cNvPr id="1134" name="Google Shape;1134;p65"/>
          <p:cNvGraphicFramePr/>
          <p:nvPr/>
        </p:nvGraphicFramePr>
        <p:xfrm>
          <a:off x="1981200" y="1295400"/>
          <a:ext cx="5181625" cy="5080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/>
                        <a:t>SSN</a:t>
                      </a:r>
                      <a:endParaRPr sz="1800" u="sng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Fname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Lname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Birdate</a:t>
                      </a:r>
                      <a:endParaRPr sz="1800">
                        <a:solidFill>
                          <a:srgbClr val="9A9A8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Dname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35" name="Google Shape;1135;p65"/>
          <p:cNvGraphicFramePr/>
          <p:nvPr/>
        </p:nvGraphicFramePr>
        <p:xfrm>
          <a:off x="1981200" y="2413000"/>
          <a:ext cx="4114800" cy="5334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9A9A8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AU" sz="18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9A9A8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AU" sz="18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Mdate</a:t>
                      </a:r>
                      <a:endParaRPr sz="1800">
                        <a:solidFill>
                          <a:srgbClr val="FFC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36" name="Google Shape;1136;p65"/>
          <p:cNvGraphicFramePr/>
          <p:nvPr/>
        </p:nvGraphicFramePr>
        <p:xfrm>
          <a:off x="1981200" y="3581400"/>
          <a:ext cx="2133600" cy="4318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AU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</a:t>
                      </a:r>
                      <a:endParaRPr sz="1800" u="sng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7" name="Google Shape;1137;p65"/>
          <p:cNvSpPr txBox="1"/>
          <p:nvPr/>
        </p:nvSpPr>
        <p:spPr>
          <a:xfrm>
            <a:off x="1905000" y="914400"/>
            <a:ext cx="129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1138" name="Google Shape;1138;p65"/>
          <p:cNvSpPr txBox="1"/>
          <p:nvPr/>
        </p:nvSpPr>
        <p:spPr>
          <a:xfrm>
            <a:off x="1962150" y="2024618"/>
            <a:ext cx="142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1139" name="Google Shape;1139;p65"/>
          <p:cNvSpPr txBox="1"/>
          <p:nvPr/>
        </p:nvSpPr>
        <p:spPr>
          <a:xfrm>
            <a:off x="1924050" y="3175000"/>
            <a:ext cx="142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graphicFrame>
        <p:nvGraphicFramePr>
          <p:cNvPr id="1140" name="Google Shape;1140;p65"/>
          <p:cNvGraphicFramePr/>
          <p:nvPr/>
        </p:nvGraphicFramePr>
        <p:xfrm>
          <a:off x="2000249" y="4699000"/>
          <a:ext cx="4064000" cy="4572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Fname</a:t>
                      </a:r>
                      <a:endParaRPr sz="1800">
                        <a:solidFill>
                          <a:srgbClr val="5913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Birdate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1" name="Google Shape;1141;p65"/>
          <p:cNvSpPr txBox="1"/>
          <p:nvPr/>
        </p:nvSpPr>
        <p:spPr>
          <a:xfrm>
            <a:off x="1914525" y="4241800"/>
            <a:ext cx="142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</a:t>
            </a:r>
            <a:endParaRPr/>
          </a:p>
        </p:txBody>
      </p:sp>
      <p:cxnSp>
        <p:nvCxnSpPr>
          <p:cNvPr id="1142" name="Google Shape;1142;p65"/>
          <p:cNvCxnSpPr/>
          <p:nvPr/>
        </p:nvCxnSpPr>
        <p:spPr>
          <a:xfrm rot="10800000">
            <a:off x="2162100" y="5080000"/>
            <a:ext cx="1724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43" name="Google Shape;1143;p65"/>
          <p:cNvGrpSpPr/>
          <p:nvPr/>
        </p:nvGrpSpPr>
        <p:grpSpPr>
          <a:xfrm>
            <a:off x="2619375" y="1803400"/>
            <a:ext cx="1876425" cy="609600"/>
            <a:chOff x="2009775" y="914400"/>
            <a:chExt cx="1876425" cy="609600"/>
          </a:xfrm>
        </p:grpSpPr>
        <p:cxnSp>
          <p:nvCxnSpPr>
            <p:cNvPr id="1144" name="Google Shape;1144;p65"/>
            <p:cNvCxnSpPr/>
            <p:nvPr/>
          </p:nvCxnSpPr>
          <p:spPr>
            <a:xfrm rot="10800000">
              <a:off x="2009775" y="914400"/>
              <a:ext cx="0" cy="304801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45" name="Google Shape;1145;p65"/>
            <p:cNvCxnSpPr/>
            <p:nvPr/>
          </p:nvCxnSpPr>
          <p:spPr>
            <a:xfrm>
              <a:off x="2009775" y="1219200"/>
              <a:ext cx="1876425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6" name="Google Shape;1146;p65"/>
            <p:cNvCxnSpPr/>
            <p:nvPr/>
          </p:nvCxnSpPr>
          <p:spPr>
            <a:xfrm>
              <a:off x="3886200" y="1219200"/>
              <a:ext cx="0" cy="3048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147" name="Google Shape;1147;p65"/>
          <p:cNvCxnSpPr/>
          <p:nvPr/>
        </p:nvCxnSpPr>
        <p:spPr>
          <a:xfrm>
            <a:off x="6629400" y="1803400"/>
            <a:ext cx="0" cy="1371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8" name="Google Shape;1148;p65"/>
          <p:cNvCxnSpPr/>
          <p:nvPr/>
        </p:nvCxnSpPr>
        <p:spPr>
          <a:xfrm rot="10800000">
            <a:off x="2638500" y="3175000"/>
            <a:ext cx="39909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9" name="Google Shape;1149;p65"/>
          <p:cNvCxnSpPr/>
          <p:nvPr/>
        </p:nvCxnSpPr>
        <p:spPr>
          <a:xfrm rot="10800000">
            <a:off x="2638425" y="2946400"/>
            <a:ext cx="0" cy="228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1150" name="Google Shape;1150;p65"/>
          <p:cNvGraphicFramePr/>
          <p:nvPr/>
        </p:nvGraphicFramePr>
        <p:xfrm>
          <a:off x="1981200" y="5791200"/>
          <a:ext cx="3048000" cy="5080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Pnumber</a:t>
                      </a:r>
                      <a:endParaRPr sz="18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51" name="Google Shape;1151;p65"/>
          <p:cNvCxnSpPr/>
          <p:nvPr/>
        </p:nvCxnSpPr>
        <p:spPr>
          <a:xfrm rot="10800000">
            <a:off x="2876550" y="1803518"/>
            <a:ext cx="0" cy="221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52" name="Google Shape;1152;p65"/>
          <p:cNvCxnSpPr/>
          <p:nvPr/>
        </p:nvCxnSpPr>
        <p:spPr>
          <a:xfrm>
            <a:off x="7239000" y="2024618"/>
            <a:ext cx="0" cy="3360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3" name="Google Shape;1153;p65"/>
          <p:cNvCxnSpPr/>
          <p:nvPr/>
        </p:nvCxnSpPr>
        <p:spPr>
          <a:xfrm rot="10800000">
            <a:off x="3505201" y="5384800"/>
            <a:ext cx="3733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4" name="Google Shape;1154;p65"/>
          <p:cNvCxnSpPr/>
          <p:nvPr/>
        </p:nvCxnSpPr>
        <p:spPr>
          <a:xfrm>
            <a:off x="3505200" y="5384800"/>
            <a:ext cx="0" cy="406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5" name="Google Shape;1155;p65"/>
          <p:cNvCxnSpPr/>
          <p:nvPr/>
        </p:nvCxnSpPr>
        <p:spPr>
          <a:xfrm>
            <a:off x="2876550" y="2024618"/>
            <a:ext cx="4362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6" name="Google Shape;1156;p65"/>
          <p:cNvSpPr txBox="1"/>
          <p:nvPr/>
        </p:nvSpPr>
        <p:spPr>
          <a:xfrm>
            <a:off x="1905000" y="5384800"/>
            <a:ext cx="142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Participation</a:t>
            </a:r>
            <a:endParaRPr/>
          </a:p>
        </p:txBody>
      </p:sp>
      <p:cxnSp>
        <p:nvCxnSpPr>
          <p:cNvPr id="1157" name="Google Shape;1157;p65"/>
          <p:cNvCxnSpPr/>
          <p:nvPr/>
        </p:nvCxnSpPr>
        <p:spPr>
          <a:xfrm>
            <a:off x="2162175" y="6146800"/>
            <a:ext cx="149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8" name="Google Shape;1158;p65"/>
          <p:cNvSpPr txBox="1"/>
          <p:nvPr/>
        </p:nvSpPr>
        <p:spPr>
          <a:xfrm>
            <a:off x="175020" y="6414436"/>
            <a:ext cx="7543800" cy="38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None/>
            </a:pPr>
            <a:r>
              <a:rPr lang="en-AU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M:N Relationship Types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9" name="Google Shape;1159;p65"/>
          <p:cNvSpPr txBox="1"/>
          <p:nvPr/>
        </p:nvSpPr>
        <p:spPr>
          <a:xfrm>
            <a:off x="2035625" y="1330750"/>
            <a:ext cx="77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65"/>
          <p:cNvSpPr txBox="1"/>
          <p:nvPr/>
        </p:nvSpPr>
        <p:spPr>
          <a:xfrm>
            <a:off x="2035625" y="4708950"/>
            <a:ext cx="77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1" name="Google Shape;1161;p65"/>
          <p:cNvCxnSpPr>
            <a:stCxn id="1160" idx="1"/>
            <a:endCxn id="1159" idx="1"/>
          </p:cNvCxnSpPr>
          <p:nvPr/>
        </p:nvCxnSpPr>
        <p:spPr>
          <a:xfrm rot="10800000" flipH="1">
            <a:off x="2035625" y="1530750"/>
            <a:ext cx="600" cy="33783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2" name="Google Shape;1162;p65"/>
          <p:cNvSpPr txBox="1"/>
          <p:nvPr/>
        </p:nvSpPr>
        <p:spPr>
          <a:xfrm>
            <a:off x="2219325" y="3627563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65"/>
          <p:cNvSpPr txBox="1"/>
          <p:nvPr/>
        </p:nvSpPr>
        <p:spPr>
          <a:xfrm>
            <a:off x="2165675" y="5813800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4" name="Google Shape;1164;p65"/>
          <p:cNvCxnSpPr>
            <a:cxnSpLocks/>
          </p:cNvCxnSpPr>
          <p:nvPr/>
        </p:nvCxnSpPr>
        <p:spPr>
          <a:xfrm rot="10800000" flipH="1">
            <a:off x="1937955" y="3834550"/>
            <a:ext cx="53700" cy="2186100"/>
          </a:xfrm>
          <a:prstGeom prst="bentConnector3">
            <a:avLst>
              <a:gd name="adj1" fmla="val -443436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5" name="Google Shape;1165;p65"/>
          <p:cNvSpPr txBox="1"/>
          <p:nvPr/>
        </p:nvSpPr>
        <p:spPr>
          <a:xfrm>
            <a:off x="634800" y="331975"/>
            <a:ext cx="85092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6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M:N Relationship Types</a:t>
            </a:r>
            <a:endParaRPr sz="3600">
              <a:solidFill>
                <a:srgbClr val="3F3F3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66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>
                <a:latin typeface="Times New Roman"/>
                <a:ea typeface="Times New Roman"/>
                <a:cs typeface="Times New Roman"/>
                <a:sym typeface="Times New Roman"/>
              </a:rPr>
              <a:t>Mapping Multivalued Attributes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2" name="Google Shape;1172;p66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400"/>
              <a:t>Step 6 : For each </a:t>
            </a:r>
            <a:r>
              <a:rPr lang="en-AU" sz="2400" b="1" i="1"/>
              <a:t>multivalued attribute </a:t>
            </a:r>
            <a:r>
              <a:rPr lang="en-AU" sz="2400"/>
              <a:t>A, where A is an attribute of E, create a new relation R.</a:t>
            </a:r>
            <a:endParaRPr sz="2400"/>
          </a:p>
          <a:p>
            <a:pPr marL="285750" lvl="0" indent="-3238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AU" sz="2400" i="1">
                <a:solidFill>
                  <a:srgbClr val="002060"/>
                </a:solidFill>
              </a:rPr>
              <a:t>If A is a multivalued simple attribute, </a:t>
            </a:r>
            <a:endParaRPr sz="2400"/>
          </a:p>
          <a:p>
            <a:pPr marL="669798" lvl="1" indent="-3238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AU" sz="2400"/>
              <a:t>Attributes of R = Simple attribute A, and key of E as a foreign key.</a:t>
            </a:r>
            <a:endParaRPr sz="2400"/>
          </a:p>
          <a:p>
            <a:pPr marL="285750" lvl="0" indent="-3238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AU" sz="2400" i="1">
                <a:solidFill>
                  <a:srgbClr val="002060"/>
                </a:solidFill>
              </a:rPr>
              <a:t>If A is a multivalued composite attribute, </a:t>
            </a:r>
            <a:endParaRPr sz="2400"/>
          </a:p>
          <a:p>
            <a:pPr marL="669798" lvl="1" indent="-3238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AU" sz="2400"/>
              <a:t>Attributes of R = All simple components of A, and key of E as a foreign key.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AU" sz="2400"/>
              <a:t>In both cases, the primary key of R is the set of all attributes in R.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173" name="Google Shape;1173;p6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>
                <a:solidFill>
                  <a:srgbClr val="888888"/>
                </a:solidFill>
              </a:rPr>
              <a:t>50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51</a:t>
            </a:fld>
            <a:endParaRPr/>
          </a:p>
        </p:txBody>
      </p:sp>
      <p:sp>
        <p:nvSpPr>
          <p:cNvPr id="1180" name="Google Shape;1180;p67"/>
          <p:cNvSpPr/>
          <p:nvPr/>
        </p:nvSpPr>
        <p:spPr>
          <a:xfrm>
            <a:off x="533400" y="7620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1" name="Google Shape;1181;p67"/>
          <p:cNvSpPr/>
          <p:nvPr/>
        </p:nvSpPr>
        <p:spPr>
          <a:xfrm>
            <a:off x="1304925" y="146685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2" name="Google Shape;1182;p67"/>
          <p:cNvSpPr/>
          <p:nvPr/>
        </p:nvSpPr>
        <p:spPr>
          <a:xfrm>
            <a:off x="1609725" y="54864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67"/>
          <p:cNvSpPr/>
          <p:nvPr/>
        </p:nvSpPr>
        <p:spPr>
          <a:xfrm>
            <a:off x="6338887" y="52578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4" name="Google Shape;1184;p67"/>
          <p:cNvSpPr/>
          <p:nvPr/>
        </p:nvSpPr>
        <p:spPr>
          <a:xfrm>
            <a:off x="2219325" y="9525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67"/>
          <p:cNvSpPr/>
          <p:nvPr/>
        </p:nvSpPr>
        <p:spPr>
          <a:xfrm>
            <a:off x="6343650" y="14478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6" name="Google Shape;1186;p67"/>
          <p:cNvSpPr/>
          <p:nvPr/>
        </p:nvSpPr>
        <p:spPr>
          <a:xfrm>
            <a:off x="7786686" y="1398032"/>
            <a:ext cx="985837" cy="535543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7" name="Google Shape;1187;p67"/>
          <p:cNvSpPr/>
          <p:nvPr/>
        </p:nvSpPr>
        <p:spPr>
          <a:xfrm>
            <a:off x="3314700" y="5334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8" name="Google Shape;1188;p67"/>
          <p:cNvSpPr/>
          <p:nvPr/>
        </p:nvSpPr>
        <p:spPr>
          <a:xfrm>
            <a:off x="7579518" y="5228451"/>
            <a:ext cx="1138236" cy="534948"/>
          </a:xfrm>
          <a:prstGeom prst="ellipse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9" name="Google Shape;1189;p67"/>
          <p:cNvSpPr/>
          <p:nvPr/>
        </p:nvSpPr>
        <p:spPr>
          <a:xfrm>
            <a:off x="419100" y="538162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0" name="Google Shape;1190;p67"/>
          <p:cNvSpPr/>
          <p:nvPr/>
        </p:nvSpPr>
        <p:spPr>
          <a:xfrm>
            <a:off x="2895600" y="540067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1" name="Google Shape;1191;p67"/>
          <p:cNvSpPr/>
          <p:nvPr/>
        </p:nvSpPr>
        <p:spPr>
          <a:xfrm>
            <a:off x="4124325" y="2009775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2" name="Google Shape;1192;p67"/>
          <p:cNvSpPr/>
          <p:nvPr/>
        </p:nvSpPr>
        <p:spPr>
          <a:xfrm>
            <a:off x="1195387" y="2247900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1193" name="Google Shape;1193;p67"/>
          <p:cNvSpPr/>
          <p:nvPr/>
        </p:nvSpPr>
        <p:spPr>
          <a:xfrm>
            <a:off x="6567487" y="4114800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4" name="Google Shape;1194;p67"/>
          <p:cNvSpPr/>
          <p:nvPr/>
        </p:nvSpPr>
        <p:spPr>
          <a:xfrm>
            <a:off x="6762750" y="2238375"/>
            <a:ext cx="1228725" cy="533400"/>
          </a:xfrm>
          <a:prstGeom prst="rect">
            <a:avLst/>
          </a:prstGeom>
          <a:noFill/>
          <a:ln w="15875" cap="flat" cmpd="sng">
            <a:solidFill>
              <a:srgbClr val="A937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5" name="Google Shape;1195;p67"/>
          <p:cNvSpPr/>
          <p:nvPr/>
        </p:nvSpPr>
        <p:spPr>
          <a:xfrm>
            <a:off x="1185861" y="4630698"/>
            <a:ext cx="1228725" cy="5334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6" name="Google Shape;1196;p67"/>
          <p:cNvSpPr/>
          <p:nvPr/>
        </p:nvSpPr>
        <p:spPr>
          <a:xfrm>
            <a:off x="1052511" y="4554498"/>
            <a:ext cx="1528763" cy="685800"/>
          </a:xfrm>
          <a:prstGeom prst="rect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7" name="Google Shape;1197;p67"/>
          <p:cNvSpPr/>
          <p:nvPr/>
        </p:nvSpPr>
        <p:spPr>
          <a:xfrm>
            <a:off x="4181475" y="4876800"/>
            <a:ext cx="914400" cy="533400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8" name="Google Shape;1198;p67"/>
          <p:cNvSpPr/>
          <p:nvPr/>
        </p:nvSpPr>
        <p:spPr>
          <a:xfrm>
            <a:off x="3933825" y="3714750"/>
            <a:ext cx="1365648" cy="800100"/>
          </a:xfrm>
          <a:prstGeom prst="flowChartDecision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9" name="Google Shape;1199;p67"/>
          <p:cNvSpPr/>
          <p:nvPr/>
        </p:nvSpPr>
        <p:spPr>
          <a:xfrm>
            <a:off x="1057273" y="3244334"/>
            <a:ext cx="1504951" cy="9144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0" name="Google Shape;1200;p67"/>
          <p:cNvSpPr/>
          <p:nvPr/>
        </p:nvSpPr>
        <p:spPr>
          <a:xfrm>
            <a:off x="1238248" y="3358634"/>
            <a:ext cx="1143000" cy="685800"/>
          </a:xfrm>
          <a:prstGeom prst="flowChartDecision">
            <a:avLst/>
          </a:prstGeom>
          <a:noFill/>
          <a:ln w="15875" cap="flat" cmpd="sng">
            <a:solidFill>
              <a:srgbClr val="F49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1" name="Google Shape;1201;p67"/>
          <p:cNvSpPr/>
          <p:nvPr/>
        </p:nvSpPr>
        <p:spPr>
          <a:xfrm>
            <a:off x="3898701" y="2771775"/>
            <a:ext cx="1365648" cy="783193"/>
          </a:xfrm>
          <a:prstGeom prst="flowChartDecision">
            <a:avLst/>
          </a:prstGeom>
          <a:noFill/>
          <a:ln w="158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2" name="Google Shape;1202;p67"/>
          <p:cNvSpPr/>
          <p:nvPr/>
        </p:nvSpPr>
        <p:spPr>
          <a:xfrm>
            <a:off x="7143750" y="495300"/>
            <a:ext cx="914400" cy="5334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3" name="Google Shape;1203;p67"/>
          <p:cNvSpPr/>
          <p:nvPr/>
        </p:nvSpPr>
        <p:spPr>
          <a:xfrm>
            <a:off x="6934200" y="400050"/>
            <a:ext cx="1276350" cy="723900"/>
          </a:xfrm>
          <a:prstGeom prst="ellipse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4" name="Google Shape;1204;p67"/>
          <p:cNvSpPr/>
          <p:nvPr/>
        </p:nvSpPr>
        <p:spPr>
          <a:xfrm>
            <a:off x="3933825" y="1143000"/>
            <a:ext cx="1381124" cy="647700"/>
          </a:xfrm>
          <a:prstGeom prst="flowChartDecision">
            <a:avLst/>
          </a:prstGeom>
          <a:noFill/>
          <a:ln w="15875" cap="flat" cmpd="sng">
            <a:solidFill>
              <a:srgbClr val="FFD7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5" name="Google Shape;1205;p67"/>
          <p:cNvSpPr txBox="1"/>
          <p:nvPr/>
        </p:nvSpPr>
        <p:spPr>
          <a:xfrm>
            <a:off x="695325" y="849868"/>
            <a:ext cx="638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sp>
        <p:nvSpPr>
          <p:cNvPr id="1206" name="Google Shape;1206;p67"/>
          <p:cNvSpPr txBox="1"/>
          <p:nvPr/>
        </p:nvSpPr>
        <p:spPr>
          <a:xfrm>
            <a:off x="1357312" y="1529834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1207" name="Google Shape;1207;p67"/>
          <p:cNvSpPr txBox="1"/>
          <p:nvPr/>
        </p:nvSpPr>
        <p:spPr>
          <a:xfrm>
            <a:off x="2319337" y="1028700"/>
            <a:ext cx="8905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8" name="Google Shape;1208;p67"/>
          <p:cNvSpPr txBox="1"/>
          <p:nvPr/>
        </p:nvSpPr>
        <p:spPr>
          <a:xfrm>
            <a:off x="3371850" y="621268"/>
            <a:ext cx="828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9" name="Google Shape;1209;p67"/>
          <p:cNvSpPr txBox="1"/>
          <p:nvPr/>
        </p:nvSpPr>
        <p:spPr>
          <a:xfrm>
            <a:off x="1257300" y="2305050"/>
            <a:ext cx="11715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1210" name="Google Shape;1210;p67"/>
          <p:cNvSpPr txBox="1"/>
          <p:nvPr/>
        </p:nvSpPr>
        <p:spPr>
          <a:xfrm>
            <a:off x="4154090" y="1291709"/>
            <a:ext cx="12930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Works_For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1" name="Google Shape;1211;p67"/>
          <p:cNvSpPr txBox="1"/>
          <p:nvPr/>
        </p:nvSpPr>
        <p:spPr>
          <a:xfrm>
            <a:off x="1435892" y="3516868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</a:t>
            </a:r>
            <a:endParaRPr/>
          </a:p>
        </p:txBody>
      </p:sp>
      <p:sp>
        <p:nvSpPr>
          <p:cNvPr id="1212" name="Google Shape;1212;p67"/>
          <p:cNvSpPr txBox="1"/>
          <p:nvPr/>
        </p:nvSpPr>
        <p:spPr>
          <a:xfrm>
            <a:off x="1162049" y="4695825"/>
            <a:ext cx="12406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</a:t>
            </a:r>
            <a:endParaRPr/>
          </a:p>
        </p:txBody>
      </p:sp>
      <p:sp>
        <p:nvSpPr>
          <p:cNvPr id="1213" name="Google Shape;1213;p67"/>
          <p:cNvSpPr txBox="1"/>
          <p:nvPr/>
        </p:nvSpPr>
        <p:spPr>
          <a:xfrm>
            <a:off x="442912" y="5468337"/>
            <a:ext cx="890588" cy="39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- - - - -</a:t>
            </a:r>
            <a:endParaRPr/>
          </a:p>
        </p:txBody>
      </p:sp>
      <p:sp>
        <p:nvSpPr>
          <p:cNvPr id="1214" name="Google Shape;1214;p67"/>
          <p:cNvSpPr txBox="1"/>
          <p:nvPr/>
        </p:nvSpPr>
        <p:spPr>
          <a:xfrm>
            <a:off x="1609725" y="5545693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Birdate</a:t>
            </a:r>
            <a:endParaRPr/>
          </a:p>
        </p:txBody>
      </p:sp>
      <p:sp>
        <p:nvSpPr>
          <p:cNvPr id="1215" name="Google Shape;1215;p67"/>
          <p:cNvSpPr txBox="1"/>
          <p:nvPr/>
        </p:nvSpPr>
        <p:spPr>
          <a:xfrm>
            <a:off x="2888456" y="548270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</a:t>
            </a:r>
            <a:endParaRPr/>
          </a:p>
        </p:txBody>
      </p:sp>
      <p:sp>
        <p:nvSpPr>
          <p:cNvPr id="1216" name="Google Shape;1216;p67"/>
          <p:cNvSpPr txBox="1"/>
          <p:nvPr/>
        </p:nvSpPr>
        <p:spPr>
          <a:xfrm>
            <a:off x="4173140" y="2091809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Mdate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7" name="Google Shape;1217;p67"/>
          <p:cNvSpPr txBox="1"/>
          <p:nvPr/>
        </p:nvSpPr>
        <p:spPr>
          <a:xfrm>
            <a:off x="4067175" y="2989302"/>
            <a:ext cx="102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</a:t>
            </a:r>
            <a:endParaRPr/>
          </a:p>
        </p:txBody>
      </p:sp>
      <p:sp>
        <p:nvSpPr>
          <p:cNvPr id="1218" name="Google Shape;1218;p67"/>
          <p:cNvSpPr txBox="1"/>
          <p:nvPr/>
        </p:nvSpPr>
        <p:spPr>
          <a:xfrm>
            <a:off x="4101702" y="3960911"/>
            <a:ext cx="13989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Participation</a:t>
            </a:r>
            <a:endParaRPr/>
          </a:p>
        </p:txBody>
      </p:sp>
      <p:sp>
        <p:nvSpPr>
          <p:cNvPr id="1219" name="Google Shape;1219;p67"/>
          <p:cNvSpPr txBox="1"/>
          <p:nvPr/>
        </p:nvSpPr>
        <p:spPr>
          <a:xfrm>
            <a:off x="4332686" y="4966037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/>
          </a:p>
        </p:txBody>
      </p:sp>
      <p:sp>
        <p:nvSpPr>
          <p:cNvPr id="1220" name="Google Shape;1220;p67"/>
          <p:cNvSpPr txBox="1"/>
          <p:nvPr/>
        </p:nvSpPr>
        <p:spPr>
          <a:xfrm>
            <a:off x="7181849" y="583168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</a:t>
            </a:r>
            <a:endParaRPr/>
          </a:p>
        </p:txBody>
      </p:sp>
      <p:sp>
        <p:nvSpPr>
          <p:cNvPr id="1221" name="Google Shape;1221;p67"/>
          <p:cNvSpPr txBox="1"/>
          <p:nvPr/>
        </p:nvSpPr>
        <p:spPr>
          <a:xfrm>
            <a:off x="6396037" y="1507093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</p:txBody>
      </p:sp>
      <p:sp>
        <p:nvSpPr>
          <p:cNvPr id="1222" name="Google Shape;1222;p67"/>
          <p:cNvSpPr txBox="1"/>
          <p:nvPr/>
        </p:nvSpPr>
        <p:spPr>
          <a:xfrm>
            <a:off x="7796212" y="1476375"/>
            <a:ext cx="1038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</a:t>
            </a:r>
            <a:endParaRPr/>
          </a:p>
        </p:txBody>
      </p:sp>
      <p:sp>
        <p:nvSpPr>
          <p:cNvPr id="1223" name="Google Shape;1223;p67"/>
          <p:cNvSpPr txBox="1"/>
          <p:nvPr/>
        </p:nvSpPr>
        <p:spPr>
          <a:xfrm>
            <a:off x="6715125" y="2320409"/>
            <a:ext cx="13858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1224" name="Google Shape;1224;p67"/>
          <p:cNvSpPr txBox="1"/>
          <p:nvPr/>
        </p:nvSpPr>
        <p:spPr>
          <a:xfrm>
            <a:off x="6698455" y="4185166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sp>
        <p:nvSpPr>
          <p:cNvPr id="1225" name="Google Shape;1225;p67"/>
          <p:cNvSpPr txBox="1"/>
          <p:nvPr/>
        </p:nvSpPr>
        <p:spPr>
          <a:xfrm>
            <a:off x="6357937" y="5323914"/>
            <a:ext cx="966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Pname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6" name="Google Shape;1226;p67"/>
          <p:cNvSpPr txBox="1"/>
          <p:nvPr/>
        </p:nvSpPr>
        <p:spPr>
          <a:xfrm>
            <a:off x="7665242" y="5323914"/>
            <a:ext cx="1135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Pnumber</a:t>
            </a:r>
            <a:endParaRPr/>
          </a:p>
        </p:txBody>
      </p:sp>
      <p:cxnSp>
        <p:nvCxnSpPr>
          <p:cNvPr id="1227" name="Google Shape;1227;p67"/>
          <p:cNvCxnSpPr>
            <a:stCxn id="1180" idx="4"/>
          </p:cNvCxnSpPr>
          <p:nvPr/>
        </p:nvCxnSpPr>
        <p:spPr>
          <a:xfrm>
            <a:off x="990600" y="1295400"/>
            <a:ext cx="204900" cy="94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8" name="Google Shape;1228;p67"/>
          <p:cNvCxnSpPr>
            <a:stCxn id="1181" idx="4"/>
            <a:endCxn id="1192" idx="0"/>
          </p:cNvCxnSpPr>
          <p:nvPr/>
        </p:nvCxnSpPr>
        <p:spPr>
          <a:xfrm>
            <a:off x="1762125" y="2000250"/>
            <a:ext cx="47700" cy="247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9" name="Google Shape;1229;p67"/>
          <p:cNvCxnSpPr>
            <a:stCxn id="1184" idx="4"/>
          </p:cNvCxnSpPr>
          <p:nvPr/>
        </p:nvCxnSpPr>
        <p:spPr>
          <a:xfrm flipH="1">
            <a:off x="1967025" y="1485900"/>
            <a:ext cx="709500" cy="748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0" name="Google Shape;1230;p67"/>
          <p:cNvCxnSpPr>
            <a:stCxn id="1187" idx="4"/>
          </p:cNvCxnSpPr>
          <p:nvPr/>
        </p:nvCxnSpPr>
        <p:spPr>
          <a:xfrm flipH="1">
            <a:off x="2093100" y="1066800"/>
            <a:ext cx="1678800" cy="1167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1" name="Google Shape;1231;p67"/>
          <p:cNvCxnSpPr>
            <a:stCxn id="1204" idx="1"/>
          </p:cNvCxnSpPr>
          <p:nvPr/>
        </p:nvCxnSpPr>
        <p:spPr>
          <a:xfrm flipH="1">
            <a:off x="2429025" y="1466850"/>
            <a:ext cx="1504800" cy="771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2" name="Google Shape;1232;p67"/>
          <p:cNvCxnSpPr/>
          <p:nvPr/>
        </p:nvCxnSpPr>
        <p:spPr>
          <a:xfrm flipH="1">
            <a:off x="2424112" y="1529834"/>
            <a:ext cx="1624013" cy="7905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3" name="Google Shape;1233;p67"/>
          <p:cNvCxnSpPr>
            <a:stCxn id="1192" idx="2"/>
            <a:endCxn id="1199" idx="0"/>
          </p:cNvCxnSpPr>
          <p:nvPr/>
        </p:nvCxnSpPr>
        <p:spPr>
          <a:xfrm>
            <a:off x="1809750" y="2781300"/>
            <a:ext cx="0" cy="462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4" name="Google Shape;1234;p67"/>
          <p:cNvCxnSpPr/>
          <p:nvPr/>
        </p:nvCxnSpPr>
        <p:spPr>
          <a:xfrm flipH="1">
            <a:off x="1919286" y="4114799"/>
            <a:ext cx="1" cy="43969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5" name="Google Shape;1235;p67"/>
          <p:cNvCxnSpPr/>
          <p:nvPr/>
        </p:nvCxnSpPr>
        <p:spPr>
          <a:xfrm flipH="1">
            <a:off x="876300" y="5270455"/>
            <a:ext cx="428625" cy="10164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6" name="Google Shape;1236;p67"/>
          <p:cNvCxnSpPr>
            <a:stCxn id="1196" idx="2"/>
            <a:endCxn id="1182" idx="0"/>
          </p:cNvCxnSpPr>
          <p:nvPr/>
        </p:nvCxnSpPr>
        <p:spPr>
          <a:xfrm>
            <a:off x="1816893" y="5240298"/>
            <a:ext cx="249900" cy="246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7" name="Google Shape;1237;p67"/>
          <p:cNvCxnSpPr/>
          <p:nvPr/>
        </p:nvCxnSpPr>
        <p:spPr>
          <a:xfrm>
            <a:off x="2093118" y="5257800"/>
            <a:ext cx="1235865" cy="1428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8" name="Google Shape;1238;p67"/>
          <p:cNvCxnSpPr>
            <a:endCxn id="1198" idx="1"/>
          </p:cNvCxnSpPr>
          <p:nvPr/>
        </p:nvCxnSpPr>
        <p:spPr>
          <a:xfrm>
            <a:off x="2402625" y="2781300"/>
            <a:ext cx="1531200" cy="1333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9" name="Google Shape;1239;p67"/>
          <p:cNvCxnSpPr>
            <a:endCxn id="1201" idx="1"/>
          </p:cNvCxnSpPr>
          <p:nvPr/>
        </p:nvCxnSpPr>
        <p:spPr>
          <a:xfrm>
            <a:off x="2454501" y="2771872"/>
            <a:ext cx="1444200" cy="391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0" name="Google Shape;1240;p67"/>
          <p:cNvCxnSpPr>
            <a:stCxn id="1191" idx="4"/>
            <a:endCxn id="1201" idx="0"/>
          </p:cNvCxnSpPr>
          <p:nvPr/>
        </p:nvCxnSpPr>
        <p:spPr>
          <a:xfrm>
            <a:off x="4581525" y="2543175"/>
            <a:ext cx="0" cy="228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1" name="Google Shape;1241;p67"/>
          <p:cNvCxnSpPr>
            <a:endCxn id="1197" idx="0"/>
          </p:cNvCxnSpPr>
          <p:nvPr/>
        </p:nvCxnSpPr>
        <p:spPr>
          <a:xfrm>
            <a:off x="4621875" y="4525800"/>
            <a:ext cx="16800" cy="351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2" name="Google Shape;1242;p67"/>
          <p:cNvCxnSpPr/>
          <p:nvPr/>
        </p:nvCxnSpPr>
        <p:spPr>
          <a:xfrm flipH="1">
            <a:off x="1762124" y="4125872"/>
            <a:ext cx="1" cy="40005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3" name="Google Shape;1243;p67"/>
          <p:cNvCxnSpPr/>
          <p:nvPr/>
        </p:nvCxnSpPr>
        <p:spPr>
          <a:xfrm flipH="1">
            <a:off x="5189931" y="2320409"/>
            <a:ext cx="1572819" cy="79003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4" name="Google Shape;1244;p67"/>
          <p:cNvCxnSpPr>
            <a:endCxn id="1194" idx="0"/>
          </p:cNvCxnSpPr>
          <p:nvPr/>
        </p:nvCxnSpPr>
        <p:spPr>
          <a:xfrm flipH="1">
            <a:off x="7377113" y="1925175"/>
            <a:ext cx="856200" cy="313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5" name="Google Shape;1245;p67"/>
          <p:cNvCxnSpPr>
            <a:endCxn id="1194" idx="0"/>
          </p:cNvCxnSpPr>
          <p:nvPr/>
        </p:nvCxnSpPr>
        <p:spPr>
          <a:xfrm flipH="1">
            <a:off x="7377113" y="1117275"/>
            <a:ext cx="190500" cy="1121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6" name="Google Shape;1246;p67"/>
          <p:cNvCxnSpPr>
            <a:endCxn id="1194" idx="0"/>
          </p:cNvCxnSpPr>
          <p:nvPr/>
        </p:nvCxnSpPr>
        <p:spPr>
          <a:xfrm>
            <a:off x="7041413" y="1944075"/>
            <a:ext cx="335700" cy="294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7" name="Google Shape;1247;p67"/>
          <p:cNvCxnSpPr/>
          <p:nvPr/>
        </p:nvCxnSpPr>
        <p:spPr>
          <a:xfrm flipH="1">
            <a:off x="6841330" y="4648200"/>
            <a:ext cx="200025" cy="62358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8" name="Google Shape;1248;p67"/>
          <p:cNvCxnSpPr/>
          <p:nvPr/>
        </p:nvCxnSpPr>
        <p:spPr>
          <a:xfrm>
            <a:off x="5299473" y="4125872"/>
            <a:ext cx="1268014" cy="47149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9" name="Google Shape;1249;p67"/>
          <p:cNvCxnSpPr/>
          <p:nvPr/>
        </p:nvCxnSpPr>
        <p:spPr>
          <a:xfrm rot="10800000" flipH="1">
            <a:off x="5226249" y="2380714"/>
            <a:ext cx="1536501" cy="80117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0" name="Google Shape;1250;p67"/>
          <p:cNvCxnSpPr/>
          <p:nvPr/>
        </p:nvCxnSpPr>
        <p:spPr>
          <a:xfrm>
            <a:off x="7408068" y="4648200"/>
            <a:ext cx="740569" cy="606087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1" name="Google Shape;1251;p67"/>
          <p:cNvSpPr txBox="1"/>
          <p:nvPr/>
        </p:nvSpPr>
        <p:spPr>
          <a:xfrm>
            <a:off x="3171826" y="1845707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252" name="Google Shape;1252;p67"/>
          <p:cNvSpPr txBox="1"/>
          <p:nvPr/>
        </p:nvSpPr>
        <p:spPr>
          <a:xfrm>
            <a:off x="1447800" y="411063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253" name="Google Shape;1253;p67"/>
          <p:cNvSpPr txBox="1"/>
          <p:nvPr/>
        </p:nvSpPr>
        <p:spPr>
          <a:xfrm>
            <a:off x="3267075" y="333220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254" name="Google Shape;1254;p67"/>
          <p:cNvSpPr txBox="1"/>
          <p:nvPr/>
        </p:nvSpPr>
        <p:spPr>
          <a:xfrm>
            <a:off x="5899249" y="3789402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sp>
        <p:nvSpPr>
          <p:cNvPr id="1255" name="Google Shape;1255;p67"/>
          <p:cNvSpPr txBox="1"/>
          <p:nvPr/>
        </p:nvSpPr>
        <p:spPr>
          <a:xfrm>
            <a:off x="5881090" y="1281409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56" name="Google Shape;1256;p67"/>
          <p:cNvSpPr txBox="1"/>
          <p:nvPr/>
        </p:nvSpPr>
        <p:spPr>
          <a:xfrm>
            <a:off x="5500686" y="2505075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57" name="Google Shape;1257;p67"/>
          <p:cNvSpPr txBox="1"/>
          <p:nvPr/>
        </p:nvSpPr>
        <p:spPr>
          <a:xfrm>
            <a:off x="3114675" y="2598241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58" name="Google Shape;1258;p67"/>
          <p:cNvSpPr txBox="1"/>
          <p:nvPr/>
        </p:nvSpPr>
        <p:spPr>
          <a:xfrm>
            <a:off x="1533525" y="2828151"/>
            <a:ext cx="190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1259" name="Google Shape;1259;p67"/>
          <p:cNvCxnSpPr/>
          <p:nvPr/>
        </p:nvCxnSpPr>
        <p:spPr>
          <a:xfrm>
            <a:off x="5299473" y="1447800"/>
            <a:ext cx="1463277" cy="8286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0" name="Google Shape;1260;p67"/>
          <p:cNvSpPr/>
          <p:nvPr/>
        </p:nvSpPr>
        <p:spPr>
          <a:xfrm>
            <a:off x="6637730" y="104774"/>
            <a:ext cx="2196707" cy="1229795"/>
          </a:xfrm>
          <a:custGeom>
            <a:avLst/>
            <a:gdLst/>
            <a:ahLst/>
            <a:cxnLst/>
            <a:rect l="l" t="t" r="r" b="b"/>
            <a:pathLst>
              <a:path w="2037250" h="2339090" extrusionOk="0">
                <a:moveTo>
                  <a:pt x="1476570" y="200374"/>
                </a:moveTo>
                <a:cubicBezTo>
                  <a:pt x="1168595" y="-71089"/>
                  <a:pt x="336745" y="-80613"/>
                  <a:pt x="133545" y="257524"/>
                </a:cubicBezTo>
                <a:cubicBezTo>
                  <a:pt x="-69655" y="595661"/>
                  <a:pt x="-50605" y="1957736"/>
                  <a:pt x="257370" y="2229199"/>
                </a:cubicBezTo>
                <a:cubicBezTo>
                  <a:pt x="565345" y="2500662"/>
                  <a:pt x="1776608" y="2224437"/>
                  <a:pt x="1981395" y="1886299"/>
                </a:cubicBezTo>
                <a:cubicBezTo>
                  <a:pt x="2186183" y="1548162"/>
                  <a:pt x="1784545" y="471837"/>
                  <a:pt x="1476570" y="200374"/>
                </a:cubicBezTo>
                <a:close/>
              </a:path>
            </a:pathLst>
          </a:custGeom>
          <a:noFill/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67"/>
          <p:cNvSpPr txBox="1"/>
          <p:nvPr/>
        </p:nvSpPr>
        <p:spPr>
          <a:xfrm>
            <a:off x="175020" y="6414436"/>
            <a:ext cx="7543800" cy="38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None/>
            </a:pPr>
            <a:r>
              <a:rPr lang="en-AU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Multivalued Attributes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6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52</a:t>
            </a:fld>
            <a:endParaRPr/>
          </a:p>
        </p:txBody>
      </p:sp>
      <p:graphicFrame>
        <p:nvGraphicFramePr>
          <p:cNvPr id="1268" name="Google Shape;1268;p68"/>
          <p:cNvGraphicFramePr/>
          <p:nvPr/>
        </p:nvGraphicFramePr>
        <p:xfrm>
          <a:off x="2546350" y="616369"/>
          <a:ext cx="5080000" cy="5080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Fname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Lname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Birdate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Dname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9" name="Google Shape;1269;p68"/>
          <p:cNvGraphicFramePr/>
          <p:nvPr/>
        </p:nvGraphicFramePr>
        <p:xfrm>
          <a:off x="2533650" y="1879539"/>
          <a:ext cx="4064000" cy="5334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Msdate</a:t>
                      </a:r>
                      <a:endParaRPr sz="1800">
                        <a:solidFill>
                          <a:srgbClr val="FFC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0" name="Google Shape;1270;p68"/>
          <p:cNvGraphicFramePr/>
          <p:nvPr/>
        </p:nvGraphicFramePr>
        <p:xfrm>
          <a:off x="2506041" y="2964503"/>
          <a:ext cx="2133600" cy="4318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sng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</a:t>
                      </a:r>
                      <a:r>
                        <a:rPr lang="en-AU" sz="18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umber</a:t>
                      </a:r>
                      <a:endParaRPr sz="1800" u="sng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Pname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1" name="Google Shape;1271;p68"/>
          <p:cNvGraphicFramePr/>
          <p:nvPr/>
        </p:nvGraphicFramePr>
        <p:xfrm>
          <a:off x="2540000" y="3810000"/>
          <a:ext cx="4064000" cy="468875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Fname</a:t>
                      </a:r>
                      <a:endParaRPr sz="1800">
                        <a:solidFill>
                          <a:srgbClr val="5913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Birdate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5913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2" name="Google Shape;1272;p68"/>
          <p:cNvGraphicFramePr/>
          <p:nvPr/>
        </p:nvGraphicFramePr>
        <p:xfrm>
          <a:off x="2533650" y="4675088"/>
          <a:ext cx="3048000" cy="5080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Pnumber</a:t>
                      </a:r>
                      <a:endParaRPr sz="18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ESSN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3" name="Google Shape;1273;p68"/>
          <p:cNvGraphicFramePr/>
          <p:nvPr/>
        </p:nvGraphicFramePr>
        <p:xfrm>
          <a:off x="2533650" y="5592321"/>
          <a:ext cx="2133600" cy="508000"/>
        </p:xfrm>
        <a:graphic>
          <a:graphicData uri="http://schemas.openxmlformats.org/drawingml/2006/table">
            <a:tbl>
              <a:tblPr firstRow="1" bandRow="1">
                <a:noFill/>
                <a:tableStyleId>{B39F9EDD-656A-4A3B-BD2B-F9278DF16C91}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Dname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Dnumber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74" name="Google Shape;1274;p68"/>
          <p:cNvCxnSpPr/>
          <p:nvPr/>
        </p:nvCxnSpPr>
        <p:spPr>
          <a:xfrm>
            <a:off x="2825751" y="4202667"/>
            <a:ext cx="1447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5" name="Google Shape;1275;p68"/>
          <p:cNvCxnSpPr/>
          <p:nvPr/>
        </p:nvCxnSpPr>
        <p:spPr>
          <a:xfrm>
            <a:off x="2743200" y="5106888"/>
            <a:ext cx="1371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6" name="Google Shape;1276;p68"/>
          <p:cNvCxnSpPr/>
          <p:nvPr/>
        </p:nvCxnSpPr>
        <p:spPr>
          <a:xfrm>
            <a:off x="2686050" y="6043999"/>
            <a:ext cx="1828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7" name="Google Shape;1277;p68"/>
          <p:cNvSpPr txBox="1"/>
          <p:nvPr/>
        </p:nvSpPr>
        <p:spPr>
          <a:xfrm>
            <a:off x="2510458" y="189371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1278" name="Google Shape;1278;p68"/>
          <p:cNvSpPr txBox="1"/>
          <p:nvPr/>
        </p:nvSpPr>
        <p:spPr>
          <a:xfrm>
            <a:off x="2487820" y="1478686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endParaRPr/>
          </a:p>
        </p:txBody>
      </p:sp>
      <p:sp>
        <p:nvSpPr>
          <p:cNvPr id="1279" name="Google Shape;1279;p68"/>
          <p:cNvSpPr txBox="1"/>
          <p:nvPr/>
        </p:nvSpPr>
        <p:spPr>
          <a:xfrm>
            <a:off x="2500658" y="2595171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/>
          </a:p>
        </p:txBody>
      </p:sp>
      <p:sp>
        <p:nvSpPr>
          <p:cNvPr id="1280" name="Google Shape;1280;p68"/>
          <p:cNvSpPr txBox="1"/>
          <p:nvPr/>
        </p:nvSpPr>
        <p:spPr>
          <a:xfrm>
            <a:off x="2457450" y="3427224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</a:t>
            </a:r>
            <a:endParaRPr/>
          </a:p>
        </p:txBody>
      </p:sp>
      <p:sp>
        <p:nvSpPr>
          <p:cNvPr id="1281" name="Google Shape;1281;p68"/>
          <p:cNvSpPr txBox="1"/>
          <p:nvPr/>
        </p:nvSpPr>
        <p:spPr>
          <a:xfrm>
            <a:off x="2457450" y="4268688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Participation</a:t>
            </a:r>
            <a:endParaRPr/>
          </a:p>
        </p:txBody>
      </p:sp>
      <p:sp>
        <p:nvSpPr>
          <p:cNvPr id="1282" name="Google Shape;1282;p68"/>
          <p:cNvSpPr txBox="1"/>
          <p:nvPr/>
        </p:nvSpPr>
        <p:spPr>
          <a:xfrm>
            <a:off x="2510458" y="5197445"/>
            <a:ext cx="142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D_number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83" name="Google Shape;1283;p68"/>
          <p:cNvGrpSpPr/>
          <p:nvPr/>
        </p:nvGrpSpPr>
        <p:grpSpPr>
          <a:xfrm>
            <a:off x="3188873" y="1124368"/>
            <a:ext cx="1724025" cy="721574"/>
            <a:chOff x="2009775" y="914400"/>
            <a:chExt cx="1724025" cy="598861"/>
          </a:xfrm>
        </p:grpSpPr>
        <p:cxnSp>
          <p:nvCxnSpPr>
            <p:cNvPr id="1284" name="Google Shape;1284;p68"/>
            <p:cNvCxnSpPr/>
            <p:nvPr/>
          </p:nvCxnSpPr>
          <p:spPr>
            <a:xfrm rot="10800000">
              <a:off x="2009775" y="914400"/>
              <a:ext cx="0" cy="304801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285" name="Google Shape;1285;p68"/>
            <p:cNvCxnSpPr/>
            <p:nvPr/>
          </p:nvCxnSpPr>
          <p:spPr>
            <a:xfrm>
              <a:off x="2009775" y="1219200"/>
              <a:ext cx="1706977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6" name="Google Shape;1286;p68"/>
            <p:cNvCxnSpPr/>
            <p:nvPr/>
          </p:nvCxnSpPr>
          <p:spPr>
            <a:xfrm>
              <a:off x="3733800" y="1208461"/>
              <a:ext cx="0" cy="3048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87" name="Google Shape;1287;p68"/>
          <p:cNvCxnSpPr/>
          <p:nvPr/>
        </p:nvCxnSpPr>
        <p:spPr>
          <a:xfrm rot="10800000">
            <a:off x="3411192" y="1138189"/>
            <a:ext cx="0" cy="221217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88" name="Google Shape;1288;p68"/>
          <p:cNvCxnSpPr/>
          <p:nvPr/>
        </p:nvCxnSpPr>
        <p:spPr>
          <a:xfrm>
            <a:off x="3400425" y="1359406"/>
            <a:ext cx="436245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9" name="Google Shape;1289;p68"/>
          <p:cNvCxnSpPr/>
          <p:nvPr/>
        </p:nvCxnSpPr>
        <p:spPr>
          <a:xfrm flipH="1">
            <a:off x="7748587" y="1359406"/>
            <a:ext cx="14288" cy="313788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0" name="Google Shape;1290;p68"/>
          <p:cNvCxnSpPr/>
          <p:nvPr/>
        </p:nvCxnSpPr>
        <p:spPr>
          <a:xfrm rot="10800000">
            <a:off x="4057650" y="4497288"/>
            <a:ext cx="3690937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1" name="Google Shape;1291;p68"/>
          <p:cNvCxnSpPr/>
          <p:nvPr/>
        </p:nvCxnSpPr>
        <p:spPr>
          <a:xfrm>
            <a:off x="4057650" y="4497288"/>
            <a:ext cx="0" cy="177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2" name="Google Shape;1292;p68"/>
          <p:cNvCxnSpPr/>
          <p:nvPr/>
        </p:nvCxnSpPr>
        <p:spPr>
          <a:xfrm>
            <a:off x="7152792" y="1117178"/>
            <a:ext cx="16565" cy="155131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3" name="Google Shape;1293;p68"/>
          <p:cNvCxnSpPr/>
          <p:nvPr/>
        </p:nvCxnSpPr>
        <p:spPr>
          <a:xfrm rot="10800000">
            <a:off x="3477453" y="2668488"/>
            <a:ext cx="3691904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4" name="Google Shape;1294;p68"/>
          <p:cNvCxnSpPr/>
          <p:nvPr/>
        </p:nvCxnSpPr>
        <p:spPr>
          <a:xfrm rot="10800000">
            <a:off x="3471655" y="2394717"/>
            <a:ext cx="5798" cy="27377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95" name="Google Shape;1295;p68"/>
          <p:cNvSpPr txBox="1"/>
          <p:nvPr/>
        </p:nvSpPr>
        <p:spPr>
          <a:xfrm>
            <a:off x="175020" y="6414436"/>
            <a:ext cx="7543800" cy="38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Times New Roman"/>
              <a:buNone/>
            </a:pPr>
            <a:r>
              <a:rPr lang="en-AU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Multivalued Attributes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6" name="Google Shape;1296;p68"/>
          <p:cNvSpPr txBox="1"/>
          <p:nvPr/>
        </p:nvSpPr>
        <p:spPr>
          <a:xfrm>
            <a:off x="2645225" y="644950"/>
            <a:ext cx="77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68"/>
          <p:cNvSpPr txBox="1"/>
          <p:nvPr/>
        </p:nvSpPr>
        <p:spPr>
          <a:xfrm>
            <a:off x="2645225" y="4023150"/>
            <a:ext cx="77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8" name="Google Shape;1298;p68"/>
          <p:cNvCxnSpPr>
            <a:stCxn id="1297" idx="1"/>
            <a:endCxn id="1296" idx="1"/>
          </p:cNvCxnSpPr>
          <p:nvPr/>
        </p:nvCxnSpPr>
        <p:spPr>
          <a:xfrm rot="10800000" flipH="1">
            <a:off x="2645225" y="844950"/>
            <a:ext cx="600" cy="3378300"/>
          </a:xfrm>
          <a:prstGeom prst="bentConnector3">
            <a:avLst>
              <a:gd name="adj1" fmla="val -7685835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9" name="Google Shape;1299;p68"/>
          <p:cNvSpPr txBox="1"/>
          <p:nvPr/>
        </p:nvSpPr>
        <p:spPr>
          <a:xfrm>
            <a:off x="2645825" y="2995750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68"/>
          <p:cNvSpPr txBox="1"/>
          <p:nvPr/>
        </p:nvSpPr>
        <p:spPr>
          <a:xfrm>
            <a:off x="2645825" y="4731525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1" name="Google Shape;1301;p68"/>
          <p:cNvCxnSpPr>
            <a:stCxn id="1300" idx="1"/>
            <a:endCxn id="1299" idx="1"/>
          </p:cNvCxnSpPr>
          <p:nvPr/>
        </p:nvCxnSpPr>
        <p:spPr>
          <a:xfrm rot="10800000" flipH="1">
            <a:off x="2645825" y="3195825"/>
            <a:ext cx="600" cy="17358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02" name="Google Shape;1302;p68"/>
          <p:cNvSpPr txBox="1"/>
          <p:nvPr/>
        </p:nvSpPr>
        <p:spPr>
          <a:xfrm>
            <a:off x="2722025" y="1984238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68"/>
          <p:cNvSpPr txBox="1"/>
          <p:nvPr/>
        </p:nvSpPr>
        <p:spPr>
          <a:xfrm>
            <a:off x="2743200" y="5657313"/>
            <a:ext cx="51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4" name="Google Shape;1304;p68"/>
          <p:cNvCxnSpPr>
            <a:stCxn id="1303" idx="1"/>
            <a:endCxn id="1302" idx="1"/>
          </p:cNvCxnSpPr>
          <p:nvPr/>
        </p:nvCxnSpPr>
        <p:spPr>
          <a:xfrm rot="10800000">
            <a:off x="2721900" y="2184213"/>
            <a:ext cx="21300" cy="3673200"/>
          </a:xfrm>
          <a:prstGeom prst="bentConnector3">
            <a:avLst>
              <a:gd name="adj1" fmla="val 4060563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69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/>
              <a:t>Mapping N-ary Relationship Types</a:t>
            </a:r>
            <a:endParaRPr/>
          </a:p>
        </p:txBody>
      </p:sp>
      <p:sp>
        <p:nvSpPr>
          <p:cNvPr id="1310" name="Google Shape;1310;p69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 sz="2400"/>
              <a:t>Step 7 : For each </a:t>
            </a:r>
            <a:r>
              <a:rPr lang="en-AU" sz="2400" b="1" i="1"/>
              <a:t>n-ary relationship type </a:t>
            </a:r>
            <a:r>
              <a:rPr lang="en-AU" sz="2400"/>
              <a:t>(n &gt; 2), create a new relation with</a:t>
            </a:r>
            <a:endParaRPr sz="2400"/>
          </a:p>
          <a:p>
            <a:pPr marL="384048" lvl="1" indent="-22098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◦"/>
            </a:pPr>
            <a:r>
              <a:rPr lang="en-AU" sz="2400"/>
              <a:t>Attributes : same for Step 5.</a:t>
            </a:r>
            <a:endParaRPr sz="2400"/>
          </a:p>
          <a:p>
            <a:pPr marL="384048" lvl="1" indent="-22098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AU" sz="2400"/>
              <a:t>Key : </a:t>
            </a:r>
            <a:endParaRPr sz="2400"/>
          </a:p>
          <a:p>
            <a:pPr marL="566928" lvl="2" indent="-22098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AU" sz="2400"/>
              <a:t>same for Step 5, see exception below</a:t>
            </a:r>
            <a:endParaRPr sz="2400"/>
          </a:p>
          <a:p>
            <a:pPr marL="566928" lvl="2" indent="-220979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AU" sz="2400"/>
              <a:t>The exception is that that if one of the participating entity types has participation ratio 1, its key may be used as part of the key to the new relation.</a:t>
            </a:r>
            <a:endParaRPr sz="2400"/>
          </a:p>
          <a:p>
            <a:pPr marL="566928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AU" sz="2000" i="1"/>
              <a:t>(Advice: binary relationships are simpler to model)</a:t>
            </a:r>
            <a:endParaRPr sz="2000"/>
          </a:p>
          <a:p>
            <a:pPr marL="384048" lvl="1" indent="-6857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311" name="Google Shape;1311;p6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53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70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/>
              <a:t>Summary of Mapping</a:t>
            </a:r>
            <a:endParaRPr/>
          </a:p>
        </p:txBody>
      </p:sp>
      <p:sp>
        <p:nvSpPr>
          <p:cNvPr id="1318" name="Google Shape;1318;p70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84048" lvl="1" indent="-1955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Map Entities first </a:t>
            </a:r>
            <a:endParaRPr sz="2000"/>
          </a:p>
          <a:p>
            <a:pPr marL="566928" lvl="2" indent="-1955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Strong Entity Types (Step 1)</a:t>
            </a:r>
            <a:endParaRPr sz="1600"/>
          </a:p>
          <a:p>
            <a:pPr marL="566928" lvl="2" indent="-1955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Weak Entity Types (Step 2)</a:t>
            </a:r>
            <a:endParaRPr sz="160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384048" lvl="1" indent="-1955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Map Relationship</a:t>
            </a:r>
            <a:endParaRPr sz="2000"/>
          </a:p>
          <a:p>
            <a:pPr marL="566928" lvl="2" indent="-1955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1:1 Relationship Types (Step 3)</a:t>
            </a:r>
            <a:endParaRPr sz="1600"/>
          </a:p>
          <a:p>
            <a:pPr marL="566928" lvl="2" indent="-1955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1:N Relationship Types (Step 4)</a:t>
            </a:r>
            <a:endParaRPr sz="1600"/>
          </a:p>
          <a:p>
            <a:pPr marL="566928" lvl="2" indent="-1955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M:N Relationship Types (Step 5)</a:t>
            </a:r>
            <a:endParaRPr sz="1600"/>
          </a:p>
          <a:p>
            <a:pPr marL="566928" lvl="2" indent="-1955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N-ary Relationship Types (Step 7)</a:t>
            </a:r>
            <a:endParaRPr sz="1600"/>
          </a:p>
          <a:p>
            <a:pPr marL="384048" lvl="1" indent="-685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384048" lvl="1" indent="-1955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Mapping </a:t>
            </a:r>
            <a:endParaRPr sz="2000"/>
          </a:p>
          <a:p>
            <a:pPr marL="566928" lvl="2" indent="-1955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Multivalued Attributes (Step 6)</a:t>
            </a:r>
            <a:endParaRPr sz="1600"/>
          </a:p>
        </p:txBody>
      </p:sp>
      <p:sp>
        <p:nvSpPr>
          <p:cNvPr id="1319" name="Google Shape;1319;p7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71"/>
          <p:cNvSpPr txBox="1">
            <a:spLocks noGrp="1"/>
          </p:cNvSpPr>
          <p:nvPr>
            <p:ph type="title"/>
          </p:nvPr>
        </p:nvSpPr>
        <p:spPr>
          <a:xfrm>
            <a:off x="822960" y="228601"/>
            <a:ext cx="754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>
                <a:latin typeface="Times New Roman"/>
                <a:ea typeface="Times New Roman"/>
                <a:cs typeface="Times New Roman"/>
                <a:sym typeface="Times New Roman"/>
              </a:rPr>
              <a:t>ER vs Relational Model</a:t>
            </a:r>
            <a:endParaRPr/>
          </a:p>
        </p:txBody>
      </p:sp>
      <p:graphicFrame>
        <p:nvGraphicFramePr>
          <p:cNvPr id="1326" name="Google Shape;1326;p71"/>
          <p:cNvGraphicFramePr/>
          <p:nvPr/>
        </p:nvGraphicFramePr>
        <p:xfrm>
          <a:off x="952500" y="1524000"/>
          <a:ext cx="7239000" cy="4373640"/>
        </p:xfrm>
        <a:graphic>
          <a:graphicData uri="http://schemas.openxmlformats.org/drawingml/2006/table">
            <a:tbl>
              <a:tblPr>
                <a:noFill/>
                <a:tableStyleId>{FFF065A8-9B32-4C11-BC18-C9C18793FE86}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2100" b="1"/>
                        <a:t>ER MODEL</a:t>
                      </a:r>
                      <a:endParaRPr sz="2100" b="1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2100" b="1"/>
                        <a:t>RELATIONAL MODEL</a:t>
                      </a:r>
                      <a:endParaRPr sz="2100" b="1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700"/>
                        <a:t>Entity Type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700" i="1"/>
                        <a:t>Entity</a:t>
                      </a:r>
                      <a:r>
                        <a:rPr lang="en-AU" sz="1700"/>
                        <a:t> relation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700"/>
                        <a:t>1:1 or 1:N relationship type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700"/>
                        <a:t>Foreign key (or </a:t>
                      </a:r>
                      <a:r>
                        <a:rPr lang="en-AU" sz="1700" i="1"/>
                        <a:t>relationship</a:t>
                      </a:r>
                      <a:r>
                        <a:rPr lang="en-AU" sz="1700"/>
                        <a:t> relation)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AU" sz="1700">
                          <a:solidFill>
                            <a:schemeClr val="dk1"/>
                          </a:solidFill>
                        </a:rPr>
                        <a:t>M:N relationship type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AU" sz="1700" i="1">
                          <a:solidFill>
                            <a:schemeClr val="dk1"/>
                          </a:solidFill>
                        </a:rPr>
                        <a:t>Relationship</a:t>
                      </a:r>
                      <a:r>
                        <a:rPr lang="en-AU" sz="1700">
                          <a:solidFill>
                            <a:schemeClr val="dk1"/>
                          </a:solidFill>
                        </a:rPr>
                        <a:t> relation and </a:t>
                      </a:r>
                      <a:r>
                        <a:rPr lang="en-AU" sz="1700" i="1">
                          <a:solidFill>
                            <a:schemeClr val="dk1"/>
                          </a:solidFill>
                        </a:rPr>
                        <a:t>two</a:t>
                      </a:r>
                      <a:r>
                        <a:rPr lang="en-AU" sz="1700">
                          <a:solidFill>
                            <a:schemeClr val="dk1"/>
                          </a:solidFill>
                        </a:rPr>
                        <a:t> foreign key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700" i="1"/>
                        <a:t>n</a:t>
                      </a:r>
                      <a:r>
                        <a:rPr lang="en-AU" sz="1700"/>
                        <a:t>-ary relationship type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AU" sz="1700" i="1">
                          <a:solidFill>
                            <a:schemeClr val="dk1"/>
                          </a:solidFill>
                        </a:rPr>
                        <a:t>Relationship</a:t>
                      </a:r>
                      <a:r>
                        <a:rPr lang="en-AU" sz="1700">
                          <a:solidFill>
                            <a:schemeClr val="dk1"/>
                          </a:solidFill>
                        </a:rPr>
                        <a:t> relation and </a:t>
                      </a:r>
                      <a:r>
                        <a:rPr lang="en-AU" sz="1700" i="1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lang="en-AU" sz="1700">
                          <a:solidFill>
                            <a:schemeClr val="dk1"/>
                          </a:solidFill>
                        </a:rPr>
                        <a:t> foreign key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700"/>
                        <a:t>Simple Attribute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AU" sz="1700">
                          <a:solidFill>
                            <a:schemeClr val="dk1"/>
                          </a:solidFill>
                        </a:rPr>
                        <a:t>Attribute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AU" sz="1700">
                          <a:solidFill>
                            <a:schemeClr val="dk1"/>
                          </a:solidFill>
                        </a:rPr>
                        <a:t>Composite Attribute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700"/>
                        <a:t>Set of simple component attributes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700">
                          <a:solidFill>
                            <a:schemeClr val="dk1"/>
                          </a:solidFill>
                        </a:rPr>
                        <a:t>Multivalued Attribute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700"/>
                        <a:t>Relation and foreign key</a:t>
                      </a:r>
                      <a:endParaRPr sz="17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27" name="Google Shape;1327;p71"/>
          <p:cNvSpPr txBox="1">
            <a:spLocks noGrp="1"/>
          </p:cNvSpPr>
          <p:nvPr>
            <p:ph type="sldNum" idx="4294967295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55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72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mbria"/>
              <a:buNone/>
            </a:pPr>
            <a:r>
              <a:rPr lang="en-AU"/>
              <a:t>Takeaway</a:t>
            </a:r>
            <a:endParaRPr/>
          </a:p>
        </p:txBody>
      </p:sp>
      <p:sp>
        <p:nvSpPr>
          <p:cNvPr id="1333" name="Google Shape;1333;p72"/>
          <p:cNvSpPr txBox="1">
            <a:spLocks noGrp="1"/>
          </p:cNvSpPr>
          <p:nvPr>
            <p:ph type="body" idx="1"/>
          </p:nvPr>
        </p:nvSpPr>
        <p:spPr>
          <a:xfrm>
            <a:off x="838199" y="10668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AU"/>
              <a:t>Learning Outcomes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AU"/>
              <a:t>An understanding of relational model.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AU"/>
              <a:t>Knowing how to convert an ERD to relational model.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334" name="Google Shape;1334;p7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红橙色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</TotalTime>
  <Words>4248</Words>
  <Application>Microsoft Office PowerPoint</Application>
  <PresentationFormat>全屏显示(4:3)</PresentationFormat>
  <Paragraphs>1289</Paragraphs>
  <Slides>56</Slides>
  <Notes>56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2" baseType="lpstr">
      <vt:lpstr>Cambria</vt:lpstr>
      <vt:lpstr>Times New Roman</vt:lpstr>
      <vt:lpstr>Helvetica Neue</vt:lpstr>
      <vt:lpstr>Arial</vt:lpstr>
      <vt:lpstr>Calibri</vt:lpstr>
      <vt:lpstr>回顾</vt:lpstr>
      <vt:lpstr>The Relational  Data Model</vt:lpstr>
      <vt:lpstr>ER Content: Data Modeling</vt:lpstr>
      <vt:lpstr>ER Content – Standard Notation</vt:lpstr>
      <vt:lpstr>Introduction</vt:lpstr>
      <vt:lpstr>Relational Data Model Concepts</vt:lpstr>
      <vt:lpstr>Structures</vt:lpstr>
      <vt:lpstr>Example of a Relation</vt:lpstr>
      <vt:lpstr>Relational Data Model</vt:lpstr>
      <vt:lpstr>Relations are Unordered</vt:lpstr>
      <vt:lpstr>Example of Unordered Relation</vt:lpstr>
      <vt:lpstr>Why Relational Model?</vt:lpstr>
      <vt:lpstr>Keys</vt:lpstr>
      <vt:lpstr>Example</vt:lpstr>
      <vt:lpstr>Keys</vt:lpstr>
      <vt:lpstr>Number of superkey</vt:lpstr>
      <vt:lpstr>Relation Referring to Another Relation</vt:lpstr>
      <vt:lpstr>Store the values of the Primary Key?</vt:lpstr>
      <vt:lpstr>Relation Referring to Another Relation</vt:lpstr>
      <vt:lpstr>Example of Foreign keys</vt:lpstr>
      <vt:lpstr>Relational Integrity Constraints</vt:lpstr>
      <vt:lpstr>Relational Integrity Constraints</vt:lpstr>
      <vt:lpstr>Insertions</vt:lpstr>
      <vt:lpstr>Insertion: Key constraint violation</vt:lpstr>
      <vt:lpstr>Insertion: Key constraint violation</vt:lpstr>
      <vt:lpstr>Insertion: Entity integrity violation</vt:lpstr>
      <vt:lpstr>Insertion: Entity integrity violation</vt:lpstr>
      <vt:lpstr>Insertion: Referential integrity violation</vt:lpstr>
      <vt:lpstr>Insertion: Referential integrity violation</vt:lpstr>
      <vt:lpstr> Deletion</vt:lpstr>
      <vt:lpstr> Deletion: Constraint Checks</vt:lpstr>
      <vt:lpstr>Modifications</vt:lpstr>
      <vt:lpstr>Relational database definition</vt:lpstr>
      <vt:lpstr>ER to Relational Data Model Mapping</vt:lpstr>
      <vt:lpstr>Mapping ER to Relational: Guiding Example</vt:lpstr>
      <vt:lpstr>Mapping Strong Entity Types</vt:lpstr>
      <vt:lpstr>PowerPoint 演示文稿</vt:lpstr>
      <vt:lpstr>Mapping Strong Entity Types</vt:lpstr>
      <vt:lpstr>Mapping Weak Entity Types</vt:lpstr>
      <vt:lpstr>PowerPoint 演示文稿</vt:lpstr>
      <vt:lpstr>Mapping Weak Entity Types</vt:lpstr>
      <vt:lpstr>Mapping 1:1 Relationship Types</vt:lpstr>
      <vt:lpstr>PowerPoint 演示文稿</vt:lpstr>
      <vt:lpstr>Mapping 1:1 Relationship Types</vt:lpstr>
      <vt:lpstr>Mapping 1:N Relationship Types</vt:lpstr>
      <vt:lpstr>PowerPoint 演示文稿</vt:lpstr>
      <vt:lpstr>Mapping 1:N Relationship Types</vt:lpstr>
      <vt:lpstr>Mapping M:N Relationship Types</vt:lpstr>
      <vt:lpstr>PowerPoint 演示文稿</vt:lpstr>
      <vt:lpstr>PowerPoint 演示文稿</vt:lpstr>
      <vt:lpstr>Mapping Multivalued Attributes</vt:lpstr>
      <vt:lpstr>PowerPoint 演示文稿</vt:lpstr>
      <vt:lpstr>PowerPoint 演示文稿</vt:lpstr>
      <vt:lpstr>Mapping N-ary Relationship Types</vt:lpstr>
      <vt:lpstr>Summary of Mapping</vt:lpstr>
      <vt:lpstr>ER vs Relational Model</vt:lpstr>
      <vt:lpstr>Takeaway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Relational  Data Model</dc:title>
  <cp:lastModifiedBy>Dell</cp:lastModifiedBy>
  <cp:revision>5</cp:revision>
  <cp:lastPrinted>2023-09-25T07:01:55Z</cp:lastPrinted>
  <dcterms:modified xsi:type="dcterms:W3CDTF">2024-10-13T12:12:33Z</dcterms:modified>
</cp:coreProperties>
</file>