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</p:sldIdLst>
  <p:sldSz cx="9144000" cy="6858000" type="screen4x3"/>
  <p:notesSz cx="9939020" cy="6807200"/>
  <p:custDataLst>
    <p:tags r:id="rId7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Z Yang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3" d="100"/>
          <a:sy n="63" d="100"/>
        </p:scale>
        <p:origin x="77" y="43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8" Type="http://schemas.openxmlformats.org/officeDocument/2006/relationships/tags" Target="tags/tag1.xml"/><Relationship Id="rId77" Type="http://schemas.openxmlformats.org/officeDocument/2006/relationships/commentAuthors" Target="commentAuthors.xml"/><Relationship Id="rId76" Type="http://schemas.openxmlformats.org/officeDocument/2006/relationships/tableStyles" Target="tableStyles.xml"/><Relationship Id="rId75" Type="http://schemas.openxmlformats.org/officeDocument/2006/relationships/viewProps" Target="viewProps.xml"/><Relationship Id="rId74" Type="http://schemas.openxmlformats.org/officeDocument/2006/relationships/presProps" Target="presProps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06-06T02:41:35.248" idx="1">
    <p:pos x="528" y="768"/>
    <p:text>add example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06-06T02:42:26.291" idx="2">
    <p:pos x="518" y="132"/>
    <p:text>add explanation&amp;example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29992" y="0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" name="Google Shape;43;p1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45d6f72846_0_62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" name="Google Shape;49;g245d6f7284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300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2b2e92862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09588"/>
            <a:ext cx="3405300" cy="2554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2b2e928626_0_8:notes"/>
          <p:cNvSpPr txBox="1">
            <a:spLocks noGrp="1"/>
          </p:cNvSpPr>
          <p:nvPr>
            <p:ph type="body" idx="1"/>
          </p:nvPr>
        </p:nvSpPr>
        <p:spPr>
          <a:xfrm>
            <a:off x="993935" y="3233420"/>
            <a:ext cx="7951500" cy="30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" name="Google Shape;58;g12b2e928626_0_8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None/>
            </a:pPr>
          </a:p>
        </p:txBody>
      </p:sp>
      <p:sp>
        <p:nvSpPr>
          <p:cNvPr id="68" name="Google Shape;68;p2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3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4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4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5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6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7" name="Google Shape;117;p6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7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7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8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8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2de306f4a9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300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2de306f4a9_0_113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g12de306f4a9_0_113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4" name="Google Shape;174;p9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0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None/>
            </a:pPr>
          </a:p>
        </p:txBody>
      </p:sp>
      <p:sp>
        <p:nvSpPr>
          <p:cNvPr id="183" name="Google Shape;183;p10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11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None/>
            </a:pPr>
          </a:p>
        </p:txBody>
      </p:sp>
      <p:sp>
        <p:nvSpPr>
          <p:cNvPr id="192" name="Google Shape;192;p11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12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None/>
            </a:pPr>
          </a:p>
        </p:txBody>
      </p:sp>
      <p:sp>
        <p:nvSpPr>
          <p:cNvPr id="200" name="Google Shape;200;p12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14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8" name="Google Shape;208;p14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15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0" name="Google Shape;220;p15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16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8" name="Google Shape;228;p16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7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6" name="Google Shape;236;p17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18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5" name="Google Shape;245;p18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2c7de4bb25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300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12c7de4bb25_0_2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3" name="Google Shape;253;g12c7de4bb25_0_2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19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1" name="Google Shape;261;p19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20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9" name="Google Shape;269;p20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2b2e928626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300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2b2e928626_0_112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7" name="Google Shape;277;g12b2e928626_0_112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22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5" name="Google Shape;285;p22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23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3" name="Google Shape;293;p23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24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1" name="Google Shape;301;p24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p25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9" name="Google Shape;309;p25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27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7" name="Google Shape;317;p27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28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5" name="Google Shape;325;p28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30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3" name="Google Shape;333;p30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31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1" name="Google Shape;341;p31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32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9" name="Google Shape;349;p32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41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7" name="Google Shape;357;p41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p42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5" name="Google Shape;365;p42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p45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TODO: Complete notations</a:t>
            </a:r>
            <a:endParaRPr lang="en-US"/>
          </a:p>
        </p:txBody>
      </p:sp>
      <p:sp>
        <p:nvSpPr>
          <p:cNvPr id="407" name="Google Shape;407;p45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p46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8" name="Google Shape;418;p46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" name="Google Shape;450;p48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1" name="Google Shape;451;p48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49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0" name="Google Shape;460;p49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7" name="Google Shape;467;p50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8" name="Google Shape;468;p50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51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7" name="Google Shape;477;p51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2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5" name="Google Shape;48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p53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4" name="Google Shape;494;p53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1" name="Google Shape;501;p54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2" name="Google Shape;502;p54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9" name="Google Shape;509;p55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0" name="Google Shape;510;p55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56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0" name="Google Shape;540;p56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7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7" name="Google Shape;547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3" name="Google Shape;563;p59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4" name="Google Shape;564;p59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2" name="Google Shape;572;p60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73" name="Google Shape;573;p60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0" name="Google Shape;580;p61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1" name="Google Shape;581;p61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2de306f4a9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2de306f4a9_0_485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7" name="Google Shape;597;g12de306f4a9_0_485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p62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5" name="Google Shape;605;p62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64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3" name="Google Shape;613;p64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1" name="Google Shape;621;p70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2" name="Google Shape;622;p70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12e4bc5a204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12e4bc5a204_1_76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0" name="Google Shape;630;g12e4bc5a204_1_76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7" name="Google Shape;637;p71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8" name="Google Shape;638;p71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12de306f4a9_0_382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45" name="Google Shape;645;g12de306f4a9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p75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5" name="Google Shape;655;p75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2" name="Google Shape;662;p76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None/>
            </a:pPr>
          </a:p>
        </p:txBody>
      </p:sp>
      <p:sp>
        <p:nvSpPr>
          <p:cNvPr id="663" name="Google Shape;663;p76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0" name="Google Shape;670;p77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None/>
            </a:pPr>
          </a:p>
        </p:txBody>
      </p:sp>
      <p:sp>
        <p:nvSpPr>
          <p:cNvPr id="671" name="Google Shape;671;p77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78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0" name="Google Shape;680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79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3" name="Google Shape;703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80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1" name="Google Shape;731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81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7" name="Google Shape;747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9" name="Google Shape;769;p82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0" name="Google Shape;770;p82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83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3" name="Google Shape;793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84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14" name="Google Shape;814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2" name="Google Shape;832;p85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3" name="Google Shape;833;p85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1" name="Google Shape;931;p86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2" name="Google Shape;932;p86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87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9" name="Google Shape;939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Times New Roman" panose="02020603050405020304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cxnSp>
        <p:nvCxnSpPr>
          <p:cNvPr id="24" name="Google Shape;24;p2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" name="Google Shape;25;p2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>
  <p:cSld name="标题和内容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9" name="Google Shape;29;p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78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buNone/>
              <a:defRPr sz="13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lvl="2">
              <a:buNone/>
              <a:defRPr sz="13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lvl="3">
              <a:buNone/>
              <a:defRPr sz="13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lvl="4">
              <a:buNone/>
              <a:defRPr sz="13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lvl="5">
              <a:buNone/>
              <a:defRPr sz="13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lvl="6">
              <a:buNone/>
              <a:defRPr sz="13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lvl="7">
              <a:buNone/>
              <a:defRPr sz="13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lvl="8">
              <a:buNone/>
              <a:defRPr sz="13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 Title and Content">
  <p:cSld name="2. Title and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468313" y="433388"/>
            <a:ext cx="820896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Times New Roman" panose="02020603050405020304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468313" y="1227139"/>
            <a:ext cx="8208962" cy="460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 "/>
              <a:defRPr sz="1600"/>
            </a:lvl1pPr>
            <a:lvl2pPr marL="914400" lvl="1" indent="-330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◦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◦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◦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◦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8" name="Google Shape;38;p5"/>
          <p:cNvSpPr/>
          <p:nvPr/>
        </p:nvSpPr>
        <p:spPr>
          <a:xfrm>
            <a:off x="89127" y="6343315"/>
            <a:ext cx="4667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buNone/>
              <a:defRPr sz="13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lvl="2">
              <a:buNone/>
              <a:defRPr sz="13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lvl="3">
              <a:buNone/>
              <a:defRPr sz="13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lvl="4">
              <a:buNone/>
              <a:defRPr sz="13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lvl="5">
              <a:buNone/>
              <a:defRPr sz="13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lvl="6">
              <a:buNone/>
              <a:defRPr sz="13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lvl="7">
              <a:buNone/>
              <a:defRPr sz="13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lvl="8">
              <a:buNone/>
              <a:defRPr sz="13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1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78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  <a:defRPr sz="3600" b="0" i="0" u="none" strike="noStrike" cap="none">
                <a:solidFill>
                  <a:srgbClr val="3F3F3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 panose="020F0502020204030204"/>
              <a:buChar char=" "/>
              <a:defRPr sz="1800" b="0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 panose="020F0502020204030204"/>
              <a:buChar char="◦"/>
              <a:defRPr sz="180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cxnSp>
        <p:nvCxnSpPr>
          <p:cNvPr id="16" name="Google Shape;16;p1"/>
          <p:cNvCxnSpPr/>
          <p:nvPr/>
        </p:nvCxnSpPr>
        <p:spPr>
          <a:xfrm>
            <a:off x="914400" y="1066800"/>
            <a:ext cx="74752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hyperlink" Target="https://bit.csc.lsu.edu/~chen/pdf/english.pdf" TargetMode="External"/><Relationship Id="rId1" Type="http://schemas.openxmlformats.org/officeDocument/2006/relationships/hyperlink" Target="https://www.csc.lsu.edu/~chen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ctrTitle"/>
          </p:nvPr>
        </p:nvSpPr>
        <p:spPr>
          <a:xfrm>
            <a:off x="822960" y="1447800"/>
            <a:ext cx="7543800" cy="28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imes New Roman" panose="02020603050405020304"/>
              <a:buNone/>
            </a:pPr>
            <a:r>
              <a:rPr lang="en-US" sz="5400">
                <a:solidFill>
                  <a:schemeClr val="dk2"/>
                </a:solidFill>
              </a:rPr>
              <a:t>Conceptual </a:t>
            </a:r>
            <a:br>
              <a:rPr lang="en-US" sz="5400">
                <a:solidFill>
                  <a:schemeClr val="dk2"/>
                </a:solidFill>
              </a:rPr>
            </a:br>
            <a:r>
              <a:rPr lang="en-US" sz="5400">
                <a:solidFill>
                  <a:schemeClr val="dk2"/>
                </a:solidFill>
              </a:rPr>
              <a:t>Database Design</a:t>
            </a:r>
            <a:endParaRPr lang="en-US" sz="5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US" sz="3600"/>
              <a:t>Data Modelling</a:t>
            </a:r>
            <a:endParaRPr lang="en-US" sz="3600"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0" cy="47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114300" lvl="0" indent="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/>
              <a:t>Kinds of data models:</a:t>
            </a:r>
            <a:endParaRPr lang="en-US"/>
          </a:p>
          <a:p>
            <a:pPr marL="457200" lvl="0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ourier New" panose="02070309020205020404"/>
              <a:buChar char="o"/>
            </a:pPr>
            <a:r>
              <a:rPr lang="en-US">
                <a:solidFill>
                  <a:srgbClr val="0070C0"/>
                </a:solidFill>
              </a:rPr>
              <a:t>conceptual</a:t>
            </a:r>
            <a:r>
              <a:rPr lang="en-US"/>
              <a:t>: abstract, high-level data model, e.g., ER, ODL (object data language) – user friendly</a:t>
            </a:r>
            <a:endParaRPr lang="en-US"/>
          </a:p>
          <a:p>
            <a:pPr marL="457200" lvl="0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ourier New" panose="02070309020205020404"/>
              <a:buChar char="o"/>
            </a:pPr>
            <a:r>
              <a:rPr lang="en-US">
                <a:solidFill>
                  <a:srgbClr val="0070C0"/>
                </a:solidFill>
              </a:rPr>
              <a:t>logical</a:t>
            </a:r>
            <a:r>
              <a:rPr lang="en-US"/>
              <a:t>: concrete, for implementation in specific DBMS, e.g., relational</a:t>
            </a:r>
            <a:endParaRPr lang="en-US"/>
          </a:p>
          <a:p>
            <a:pPr marL="457200" lvl="0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ourier New" panose="02070309020205020404"/>
              <a:buChar char="o"/>
            </a:pPr>
            <a:r>
              <a:rPr lang="en-US">
                <a:solidFill>
                  <a:srgbClr val="0070C0"/>
                </a:solidFill>
              </a:rPr>
              <a:t>physical</a:t>
            </a:r>
            <a:r>
              <a:rPr lang="en-US"/>
              <a:t>: internal file storage (inside a specific DBMS)</a:t>
            </a:r>
            <a:endParaRPr lang="en-US"/>
          </a:p>
          <a:p>
            <a:pPr marL="114300" lvl="0" indent="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/>
              <a:t>Strategy: design using abstract model; map to logical model, DBMS takes care of the physical model</a:t>
            </a:r>
            <a:endParaRPr lang="en-US"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94105" y="4372831"/>
            <a:ext cx="7772401" cy="1791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780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Recall the Following Stages </a:t>
            </a:r>
            <a:endParaRPr lang="en-US"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47262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457200" lvl="0" indent="-3810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 b="1"/>
              <a:t>Conceptual Design</a:t>
            </a:r>
            <a:endParaRPr sz="2400" b="1"/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b="1"/>
              <a:t>Logical Design</a:t>
            </a:r>
            <a:endParaRPr sz="2400" b="1"/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b="1"/>
              <a:t>Physical Design</a:t>
            </a:r>
            <a:endParaRPr sz="2400"/>
          </a:p>
        </p:txBody>
      </p:sp>
      <p:sp>
        <p:nvSpPr>
          <p:cNvPr id="62" name="Google Shape;62;p8"/>
          <p:cNvSpPr/>
          <p:nvPr/>
        </p:nvSpPr>
        <p:spPr>
          <a:xfrm>
            <a:off x="638175" y="2438400"/>
            <a:ext cx="3495600" cy="628800"/>
          </a:xfrm>
          <a:prstGeom prst="rect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" name="Google Shape;63;p8"/>
          <p:cNvSpPr/>
          <p:nvPr/>
        </p:nvSpPr>
        <p:spPr>
          <a:xfrm>
            <a:off x="4371050" y="2570250"/>
            <a:ext cx="447600" cy="3651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Scenario </a:t>
            </a:r>
            <a:endParaRPr lang="en-US"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9144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A: “Welcome to the job, can you build us a database to organize all the information on a publisher and present it at the meeting?”</a:t>
            </a:r>
            <a:br>
              <a:rPr lang="en-US"/>
            </a:br>
            <a:endParaRPr lang="en-US"/>
          </a:p>
          <a:p>
            <a:pPr marL="91440" lvl="0" indent="-1143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B: “okay, what’ll be in the database?”</a:t>
            </a:r>
            <a:endParaRPr lang="en-US"/>
          </a:p>
          <a:p>
            <a:pPr marL="91440" lvl="0" indent="-1143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br>
              <a:rPr lang="en-US"/>
            </a:br>
            <a:r>
              <a:rPr lang="en-US"/>
              <a:t>A: “Well… authors, books, editors, printers etc. An author can write zero or more books and a book is written by one or more authors. Where a book is uniquely identified by its book-id. For each book, we also record its title, price, and availability. An editor is uniquely identified by his/her reader-id and we also record his/her name, phone number, address. The address is composed of street and suburb…”</a:t>
            </a: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</p:txBody>
      </p:sp>
      <p:sp>
        <p:nvSpPr>
          <p:cNvPr id="72" name="Google Shape;72;p9"/>
          <p:cNvSpPr/>
          <p:nvPr/>
        </p:nvSpPr>
        <p:spPr>
          <a:xfrm>
            <a:off x="914400" y="1205844"/>
            <a:ext cx="7772400" cy="96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The Application</a:t>
            </a:r>
            <a:endParaRPr lang="en-US"/>
          </a:p>
        </p:txBody>
      </p:sp>
      <p:sp>
        <p:nvSpPr>
          <p:cNvPr id="80" name="Google Shape;80;p10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i="1"/>
              <a:t>“An author can write zero or more books and a book is written by one or more authors. Where a book is uniquely identified by its book-id. For each book, we also record its title, price, and availability. An editor is uniquely identified by his/her reader-id and we also record his/her name, phone number, address. The address is composed of street and suburb…”</a:t>
            </a:r>
            <a:br>
              <a:rPr lang="en-US"/>
            </a:br>
            <a:br>
              <a:rPr lang="en-US"/>
            </a:br>
            <a:r>
              <a:rPr lang="en-US"/>
              <a:t>This is the application we need to design the design for; the application has a set of requirements.</a:t>
            </a: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</p:txBody>
      </p:sp>
      <p:sp>
        <p:nvSpPr>
          <p:cNvPr id="81" name="Google Shape;81;p10"/>
          <p:cNvSpPr/>
          <p:nvPr/>
        </p:nvSpPr>
        <p:spPr>
          <a:xfrm>
            <a:off x="4438650" y="4829175"/>
            <a:ext cx="4172100" cy="1257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/>
              <a:t>Requirements Collection &amp; Analysis</a:t>
            </a:r>
            <a:endParaRPr sz="2000" b="1"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Simplified Database Workflow</a:t>
            </a:r>
            <a:endParaRPr lang="en-US"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What should we do?</a:t>
            </a: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  <a:p>
            <a:pPr marL="91440" lvl="0" indent="-1143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Application: has many requirements</a:t>
            </a:r>
            <a:endParaRPr lang="en-US"/>
          </a:p>
          <a:p>
            <a:pPr marL="91440" lvl="0" indent="-1143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Database Schema: provides a logical view of data model</a:t>
            </a: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</p:txBody>
      </p:sp>
      <p:sp>
        <p:nvSpPr>
          <p:cNvPr id="90" name="Google Shape;90;p11"/>
          <p:cNvSpPr txBox="1"/>
          <p:nvPr/>
        </p:nvSpPr>
        <p:spPr>
          <a:xfrm>
            <a:off x="1018047" y="3203059"/>
            <a:ext cx="1313180" cy="36933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Application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91" name="Google Shape;91;p11"/>
          <p:cNvCxnSpPr/>
          <p:nvPr/>
        </p:nvCxnSpPr>
        <p:spPr>
          <a:xfrm rot="10800000" flipH="1">
            <a:off x="2639004" y="3429000"/>
            <a:ext cx="4004035" cy="793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" name="Google Shape;92;p11"/>
          <p:cNvSpPr/>
          <p:nvPr/>
        </p:nvSpPr>
        <p:spPr>
          <a:xfrm>
            <a:off x="4169457" y="2370216"/>
            <a:ext cx="56938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?</a:t>
            </a:r>
            <a:endParaRPr lang="en-US" sz="5400" b="0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3" name="Google Shape;93;p11"/>
          <p:cNvSpPr txBox="1"/>
          <p:nvPr/>
        </p:nvSpPr>
        <p:spPr>
          <a:xfrm>
            <a:off x="6810392" y="3105834"/>
            <a:ext cx="1620957" cy="64633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Database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Schema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"/>
          <p:cNvSpPr txBox="1">
            <a:spLocks noGrp="1"/>
          </p:cNvSpPr>
          <p:nvPr>
            <p:ph type="body" idx="1"/>
          </p:nvPr>
        </p:nvSpPr>
        <p:spPr>
          <a:xfrm>
            <a:off x="838201" y="1219200"/>
            <a:ext cx="7086600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10000"/>
          </a:bodyPr>
          <a:lstStyle/>
          <a:p>
            <a:pPr marL="91440" lvl="0" indent="-1054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More Generally, how should everyone build his/her databases for an application for its given requirements?</a:t>
            </a: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" lvl="0" indent="-10541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Database Schema: </a:t>
            </a:r>
            <a:r>
              <a:rPr lang="en-US"/>
              <a:t>provides a logical view of 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model</a:t>
            </a: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 sz="2000"/>
          </a:p>
        </p:txBody>
      </p:sp>
      <p:sp>
        <p:nvSpPr>
          <p:cNvPr id="101" name="Google Shape;101;p12"/>
          <p:cNvSpPr txBox="1"/>
          <p:nvPr/>
        </p:nvSpPr>
        <p:spPr>
          <a:xfrm>
            <a:off x="943299" y="2230825"/>
            <a:ext cx="1710789" cy="36933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Application A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02" name="Google Shape;102;p12"/>
          <p:cNvCxnSpPr/>
          <p:nvPr/>
        </p:nvCxnSpPr>
        <p:spPr>
          <a:xfrm>
            <a:off x="2654089" y="2464702"/>
            <a:ext cx="4106954" cy="63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3" name="Google Shape;103;p12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Simplified Database Workflow</a:t>
            </a:r>
            <a:endParaRPr lang="en-US"/>
          </a:p>
        </p:txBody>
      </p:sp>
      <p:sp>
        <p:nvSpPr>
          <p:cNvPr id="104" name="Google Shape;104;p12"/>
          <p:cNvSpPr txBox="1"/>
          <p:nvPr/>
        </p:nvSpPr>
        <p:spPr>
          <a:xfrm>
            <a:off x="930539" y="3278235"/>
            <a:ext cx="1723549" cy="36933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Application B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05" name="Google Shape;105;p12"/>
          <p:cNvCxnSpPr/>
          <p:nvPr/>
        </p:nvCxnSpPr>
        <p:spPr>
          <a:xfrm rot="10800000" flipH="1">
            <a:off x="2641328" y="3458009"/>
            <a:ext cx="4119715" cy="3823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6" name="Google Shape;106;p12"/>
          <p:cNvSpPr/>
          <p:nvPr/>
        </p:nvSpPr>
        <p:spPr>
          <a:xfrm>
            <a:off x="4010553" y="2561868"/>
            <a:ext cx="112289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?</a:t>
            </a:r>
            <a:endParaRPr lang="en-US" sz="5400" b="0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979452" y="4300174"/>
            <a:ext cx="1723549" cy="36933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Application C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08" name="Google Shape;108;p12"/>
          <p:cNvCxnSpPr/>
          <p:nvPr/>
        </p:nvCxnSpPr>
        <p:spPr>
          <a:xfrm rot="10800000" flipH="1">
            <a:off x="2690241" y="4479946"/>
            <a:ext cx="4132416" cy="3822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9" name="Google Shape;109;p12"/>
          <p:cNvSpPr txBox="1"/>
          <p:nvPr/>
        </p:nvSpPr>
        <p:spPr>
          <a:xfrm>
            <a:off x="6761044" y="2133600"/>
            <a:ext cx="1620957" cy="64633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Database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Schema X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0" name="Google Shape;110;p12"/>
          <p:cNvSpPr txBox="1"/>
          <p:nvPr/>
        </p:nvSpPr>
        <p:spPr>
          <a:xfrm>
            <a:off x="6761043" y="3181009"/>
            <a:ext cx="1620957" cy="64633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Database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Schema Y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1" name="Google Shape;111;p12"/>
          <p:cNvSpPr txBox="1"/>
          <p:nvPr/>
        </p:nvSpPr>
        <p:spPr>
          <a:xfrm>
            <a:off x="6822657" y="4154269"/>
            <a:ext cx="1620957" cy="64633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Database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Schema Z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2" name="Google Shape;112;p12"/>
          <p:cNvSpPr/>
          <p:nvPr/>
        </p:nvSpPr>
        <p:spPr>
          <a:xfrm>
            <a:off x="4030985" y="3545575"/>
            <a:ext cx="112289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?</a:t>
            </a:r>
            <a:endParaRPr lang="en-US" sz="5400" b="0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3" name="Google Shape;113;p1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Solution</a:t>
            </a:r>
            <a:endParaRPr lang="en-US"/>
          </a:p>
        </p:txBody>
      </p:sp>
      <p:sp>
        <p:nvSpPr>
          <p:cNvPr id="120" name="Google Shape;120;p13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dirty="0"/>
              <a:t>Dr. Peter Chen</a:t>
            </a:r>
            <a:br>
              <a:rPr lang="en-US" dirty="0"/>
            </a:br>
            <a:r>
              <a:rPr lang="en-US" u="sng" dirty="0">
                <a:solidFill>
                  <a:schemeClr val="hlink"/>
                </a:solidFill>
                <a:hlinkClick r:id="rId1"/>
              </a:rPr>
              <a:t>https://www.csc.lsu.edu/~chen/</a:t>
            </a:r>
            <a:endParaRPr lang="en-US" u="sng" dirty="0">
              <a:solidFill>
                <a:schemeClr val="hlink"/>
              </a:solidFill>
            </a:endParaRPr>
          </a:p>
          <a:p>
            <a:pPr marL="91440" lvl="0" indent="-1143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 dirty="0"/>
              <a:t>His work (in 1976) started a new field of research and practice: </a:t>
            </a:r>
            <a:br>
              <a:rPr lang="en-US" dirty="0"/>
            </a:br>
            <a:r>
              <a:rPr lang="en-US" b="1" dirty="0"/>
              <a:t>Conceptual Modeling</a:t>
            </a:r>
            <a:br>
              <a:rPr lang="en-US" dirty="0"/>
            </a:br>
            <a:endParaRPr lang="en-US" dirty="0"/>
          </a:p>
          <a:p>
            <a:pPr marL="91440" lvl="0" indent="-1143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 dirty="0"/>
              <a:t>See paper on the Entity-Relationship Model in link</a:t>
            </a:r>
            <a:br>
              <a:rPr lang="en-US" dirty="0"/>
            </a:br>
            <a:r>
              <a:rPr lang="en-US" u="sng" dirty="0">
                <a:solidFill>
                  <a:schemeClr val="hlink"/>
                </a:solidFill>
                <a:hlinkClick r:id="rId2"/>
              </a:rPr>
              <a:t>https://bit.csc.lsu.edu/~chen/pdf/english.pdf</a:t>
            </a:r>
            <a:endParaRPr lang="en-US" u="sng" dirty="0">
              <a:solidFill>
                <a:schemeClr val="hlink"/>
              </a:solidFill>
            </a:endParaRPr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 u="sng" dirty="0">
              <a:solidFill>
                <a:schemeClr val="hlink"/>
              </a:solidFill>
            </a:endParaRPr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 u="sng" dirty="0">
              <a:solidFill>
                <a:schemeClr val="hlink"/>
              </a:solidFill>
            </a:endParaRPr>
          </a:p>
        </p:txBody>
      </p:sp>
      <p:pic>
        <p:nvPicPr>
          <p:cNvPr id="121" name="Google Shape;121;p13" descr="A person wearing glasses&#10;&#10;Description automatically generated with medium confidenc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852325" y="1219200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3" descr="Text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" y="4574345"/>
            <a:ext cx="7353905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/>
        </p:nvSpPr>
        <p:spPr>
          <a:xfrm>
            <a:off x="1052363" y="2172147"/>
            <a:ext cx="1245021" cy="36933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Application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6940063" y="2023090"/>
            <a:ext cx="1151574" cy="64633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Database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Schema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31" name="Google Shape;131;p14"/>
          <p:cNvCxnSpPr/>
          <p:nvPr/>
        </p:nvCxnSpPr>
        <p:spPr>
          <a:xfrm rot="10800000" flipH="1">
            <a:off x="2675878" y="2346256"/>
            <a:ext cx="4004035" cy="793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2" name="Google Shape;132;p14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Solution</a:t>
            </a:r>
            <a:endParaRPr lang="en-US"/>
          </a:p>
        </p:txBody>
      </p:sp>
      <p:sp>
        <p:nvSpPr>
          <p:cNvPr id="133" name="Google Shape;133;p14"/>
          <p:cNvSpPr txBox="1"/>
          <p:nvPr/>
        </p:nvSpPr>
        <p:spPr>
          <a:xfrm>
            <a:off x="3827377" y="2031027"/>
            <a:ext cx="1293000" cy="646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92D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Conceptual</a:t>
            </a:r>
            <a:endParaRPr b="1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92D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Modeling</a:t>
            </a:r>
            <a:endParaRPr b="1"/>
          </a:p>
        </p:txBody>
      </p:sp>
      <p:sp>
        <p:nvSpPr>
          <p:cNvPr id="134" name="Google Shape;134;p14"/>
          <p:cNvSpPr txBox="1"/>
          <p:nvPr/>
        </p:nvSpPr>
        <p:spPr>
          <a:xfrm>
            <a:off x="3674269" y="3725793"/>
            <a:ext cx="1599300" cy="17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(Chen. 1976)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Entities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Relationships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Attributes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35" name="Google Shape;135;p14"/>
          <p:cNvCxnSpPr/>
          <p:nvPr/>
        </p:nvCxnSpPr>
        <p:spPr>
          <a:xfrm>
            <a:off x="4483902" y="2893943"/>
            <a:ext cx="0" cy="8318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136" name="Google Shape;136;p1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Entity-Relationship Model</a:t>
            </a:r>
            <a:endParaRPr lang="en-US"/>
          </a:p>
        </p:txBody>
      </p:sp>
      <p:sp>
        <p:nvSpPr>
          <p:cNvPr id="143" name="Google Shape;143;p15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Chen’s ER model has two major components:</a:t>
            </a:r>
            <a:endParaRPr sz="2000"/>
          </a:p>
          <a:p>
            <a:pPr marL="567055" lvl="2" indent="-1955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 b="1" i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Entity</a:t>
            </a: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collection of attributes describing object of interest</a:t>
            </a:r>
            <a:endParaRPr sz="1600"/>
          </a:p>
          <a:p>
            <a:pPr marL="567055" lvl="2" indent="-1955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sz="2000" b="1" i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Relationship</a:t>
            </a: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 association between entities (objects)</a:t>
            </a:r>
            <a:endParaRPr sz="1600"/>
          </a:p>
          <a:p>
            <a:pPr marL="91440" lvl="0" indent="-1270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There’s also the third components unofficially</a:t>
            </a:r>
            <a:endParaRPr sz="2000"/>
          </a:p>
          <a:p>
            <a:pPr marL="567055" lvl="2" indent="-1955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 b="1" i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Attribute</a:t>
            </a: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 data item describing a property of interest</a:t>
            </a:r>
            <a:endParaRPr sz="20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/>
          </a:p>
          <a:p>
            <a:pPr marL="91440" lvl="0" indent="-1143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Note: The ER model is not a standard, so many variations exist.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Lecture notes use simple notations. </a:t>
            </a:r>
            <a:endParaRPr sz="2000"/>
          </a:p>
        </p:txBody>
      </p:sp>
      <p:sp>
        <p:nvSpPr>
          <p:cNvPr id="144" name="Google Shape;144;p1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 Diagrams</a:t>
            </a:r>
            <a:endParaRPr lang="en-US"/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0" cy="47091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Entities and their attributes can also be described with Entity-Relationship Diagrams (ERDs). e.g.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2" name="Google Shape;152;p1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grpSp>
        <p:nvGrpSpPr>
          <p:cNvPr id="153" name="Google Shape;153;p16"/>
          <p:cNvGrpSpPr/>
          <p:nvPr/>
        </p:nvGrpSpPr>
        <p:grpSpPr>
          <a:xfrm>
            <a:off x="1676400" y="2133600"/>
            <a:ext cx="5560541" cy="3728651"/>
            <a:chOff x="2364259" y="2895600"/>
            <a:chExt cx="5560541" cy="3728651"/>
          </a:xfrm>
        </p:grpSpPr>
        <p:sp>
          <p:nvSpPr>
            <p:cNvPr id="154" name="Google Shape;154;p16"/>
            <p:cNvSpPr/>
            <p:nvPr/>
          </p:nvSpPr>
          <p:spPr>
            <a:xfrm>
              <a:off x="2895600" y="2895600"/>
              <a:ext cx="1981200" cy="914400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Registration</a:t>
              </a:r>
              <a:endPara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Number</a:t>
              </a:r>
              <a:endPara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4342370" y="3962400"/>
              <a:ext cx="2057400" cy="685800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u="sng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Registration</a:t>
              </a:r>
              <a:endPara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5561570" y="2901778"/>
              <a:ext cx="1752600" cy="685800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State</a:t>
              </a:r>
              <a:endPara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2364259" y="5766486"/>
              <a:ext cx="1217100" cy="685800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Make</a:t>
              </a:r>
              <a:endPara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4038600" y="5817972"/>
              <a:ext cx="1332600" cy="685800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Model</a:t>
              </a:r>
              <a:endPara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5819260" y="5938451"/>
              <a:ext cx="1163100" cy="685800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Year</a:t>
              </a:r>
              <a:endPara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grpSp>
          <p:nvGrpSpPr>
            <p:cNvPr id="160" name="Google Shape;160;p16"/>
            <p:cNvGrpSpPr/>
            <p:nvPr/>
          </p:nvGrpSpPr>
          <p:grpSpPr>
            <a:xfrm>
              <a:off x="6400800" y="4457700"/>
              <a:ext cx="1524000" cy="1104900"/>
              <a:chOff x="7086600" y="4182762"/>
              <a:chExt cx="1524000" cy="1104900"/>
            </a:xfrm>
          </p:grpSpPr>
          <p:sp>
            <p:nvSpPr>
              <p:cNvPr id="161" name="Google Shape;161;p16"/>
              <p:cNvSpPr/>
              <p:nvPr/>
            </p:nvSpPr>
            <p:spPr>
              <a:xfrm>
                <a:off x="7086600" y="4182762"/>
                <a:ext cx="1524000" cy="1104900"/>
              </a:xfrm>
              <a:prstGeom prst="donut">
                <a:avLst>
                  <a:gd name="adj" fmla="val 7015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62" name="Google Shape;162;p16"/>
              <p:cNvSpPr txBox="1"/>
              <p:nvPr/>
            </p:nvSpPr>
            <p:spPr>
              <a:xfrm>
                <a:off x="7410450" y="4550546"/>
                <a:ext cx="8763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rPr>
                  <a:t>Colour</a:t>
                </a:r>
                <a:endParaRPr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  <p:sp>
          <p:nvSpPr>
            <p:cNvPr id="163" name="Google Shape;163;p16"/>
            <p:cNvSpPr/>
            <p:nvPr/>
          </p:nvSpPr>
          <p:spPr>
            <a:xfrm>
              <a:off x="4267200" y="4953000"/>
              <a:ext cx="1219200" cy="457200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CAR</a:t>
              </a:r>
              <a:endPara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164" name="Google Shape;164;p16"/>
            <p:cNvCxnSpPr>
              <a:stCxn id="156" idx="3"/>
              <a:endCxn id="155" idx="0"/>
            </p:cNvCxnSpPr>
            <p:nvPr/>
          </p:nvCxnSpPr>
          <p:spPr>
            <a:xfrm flipH="1">
              <a:off x="5370932" y="3487145"/>
              <a:ext cx="447300" cy="475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5" name="Google Shape;165;p16"/>
            <p:cNvCxnSpPr>
              <a:stCxn id="154" idx="5"/>
              <a:endCxn id="155" idx="0"/>
            </p:cNvCxnSpPr>
            <p:nvPr/>
          </p:nvCxnSpPr>
          <p:spPr>
            <a:xfrm>
              <a:off x="4586660" y="3676089"/>
              <a:ext cx="784500" cy="286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6" name="Google Shape;166;p16"/>
            <p:cNvCxnSpPr>
              <a:stCxn id="155" idx="4"/>
              <a:endCxn id="163" idx="0"/>
            </p:cNvCxnSpPr>
            <p:nvPr/>
          </p:nvCxnSpPr>
          <p:spPr>
            <a:xfrm flipH="1">
              <a:off x="4876670" y="4648200"/>
              <a:ext cx="494400" cy="30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7" name="Google Shape;167;p16"/>
            <p:cNvCxnSpPr>
              <a:stCxn id="163" idx="1"/>
              <a:endCxn id="157" idx="7"/>
            </p:cNvCxnSpPr>
            <p:nvPr/>
          </p:nvCxnSpPr>
          <p:spPr>
            <a:xfrm flipH="1">
              <a:off x="3403200" y="5181600"/>
              <a:ext cx="864000" cy="685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8" name="Google Shape;168;p16"/>
            <p:cNvCxnSpPr>
              <a:stCxn id="163" idx="2"/>
              <a:endCxn id="158" idx="0"/>
            </p:cNvCxnSpPr>
            <p:nvPr/>
          </p:nvCxnSpPr>
          <p:spPr>
            <a:xfrm flipH="1">
              <a:off x="4704900" y="5410200"/>
              <a:ext cx="171900" cy="407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9" name="Google Shape;169;p16"/>
            <p:cNvCxnSpPr>
              <a:stCxn id="163" idx="3"/>
              <a:endCxn id="159" idx="0"/>
            </p:cNvCxnSpPr>
            <p:nvPr/>
          </p:nvCxnSpPr>
          <p:spPr>
            <a:xfrm>
              <a:off x="5486400" y="5181600"/>
              <a:ext cx="914400" cy="756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0" name="Google Shape;170;p16"/>
            <p:cNvCxnSpPr>
              <a:stCxn id="163" idx="3"/>
              <a:endCxn id="161" idx="2"/>
            </p:cNvCxnSpPr>
            <p:nvPr/>
          </p:nvCxnSpPr>
          <p:spPr>
            <a:xfrm rot="10800000" flipH="1">
              <a:off x="5486400" y="5010300"/>
              <a:ext cx="914400" cy="171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Entity</a:t>
            </a:r>
            <a:endParaRPr lang="en-US"/>
          </a:p>
        </p:txBody>
      </p:sp>
      <p:sp>
        <p:nvSpPr>
          <p:cNvPr id="177" name="Google Shape;177;p17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“</a:t>
            </a:r>
            <a:r>
              <a:rPr lang="en-US" b="1"/>
              <a:t>Entities</a:t>
            </a:r>
            <a:r>
              <a:rPr lang="en-US"/>
              <a:t> represent things in the real world, and attributes describe properties of entities.”</a:t>
            </a: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</p:txBody>
      </p:sp>
      <p:pic>
        <p:nvPicPr>
          <p:cNvPr id="178" name="Google Shape;178;p17" descr="A picture containing ground, outdoor&#10;&#10;Description automatically generated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57200" y="2324100"/>
            <a:ext cx="4419600" cy="33147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sp>
        <p:nvSpPr>
          <p:cNvPr id="179" name="Google Shape;179;p1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Entities</a:t>
            </a:r>
            <a:endParaRPr lang="en-US"/>
          </a:p>
        </p:txBody>
      </p:sp>
      <p:sp>
        <p:nvSpPr>
          <p:cNvPr id="186" name="Google Shape;186;p18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Some examples of entities (in a company)</a:t>
            </a: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</p:txBody>
      </p:sp>
      <p:pic>
        <p:nvPicPr>
          <p:cNvPr id="187" name="Google Shape;187;p18" descr="Graphical user interface&#10;&#10;Description automatically generated with low confidenc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277425" y="1981200"/>
            <a:ext cx="6665350" cy="351282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Simple Attributes</a:t>
            </a:r>
            <a:endParaRPr lang="en-US"/>
          </a:p>
        </p:txBody>
      </p:sp>
      <p:sp>
        <p:nvSpPr>
          <p:cNvPr id="195" name="Google Shape;195;p19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62500" lnSpcReduction="20000"/>
          </a:bodyPr>
          <a:lstStyle/>
          <a:p>
            <a:pPr marL="91440" lvl="0" indent="-11874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US" sz="3000" b="1"/>
              <a:t>Simple</a:t>
            </a:r>
            <a:r>
              <a:rPr lang="en-US" sz="3000"/>
              <a:t> Attributes (or </a:t>
            </a:r>
            <a:r>
              <a:rPr lang="en-US" sz="3000" b="1"/>
              <a:t>Atomic</a:t>
            </a:r>
            <a:r>
              <a:rPr lang="en-US" sz="3000"/>
              <a:t> Attributes) are attributes that are not divisible.</a:t>
            </a:r>
            <a:endParaRPr sz="30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Each simple attribute of an entity type is</a:t>
            </a:r>
            <a:r>
              <a:rPr lang="en-US" sz="2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5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associated with a </a:t>
            </a:r>
            <a:r>
              <a:rPr lang="en-US" sz="250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value set </a:t>
            </a:r>
            <a:r>
              <a:rPr lang="en-US" sz="25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(or </a:t>
            </a:r>
            <a:r>
              <a:rPr lang="en-US" sz="250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domain </a:t>
            </a:r>
            <a:r>
              <a:rPr lang="en-US" sz="25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of values), which specifies the set of values</a:t>
            </a:r>
            <a:r>
              <a:rPr lang="en-US" sz="2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5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that may be assigned to that attribute for each individual entity.</a:t>
            </a:r>
            <a:r>
              <a:rPr lang="en-US" sz="2500"/>
              <a:t> </a:t>
            </a:r>
            <a:endParaRPr sz="2500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" lvl="0" indent="-9906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500"/>
              <a:t>For example: </a:t>
            </a:r>
            <a:endParaRPr sz="2500"/>
          </a:p>
          <a:p>
            <a:pPr marL="384175" lvl="1" indent="-17653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◦"/>
            </a:pPr>
            <a:r>
              <a:rPr lang="en-US" sz="2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Entity = Student</a:t>
            </a:r>
            <a:endParaRPr sz="2500"/>
          </a:p>
          <a:p>
            <a:pPr marL="384175" lvl="1" indent="-17653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2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Attributes = Student number, name…</a:t>
            </a:r>
            <a:endParaRPr sz="2500"/>
          </a:p>
          <a:p>
            <a:pPr marL="91440" lvl="0" indent="-9906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ct val="100000"/>
              <a:buChar char=" "/>
            </a:pPr>
            <a:r>
              <a:rPr lang="en-US" sz="2500"/>
              <a:t>Student A:</a:t>
            </a:r>
            <a:endParaRPr sz="2500"/>
          </a:p>
          <a:p>
            <a:pPr marL="384175" lvl="1" indent="-17653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◦"/>
            </a:pPr>
            <a:r>
              <a:rPr lang="en-US" sz="2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Student number = z12345678</a:t>
            </a:r>
            <a:endParaRPr sz="2500"/>
          </a:p>
          <a:p>
            <a:pPr marL="384175" lvl="1" indent="-17653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2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Name = Bob</a:t>
            </a:r>
            <a:endParaRPr sz="2500"/>
          </a:p>
          <a:p>
            <a:pPr marL="384175" lvl="1" indent="-17653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2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…</a:t>
            </a: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6" name="Google Shape;196;p1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Multi-Valued Attributes</a:t>
            </a:r>
            <a:endParaRPr lang="en-US"/>
          </a:p>
        </p:txBody>
      </p:sp>
      <p:sp>
        <p:nvSpPr>
          <p:cNvPr id="203" name="Google Shape;203;p20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Attributes can also be</a:t>
            </a:r>
            <a:r>
              <a:rPr lang="en-US" sz="2000" b="1"/>
              <a:t> multi-valued</a:t>
            </a:r>
            <a:r>
              <a:rPr lang="en-US" sz="2000"/>
              <a:t> </a:t>
            </a:r>
            <a:endParaRPr sz="2000"/>
          </a:p>
          <a:p>
            <a:pPr marL="384175" lvl="1" indent="-1955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Multivalued: has more than one value</a:t>
            </a:r>
            <a:endParaRPr sz="2000"/>
          </a:p>
          <a:p>
            <a:pPr marL="384175" lvl="1" indent="-1955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 longer a simple attribute with only one value.</a:t>
            </a:r>
            <a:endParaRPr sz="2000"/>
          </a:p>
          <a:p>
            <a:pPr marL="91440" lvl="0" indent="-1270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Questions:</a:t>
            </a:r>
            <a:endParaRPr sz="20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84175" lvl="1" indent="-19558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Each simple attribute is meant to hold one value, sure it can change… but one value at a time. </a:t>
            </a:r>
            <a:endParaRPr sz="20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67055" lvl="2" indent="-2209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What if… I’m asking you to model shirts with two colours? </a:t>
            </a:r>
            <a:endParaRPr sz="2000"/>
          </a:p>
          <a:p>
            <a:pPr marL="567055" lvl="2" indent="-2209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can we model this without multivalued attributes?</a:t>
            </a:r>
            <a:endParaRPr sz="16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4" name="Google Shape;204;p2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Problem</a:t>
            </a:r>
            <a:endParaRPr lang="en-US"/>
          </a:p>
        </p:txBody>
      </p:sp>
      <p:sp>
        <p:nvSpPr>
          <p:cNvPr id="211" name="Google Shape;211;p21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b="1"/>
              <a:t>Do we need multi-value attributes?</a:t>
            </a:r>
            <a:endParaRPr lang="en-US" b="1"/>
          </a:p>
          <a:p>
            <a:pPr marL="91440" lvl="0" indent="-1143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The attributes you design should be able to describe, and the combinations of all its instances should be able to express the entity faithfully</a:t>
            </a:r>
            <a:br>
              <a:rPr lang="en-US"/>
            </a:br>
            <a:endParaRPr lang="en-US"/>
          </a:p>
          <a:p>
            <a:pPr marL="91440" lvl="0" indent="-1143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Example: more expressively model the attribute colour for entity shirt.</a:t>
            </a:r>
            <a:endParaRPr lang="en-US"/>
          </a:p>
        </p:txBody>
      </p:sp>
      <p:sp>
        <p:nvSpPr>
          <p:cNvPr id="212" name="Google Shape;212;p21"/>
          <p:cNvSpPr txBox="1"/>
          <p:nvPr/>
        </p:nvSpPr>
        <p:spPr>
          <a:xfrm>
            <a:off x="975360" y="3628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endParaRPr sz="3600">
              <a:solidFill>
                <a:srgbClr val="3F3F3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13" name="Google Shape;213;p21" descr="A picture containing colorful, striped&#10;&#10;Description automatically generated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18015" y="3980517"/>
            <a:ext cx="1736387" cy="1736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A white t-shirt with a black background&#10;&#10;Description automatically generated with low confidenc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75360" y="3980518"/>
            <a:ext cx="1813560" cy="1736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A picture containing person, clothing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983498" y="3980517"/>
            <a:ext cx="1739286" cy="1736387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Composite Attributes </a:t>
            </a:r>
            <a:endParaRPr lang="en-US"/>
          </a:p>
        </p:txBody>
      </p:sp>
      <p:sp>
        <p:nvSpPr>
          <p:cNvPr id="223" name="Google Shape;223;p22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Recall w</a:t>
            </a:r>
            <a:r>
              <a:rPr lang="en-US" sz="20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hat is a simple attribute? Attributes that are </a:t>
            </a:r>
            <a:r>
              <a:rPr lang="en-US" sz="2000" b="0" i="0" u="sng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not divisible</a:t>
            </a:r>
            <a:r>
              <a:rPr lang="en-US" sz="20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are called </a:t>
            </a:r>
            <a:r>
              <a:rPr lang="en-US" sz="2000" i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simple</a:t>
            </a:r>
            <a:r>
              <a:rPr lang="en-US" sz="200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0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or </a:t>
            </a:r>
            <a:r>
              <a:rPr lang="en-US" sz="2000" i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atomic</a:t>
            </a:r>
            <a:r>
              <a:rPr lang="en-US" sz="200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000" i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attributes</a:t>
            </a:r>
            <a:r>
              <a:rPr lang="en-US" sz="20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sz="2000" b="1"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Composite attributes </a:t>
            </a:r>
            <a:r>
              <a:rPr lang="en-US" sz="20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can be divided into smaller subparts, which represent more basic attributes with independent meanings.</a:t>
            </a:r>
            <a:r>
              <a:rPr lang="en-US" sz="2000"/>
              <a:t> </a:t>
            </a:r>
            <a:endParaRPr sz="2000"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Some semantics cannot be captured using atomic attributes</a:t>
            </a:r>
            <a:endParaRPr sz="2000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sz="2000"/>
          </a:p>
        </p:txBody>
      </p:sp>
      <p:sp>
        <p:nvSpPr>
          <p:cNvPr id="224" name="Google Shape;224;p2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Question:</a:t>
            </a:r>
            <a:endParaRPr lang="en-US"/>
          </a:p>
        </p:txBody>
      </p:sp>
      <p:sp>
        <p:nvSpPr>
          <p:cNvPr id="231" name="Google Shape;231;p23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Question: is </a:t>
            </a:r>
            <a:r>
              <a:rPr lang="en-US" sz="2000" i="1"/>
              <a:t>Address</a:t>
            </a:r>
            <a:r>
              <a:rPr lang="en-US" sz="2000"/>
              <a:t> a simple attribute/value?</a:t>
            </a:r>
            <a:endParaRPr sz="2000"/>
          </a:p>
          <a:p>
            <a:pPr marL="384175" lvl="1" indent="-1955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 i="1">
                <a:solidFill>
                  <a:srgbClr val="00206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Address = ‘Computer Science Building (K17), Engineering Rd, UNSW Sydney, Kensington NSW 2052”</a:t>
            </a:r>
            <a:endParaRPr sz="2000" i="1">
              <a:solidFill>
                <a:srgbClr val="00206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" lvl="0" indent="-1270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How can should we model Addresses ?</a:t>
            </a:r>
            <a:endParaRPr sz="2000"/>
          </a:p>
        </p:txBody>
      </p:sp>
      <p:sp>
        <p:nvSpPr>
          <p:cNvPr id="232" name="Google Shape;232;p2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Question:</a:t>
            </a:r>
            <a:endParaRPr lang="en-US"/>
          </a:p>
        </p:txBody>
      </p:sp>
      <p:sp>
        <p:nvSpPr>
          <p:cNvPr id="239" name="Google Shape;239;p24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Question: is </a:t>
            </a:r>
            <a:r>
              <a:rPr lang="en-US" sz="2000" i="1"/>
              <a:t>Address</a:t>
            </a:r>
            <a:r>
              <a:rPr lang="en-US" sz="2000"/>
              <a:t> a simple attribute or a composite attribute?</a:t>
            </a:r>
            <a:endParaRPr sz="2000"/>
          </a:p>
          <a:p>
            <a:pPr marL="384175" lvl="1" indent="-1955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 i="1">
                <a:solidFill>
                  <a:srgbClr val="00206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Address = ‘Computer Science Building (K17), Engineering Rd, UNSW Sydney, Kensington NSW 2052”</a:t>
            </a:r>
            <a:endParaRPr sz="2000"/>
          </a:p>
          <a:p>
            <a:pPr marL="201295" lvl="1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01295" lvl="1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01295" lvl="1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br>
              <a:rPr lang="en-US"/>
            </a:b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" lvl="0" indent="-1143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1295" lvl="1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b="0" i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01295" lvl="1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br>
              <a:rPr lang="en-US"/>
            </a:br>
            <a:endParaRPr i="1">
              <a:solidFill>
                <a:srgbClr val="00206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0" name="Google Shape;240;p2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43000" y="2819400"/>
            <a:ext cx="6400551" cy="206216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Question:</a:t>
            </a:r>
            <a:endParaRPr lang="en-US"/>
          </a:p>
        </p:txBody>
      </p:sp>
      <p:sp>
        <p:nvSpPr>
          <p:cNvPr id="248" name="Google Shape;248;p25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Composite attributes are useful for situations when</a:t>
            </a:r>
            <a:endParaRPr sz="2000"/>
          </a:p>
          <a:p>
            <a:pPr marL="384175" lvl="1" indent="-1955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end-user sometimes refers to the composite attribute as a unit,</a:t>
            </a:r>
            <a:endParaRPr sz="2000"/>
          </a:p>
          <a:p>
            <a:pPr marL="384175" lvl="1" indent="-1955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But at other times refers specifically to its components. </a:t>
            </a:r>
            <a:endParaRPr sz="2000"/>
          </a:p>
          <a:p>
            <a:pPr marL="384175" lvl="1" indent="-685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20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" lvl="0" indent="-1270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Question: Can’t I just let my composite attributes, be simple attributes instead?</a:t>
            </a:r>
            <a:endParaRPr sz="2000"/>
          </a:p>
        </p:txBody>
      </p:sp>
      <p:sp>
        <p:nvSpPr>
          <p:cNvPr id="249" name="Google Shape;249;p2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Question:</a:t>
            </a:r>
            <a:endParaRPr lang="en-US"/>
          </a:p>
        </p:txBody>
      </p:sp>
      <p:sp>
        <p:nvSpPr>
          <p:cNvPr id="256" name="Google Shape;256;p26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0" cy="47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Composite attributes are useful for situations when</a:t>
            </a:r>
            <a:endParaRPr sz="2000"/>
          </a:p>
          <a:p>
            <a:pPr marL="384175" lvl="1" indent="-1955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end-user sometimes refers to the composite attribute as a unit,</a:t>
            </a:r>
            <a:endParaRPr sz="2000"/>
          </a:p>
          <a:p>
            <a:pPr marL="384175" lvl="1" indent="-1955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But at other times refers specifically to its components. </a:t>
            </a:r>
            <a:endParaRPr sz="2000"/>
          </a:p>
          <a:p>
            <a:pPr marL="384175" lvl="1" indent="-685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20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" lvl="0" indent="-1270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Question: Can’t I just let my composite attributes, be simple attributes instead?</a:t>
            </a:r>
            <a:endParaRPr sz="2000"/>
          </a:p>
          <a:p>
            <a:pPr marL="91440" lvl="0" indent="-127000" algn="l" rtl="0"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Answer: </a:t>
            </a:r>
            <a:r>
              <a:rPr lang="en-US" sz="2000" u="sng"/>
              <a:t>If the composite attribute is referenced only as a whole, there is no need to subdivide it into component attributes.</a:t>
            </a:r>
            <a:endParaRPr sz="2000"/>
          </a:p>
        </p:txBody>
      </p:sp>
      <p:sp>
        <p:nvSpPr>
          <p:cNvPr id="257" name="Google Shape;257;p2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Derived Attributes</a:t>
            </a:r>
            <a:endParaRPr lang="en-US"/>
          </a:p>
        </p:txBody>
      </p:sp>
      <p:sp>
        <p:nvSpPr>
          <p:cNvPr id="264" name="Google Shape;264;p27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Attributes that are problematic if modeled with a simple value.</a:t>
            </a:r>
            <a:endParaRPr sz="2000"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Scenario: modelling </a:t>
            </a:r>
            <a:r>
              <a:rPr lang="en-US" sz="2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person's </a:t>
            </a:r>
            <a:r>
              <a:rPr lang="en-US" sz="20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age:</a:t>
            </a:r>
            <a:endParaRPr sz="2000"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Why? Your values can change and are dynamic.</a:t>
            </a:r>
            <a:br>
              <a:rPr lang="en-US" sz="20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US" sz="20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age attribute is called a </a:t>
            </a:r>
            <a:r>
              <a:rPr lang="en-US" sz="200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derived attribute</a:t>
            </a:r>
            <a:r>
              <a:rPr lang="en-US" sz="200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because </a:t>
            </a:r>
            <a:r>
              <a:rPr lang="en-US" sz="2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ag</a:t>
            </a:r>
            <a:r>
              <a:rPr lang="en-US" sz="200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 </a:t>
            </a:r>
            <a:r>
              <a:rPr lang="en-US" sz="20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is said to be </a:t>
            </a:r>
            <a:r>
              <a:rPr lang="en-US" sz="200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derivable from </a:t>
            </a:r>
            <a:r>
              <a:rPr lang="en-US" sz="20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Date-of-birth attribute, which is called a </a:t>
            </a:r>
            <a:r>
              <a:rPr lang="en-US" sz="200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stored attribute</a:t>
            </a:r>
            <a:r>
              <a:rPr lang="en-US" sz="20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</a:t>
            </a:r>
            <a:endParaRPr sz="2000"/>
          </a:p>
        </p:txBody>
      </p:sp>
      <p:sp>
        <p:nvSpPr>
          <p:cNvPr id="265" name="Google Shape;265;p2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Derived Attributes</a:t>
            </a:r>
            <a:endParaRPr lang="en-US"/>
          </a:p>
        </p:txBody>
      </p:sp>
      <p:sp>
        <p:nvSpPr>
          <p:cNvPr id="272" name="Google Shape;272;p28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Where there is a derived attribute, there must also be an attribute where it’s values can be derived from. </a:t>
            </a:r>
            <a:endParaRPr sz="2000"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Derived attribute values are not stored, the stored attribute that derives the value is stored.</a:t>
            </a:r>
            <a:endParaRPr sz="2000"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Question: </a:t>
            </a:r>
            <a:r>
              <a:rPr lang="en-US" sz="2000" b="1"/>
              <a:t>Why include it at all if it’s derived? Why not leave it out completely in the data model?</a:t>
            </a:r>
            <a:endParaRPr sz="2000"/>
          </a:p>
        </p:txBody>
      </p:sp>
      <p:sp>
        <p:nvSpPr>
          <p:cNvPr id="273" name="Google Shape;273;p2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Entity Type</a:t>
            </a:r>
            <a:endParaRPr lang="en-US"/>
          </a:p>
        </p:txBody>
      </p:sp>
      <p:sp>
        <p:nvSpPr>
          <p:cNvPr id="280" name="Google Shape;280;p29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0" cy="47091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/>
              <a:t>An </a:t>
            </a:r>
            <a:r>
              <a:rPr lang="en-US" sz="2400" b="1"/>
              <a:t>entity type</a:t>
            </a:r>
            <a:r>
              <a:rPr lang="en-US" sz="2400"/>
              <a:t> defines a collection of entities that have the same attributes.</a:t>
            </a:r>
            <a:endParaRPr sz="2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800"/>
          </a:p>
          <a:p>
            <a:pPr marL="342900" lvl="0" indent="-342900" algn="l" rtl="0">
              <a:spcBef>
                <a:spcPts val="200"/>
              </a:spcBef>
              <a:spcAft>
                <a:spcPts val="0"/>
              </a:spcAft>
              <a:buSzPts val="1800"/>
              <a:buFont typeface="Times New Roman" panose="02020603050405020304"/>
              <a:buAutoNum type="arabicPeriod"/>
            </a:pPr>
            <a:r>
              <a:rPr lang="en-US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 entity type describes the </a:t>
            </a:r>
            <a:r>
              <a:rPr lang="en-US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schema </a:t>
            </a:r>
            <a:r>
              <a:rPr lang="en-US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or </a:t>
            </a:r>
            <a:r>
              <a:rPr lang="en-US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intension </a:t>
            </a:r>
            <a:r>
              <a:rPr lang="en-US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for a </a:t>
            </a:r>
            <a:r>
              <a:rPr lang="en-US" i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set of entities </a:t>
            </a:r>
            <a:r>
              <a:rPr lang="en-US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that share the same structure.</a:t>
            </a:r>
            <a:endParaRPr lang="en-US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spcBef>
                <a:spcPts val="1400"/>
              </a:spcBef>
              <a:spcAft>
                <a:spcPts val="0"/>
              </a:spcAft>
              <a:buSzPts val="1800"/>
              <a:buFont typeface="Times New Roman" panose="02020603050405020304"/>
              <a:buAutoNum type="arabicPeriod"/>
            </a:pPr>
            <a:r>
              <a:rPr lang="en-US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 entity type is represented in ER diagrams as a </a:t>
            </a:r>
            <a:r>
              <a:rPr lang="en-US" u="sng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rectangular box</a:t>
            </a:r>
            <a:r>
              <a:rPr lang="en-US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enclosing the entity type name. </a:t>
            </a:r>
            <a:endParaRPr lang="en-US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spcBef>
                <a:spcPts val="1400"/>
              </a:spcBef>
              <a:spcAft>
                <a:spcPts val="0"/>
              </a:spcAft>
              <a:buSzPts val="1800"/>
              <a:buFont typeface="Times New Roman" panose="02020603050405020304"/>
              <a:buAutoNum type="arabicPeriod"/>
            </a:pPr>
            <a:r>
              <a:rPr lang="en-US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collection of entities of a particular entity type is grouped into an </a:t>
            </a:r>
            <a:r>
              <a:rPr lang="en-US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entity set</a:t>
            </a:r>
            <a:r>
              <a:rPr lang="en-US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which is also called the </a:t>
            </a:r>
            <a:r>
              <a:rPr lang="en-US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extension </a:t>
            </a:r>
            <a:r>
              <a:rPr lang="en-US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of the entity type.</a:t>
            </a:r>
            <a:r>
              <a:rPr lang="en-US"/>
              <a:t> </a:t>
            </a:r>
            <a:endParaRPr sz="2400"/>
          </a:p>
        </p:txBody>
      </p:sp>
      <p:sp>
        <p:nvSpPr>
          <p:cNvPr id="281" name="Google Shape;281;p2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0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Entity Type Example</a:t>
            </a:r>
            <a:endParaRPr lang="en-US"/>
          </a:p>
        </p:txBody>
      </p:sp>
      <p:pic>
        <p:nvPicPr>
          <p:cNvPr id="288" name="Google Shape;288;p3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1490400" y="1843050"/>
            <a:ext cx="6163200" cy="31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384175" lvl="1" indent="-19558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/>
              <a:buChar char="o"/>
            </a:pPr>
            <a:r>
              <a:rPr lang="en-US" sz="2000"/>
              <a:t>Given an entity, the attributes you design should be able to describe, and the combinations of all its instances should be able to express the entity faithfully.</a:t>
            </a:r>
            <a:endParaRPr sz="2000"/>
          </a:p>
          <a:p>
            <a:pPr marL="384175" lvl="1" indent="-1955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 panose="020B0604020202020204"/>
              <a:buChar char="o"/>
            </a:pPr>
            <a:r>
              <a:rPr lang="en-US" sz="2000"/>
              <a:t>This is why attribute types such as multi-valued attributes, composite attributes exist. </a:t>
            </a:r>
            <a:endParaRPr sz="2000"/>
          </a:p>
          <a:p>
            <a:pPr marL="384175" lvl="1" indent="-1955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 panose="020B0604020202020204"/>
              <a:buChar char="o"/>
            </a:pPr>
            <a:r>
              <a:rPr lang="en-US" sz="2000"/>
              <a:t>Can I have an entity to describe something abstract? Of course, entities don’t have to be concrete objects. You will still need to find the right attributes to describe it.</a:t>
            </a:r>
            <a:endParaRPr sz="2000"/>
          </a:p>
          <a:p>
            <a:pPr marL="384175" lvl="1" indent="-1955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 panose="020B0604020202020204"/>
              <a:buChar char="o"/>
            </a:pPr>
            <a:r>
              <a:rPr lang="en-US" sz="2000"/>
              <a:t>Relations can also have attributes</a:t>
            </a:r>
            <a:endParaRPr sz="2000"/>
          </a:p>
        </p:txBody>
      </p:sp>
      <p:sp>
        <p:nvSpPr>
          <p:cNvPr id="296" name="Google Shape;296;p31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Take away</a:t>
            </a:r>
            <a:endParaRPr lang="en-US"/>
          </a:p>
        </p:txBody>
      </p:sp>
      <p:sp>
        <p:nvSpPr>
          <p:cNvPr id="297" name="Google Shape;297;p3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Entity Instances/Facts</a:t>
            </a:r>
            <a:endParaRPr lang="en-US"/>
          </a:p>
        </p:txBody>
      </p:sp>
      <p:sp>
        <p:nvSpPr>
          <p:cNvPr id="304" name="Google Shape;304;p32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A good entity schema should have good attributes that can be filled with good values.</a:t>
            </a:r>
            <a:endParaRPr sz="2000"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Car Entity Schema:</a:t>
            </a:r>
            <a:endParaRPr sz="2000"/>
          </a:p>
          <a:p>
            <a:pPr marL="384175" lvl="1" indent="-1955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((Reg. Num, State), Make, Model, Year, {Colour})</a:t>
            </a:r>
            <a:endParaRPr sz="2000"/>
          </a:p>
          <a:p>
            <a:pPr marL="91440" lvl="0" indent="-1270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Car instance:</a:t>
            </a:r>
            <a:endParaRPr sz="2000"/>
          </a:p>
          <a:p>
            <a:pPr marL="384175" lvl="1" indent="-1955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(CS9311, NSW), Toyota, Toyota Corolla, 1999, {White, Silver})</a:t>
            </a:r>
            <a:endParaRPr sz="2000"/>
          </a:p>
        </p:txBody>
      </p:sp>
      <p:sp>
        <p:nvSpPr>
          <p:cNvPr id="305" name="Google Shape;305;p3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3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NULL Value</a:t>
            </a:r>
            <a:endParaRPr lang="en-US"/>
          </a:p>
        </p:txBody>
      </p:sp>
      <p:sp>
        <p:nvSpPr>
          <p:cNvPr id="312" name="Google Shape;312;p33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What if an instance doesn’t have a value?</a:t>
            </a:r>
            <a:br>
              <a:rPr lang="en-US" sz="2000"/>
            </a:br>
            <a:r>
              <a:rPr lang="en-US" sz="2000"/>
              <a:t>Examples:</a:t>
            </a:r>
            <a:endParaRPr sz="2000"/>
          </a:p>
          <a:p>
            <a:pPr marL="567055" lvl="2" indent="-1955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Height of a person is not known (True value is not yet known)</a:t>
            </a:r>
            <a:endParaRPr sz="1600"/>
          </a:p>
          <a:p>
            <a:pPr marL="567055" lvl="2" indent="-1955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person may not have a college degree (No suitable value)</a:t>
            </a:r>
            <a:endParaRPr sz="1600"/>
          </a:p>
          <a:p>
            <a:pPr marL="91440" lvl="0" indent="-1270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Exercise: List more cases where use of a NULL value would be appropriate. </a:t>
            </a:r>
            <a:endParaRPr sz="2000"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NULL values represent attributes whose values are </a:t>
            </a:r>
            <a:r>
              <a:rPr lang="en-US" sz="2000" b="1"/>
              <a:t>unknown</a:t>
            </a:r>
            <a:r>
              <a:rPr lang="en-US" sz="2000"/>
              <a:t> or </a:t>
            </a:r>
            <a:r>
              <a:rPr lang="en-US" sz="2000" b="1"/>
              <a:t>do not exist </a:t>
            </a:r>
            <a:r>
              <a:rPr lang="en-US" sz="2000"/>
              <a:t>for some entity instance. In general, it is a special value to indicate a lack of value.</a:t>
            </a:r>
            <a:endParaRPr sz="2000"/>
          </a:p>
        </p:txBody>
      </p:sp>
      <p:sp>
        <p:nvSpPr>
          <p:cNvPr id="313" name="Google Shape;313;p3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4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Keys</a:t>
            </a:r>
            <a:endParaRPr lang="en-US"/>
          </a:p>
        </p:txBody>
      </p:sp>
      <p:sp>
        <p:nvSpPr>
          <p:cNvPr id="320" name="Google Shape;320;p34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 "/>
            </a:pPr>
            <a:r>
              <a:rPr lang="en-US" sz="1900" b="1" i="1"/>
              <a:t>Key constraint in ER Modelling:</a:t>
            </a:r>
            <a:r>
              <a:rPr lang="en-US" sz="1900"/>
              <a:t> in any extension of the entity type, no two entities have the same values for their key attribute or key attributes.</a:t>
            </a:r>
            <a:endParaRPr sz="1900"/>
          </a:p>
          <a:p>
            <a:pPr marL="91440" lvl="0" indent="-12065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 sz="1900"/>
              <a:t>For example:</a:t>
            </a:r>
            <a:endParaRPr sz="1900"/>
          </a:p>
          <a:p>
            <a:pPr marL="384175" lvl="1" indent="-197485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900"/>
              <a:buChar char="◦"/>
            </a:pPr>
            <a:r>
              <a:rPr lang="en-US" sz="19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{payroll number} is a key of EMPLOYEE,</a:t>
            </a:r>
            <a:endParaRPr sz="1900"/>
          </a:p>
          <a:p>
            <a:pPr marL="384175" lvl="1" indent="-197485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00"/>
              <a:buChar char="◦"/>
            </a:pPr>
            <a:r>
              <a:rPr lang="en-US" sz="19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{car registration number} is a key of CAR.</a:t>
            </a:r>
            <a:endParaRPr sz="19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" lvl="0" indent="-12065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900"/>
              <a:buChar char=" "/>
            </a:pPr>
            <a:r>
              <a:rPr lang="en-US" sz="19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All elements of a set are distinct; an entity can be defined as the set of its entity instances. </a:t>
            </a:r>
            <a:endParaRPr sz="1900"/>
          </a:p>
          <a:p>
            <a:pPr marL="91440" lvl="0" indent="-12065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 sz="19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</a:t>
            </a:r>
            <a:r>
              <a:rPr lang="en-US" sz="19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herefore, the entity instances in an entity must also be distinct.</a:t>
            </a:r>
            <a:r>
              <a:rPr lang="en-US" sz="1900"/>
              <a:t> How do we identify them? There must be a key for all entities. </a:t>
            </a:r>
            <a:endParaRPr sz="1900"/>
          </a:p>
        </p:txBody>
      </p:sp>
      <p:sp>
        <p:nvSpPr>
          <p:cNvPr id="321" name="Google Shape;321;p3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5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Key</a:t>
            </a:r>
            <a:endParaRPr lang="en-US"/>
          </a:p>
        </p:txBody>
      </p:sp>
      <p:sp>
        <p:nvSpPr>
          <p:cNvPr id="328" name="Google Shape;328;p35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A </a:t>
            </a:r>
            <a:r>
              <a:rPr lang="en-US" sz="2000" b="1" i="1"/>
              <a:t>super key</a:t>
            </a:r>
            <a:r>
              <a:rPr lang="en-US" sz="2000"/>
              <a:t> is a set of one or more attributes that uniquely identify any entity instance of an entity type.</a:t>
            </a:r>
            <a:endParaRPr sz="2000"/>
          </a:p>
          <a:p>
            <a:pPr marL="567055" lvl="2" indent="-1955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natural (e.g., name + address + birthday) </a:t>
            </a:r>
            <a:endParaRPr sz="1600"/>
          </a:p>
          <a:p>
            <a:pPr marL="567055" lvl="2" indent="-685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20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" lvl="0" indent="-1270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Q: What if none of my attributes can uniquely identify my entity? </a:t>
            </a:r>
            <a:b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A: you can make an attribute </a:t>
            </a:r>
            <a:r>
              <a:rPr lang="en-US" sz="2000" i="1" u="sng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artificially </a:t>
            </a: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(e.g., SSN, Passport N</a:t>
            </a:r>
            <a:r>
              <a:rPr lang="en-US" sz="2000"/>
              <a:t>umber, etc.</a:t>
            </a: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  <a:endParaRPr sz="2000"/>
          </a:p>
          <a:p>
            <a:pPr marL="91440" lvl="0" indent="-127000" algn="l" rtl="0"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endParaRPr sz="20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1440" lvl="0" indent="-127000" algn="l" rtl="0"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Keys containing multiple attributes as </a:t>
            </a:r>
            <a:r>
              <a:rPr lang="en-US" sz="20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composite keys.</a:t>
            </a:r>
            <a:endParaRPr sz="20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9" name="Google Shape;329;p3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Key</a:t>
            </a:r>
            <a:endParaRPr lang="en-US"/>
          </a:p>
        </p:txBody>
      </p:sp>
      <p:sp>
        <p:nvSpPr>
          <p:cNvPr id="336" name="Google Shape;336;p36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 dirty="0"/>
              <a:t>Q: Technically, can’t I make an entity key to be all its attributes? </a:t>
            </a:r>
            <a:endParaRPr sz="2000" dirty="0"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 dirty="0"/>
              <a:t>A: Since the entity is a</a:t>
            </a:r>
            <a:r>
              <a:rPr lang="en-US" sz="2000" b="1" dirty="0"/>
              <a:t> set</a:t>
            </a:r>
            <a:r>
              <a:rPr lang="en-US" sz="2000" dirty="0"/>
              <a:t>, in the worst case where there is no natural composite key, the set of all it’s attributes together should uniquely identify its values (strictly speaking).</a:t>
            </a:r>
            <a:endParaRPr sz="2000" b="1" i="1" dirty="0"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 b="1" dirty="0"/>
              <a:t>Every entity must have a </a:t>
            </a:r>
            <a:r>
              <a:rPr lang="en-US" sz="2000" b="1"/>
              <a:t>final </a:t>
            </a:r>
            <a:r>
              <a:rPr lang="en-US" altLang="zh-CN" sz="2000" b="1"/>
              <a:t>candidate</a:t>
            </a:r>
            <a:r>
              <a:rPr lang="en-US" sz="2000" b="1"/>
              <a:t> </a:t>
            </a:r>
            <a:r>
              <a:rPr lang="en-US" sz="2000" b="1" dirty="0"/>
              <a:t>key: a </a:t>
            </a:r>
            <a:r>
              <a:rPr lang="en-US" sz="2000" b="1" u="sng" dirty="0"/>
              <a:t>minimal</a:t>
            </a:r>
            <a:r>
              <a:rPr lang="en-US" sz="2000" b="1" dirty="0"/>
              <a:t> set of attributes that can uniquely identify its entity instances.</a:t>
            </a:r>
            <a:endParaRPr sz="2000" dirty="0"/>
          </a:p>
        </p:txBody>
      </p:sp>
      <p:sp>
        <p:nvSpPr>
          <p:cNvPr id="337" name="Google Shape;337;p3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7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Key Summary</a:t>
            </a:r>
            <a:endParaRPr lang="en-US"/>
          </a:p>
        </p:txBody>
      </p:sp>
      <p:sp>
        <p:nvSpPr>
          <p:cNvPr id="344" name="Google Shape;344;p37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 b="1"/>
              <a:t>Key/Super key</a:t>
            </a:r>
            <a:r>
              <a:rPr lang="en-US" sz="2000"/>
              <a:t>: a set of one or more attributes that can uniquely identify an entity instance of an entity type.</a:t>
            </a:r>
            <a:endParaRPr sz="2000"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 b="1" i="1"/>
              <a:t>Candidate key</a:t>
            </a:r>
            <a:r>
              <a:rPr lang="en-US" sz="2000"/>
              <a:t>: minimal superkey (no subset is a key)</a:t>
            </a:r>
            <a:endParaRPr sz="2000"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 b="1" i="1"/>
              <a:t>Primary key </a:t>
            </a:r>
            <a:r>
              <a:rPr lang="en-US" sz="2000"/>
              <a:t>: a candidate key chosen by DB designer</a:t>
            </a:r>
            <a:endParaRPr sz="2000"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000"/>
              <a:t>Keys are indicated in ER diagrams by </a:t>
            </a:r>
            <a:r>
              <a:rPr lang="en-US" sz="2000" i="1" u="sng"/>
              <a:t>underlining</a:t>
            </a:r>
            <a:r>
              <a:rPr lang="en-US" sz="2000"/>
              <a:t>.</a:t>
            </a:r>
            <a:endParaRPr sz="2000"/>
          </a:p>
        </p:txBody>
      </p:sp>
      <p:sp>
        <p:nvSpPr>
          <p:cNvPr id="345" name="Google Shape;345;p3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8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Weak Entity</a:t>
            </a:r>
            <a:endParaRPr lang="en-US"/>
          </a:p>
        </p:txBody>
      </p:sp>
      <p:sp>
        <p:nvSpPr>
          <p:cNvPr id="352" name="Google Shape;352;p38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397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/>
              <a:buChar char=" "/>
            </a:pPr>
            <a:r>
              <a:rPr lang="en-US" sz="22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Some entity types do not have a key of their own.</a:t>
            </a:r>
            <a:endParaRPr sz="22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1440" lvl="0" indent="-139700" algn="l" rtl="0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SzPts val="2200"/>
              <a:buChar char=" "/>
            </a:pPr>
            <a:r>
              <a:rPr lang="en-US" sz="22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Such entity types are called </a:t>
            </a:r>
            <a:r>
              <a:rPr lang="en-US" sz="22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weak entity types.</a:t>
            </a:r>
            <a:endParaRPr sz="2200" b="1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1440" lvl="0" indent="-139700" algn="l" rtl="0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Arial" panose="020B0604020202020204"/>
              <a:buChar char=" "/>
            </a:pPr>
            <a:r>
              <a:rPr lang="en-US" sz="22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Entities of a weak entity type can be identified by a partial key and by being related to another entity type - </a:t>
            </a:r>
            <a:r>
              <a:rPr lang="en-US" sz="2200"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owner.</a:t>
            </a:r>
            <a:endParaRPr sz="22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1440" lvl="0" indent="-139700" algn="l" rtl="0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Arial" panose="020B0604020202020204"/>
              <a:buChar char=" "/>
            </a:pPr>
            <a:r>
              <a:rPr lang="en-US" sz="22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relationship type between a weak entity type to its owner is the </a:t>
            </a:r>
            <a:r>
              <a:rPr lang="en-US" sz="2200"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identifying relationship </a:t>
            </a:r>
            <a:r>
              <a:rPr lang="en-US" sz="22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of the weak entity type.</a:t>
            </a:r>
            <a:endParaRPr sz="20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53" name="Google Shape;353;p3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9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Weak Entity</a:t>
            </a:r>
            <a:endParaRPr lang="en-US"/>
          </a:p>
        </p:txBody>
      </p:sp>
      <p:sp>
        <p:nvSpPr>
          <p:cNvPr id="360" name="Google Shape;360;p39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A weak entity doesn’t have any primary key but </a:t>
            </a: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does have a partial</a:t>
            </a:r>
            <a:r>
              <a:rPr lang="en-US" sz="2000"/>
              <a:t> </a:t>
            </a: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</a:t>
            </a:r>
            <a:r>
              <a:rPr lang="en-US" sz="2000"/>
              <a:t> </a:t>
            </a: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</a:t>
            </a:r>
            <a:r>
              <a:rPr lang="en-US" sz="2000"/>
              <a:t>discriminator</a:t>
            </a: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).</a:t>
            </a:r>
            <a:endParaRPr sz="2000"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 b="1" i="1"/>
              <a:t>Partial key/discriminator: </a:t>
            </a:r>
            <a:r>
              <a:rPr lang="en-US" sz="2000"/>
              <a:t>a key that is </a:t>
            </a:r>
            <a:r>
              <a:rPr lang="en-US" sz="2000" i="1"/>
              <a:t>partially unique</a:t>
            </a:r>
            <a:r>
              <a:rPr lang="en-US" sz="2000"/>
              <a:t>. i.e., only a subset of the attributes can be identified using it</a:t>
            </a:r>
            <a:endParaRPr sz="2000"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A </a:t>
            </a:r>
            <a:r>
              <a:rPr lang="en-US" sz="2000" b="1" i="1"/>
              <a:t>strong entity </a:t>
            </a:r>
            <a:r>
              <a:rPr lang="en-US" sz="2000"/>
              <a:t>is an entity a regular entity where there is a primary key that uniquely identifies all instances.</a:t>
            </a:r>
            <a:endParaRPr sz="2000"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 b="1" i="1"/>
              <a:t>Identifying relationship</a:t>
            </a:r>
            <a:r>
              <a:rPr lang="en-US" sz="2000"/>
              <a:t>: the relationship type between a weak entity type to the owner of the weak entity type.</a:t>
            </a:r>
            <a:endParaRPr sz="2000"/>
          </a:p>
        </p:txBody>
      </p:sp>
      <p:sp>
        <p:nvSpPr>
          <p:cNvPr id="361" name="Google Shape;361;p3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0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Example</a:t>
            </a:r>
            <a:endParaRPr lang="en-US"/>
          </a:p>
        </p:txBody>
      </p:sp>
      <p:sp>
        <p:nvSpPr>
          <p:cNvPr id="368" name="Google Shape;368;p40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4022043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 panose="02020603050405020304"/>
              <a:buAutoNum type="arabicPeriod"/>
            </a:pPr>
            <a:r>
              <a:rPr lang="en-US"/>
              <a:t>A TAX PAYER entity may be related to several DEPENDENTS, identified by their names.</a:t>
            </a:r>
            <a:endParaRPr lang="en-US"/>
          </a:p>
          <a:p>
            <a:pPr marL="342900" lvl="0" indent="-3429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Times New Roman" panose="02020603050405020304"/>
              <a:buAutoNum type="arabicPeriod"/>
            </a:pPr>
            <a:r>
              <a:rPr lang="en-US"/>
              <a:t>DEPENDENT is called a weak entity, {Name} is a partial key for it. </a:t>
            </a:r>
            <a:endParaRPr lang="en-US"/>
          </a:p>
          <a:p>
            <a:pPr marL="342900" lvl="0" indent="-3429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Times New Roman" panose="02020603050405020304"/>
              <a:buAutoNum type="arabicPeriod"/>
            </a:pPr>
            <a:r>
              <a:rPr lang="en-US"/>
              <a:t>The identifying relationship between DEPENDENT and TAX PAYER is IS-DEPENDENT-OF. </a:t>
            </a:r>
            <a:endParaRPr lang="en-US"/>
          </a:p>
          <a:p>
            <a:pPr marL="342900" lvl="0" indent="-3429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Times New Roman" panose="02020603050405020304"/>
              <a:buAutoNum type="arabicPeriod"/>
            </a:pPr>
            <a:r>
              <a:rPr lang="en-US"/>
              <a:t>TAX PAYER is said to own DEPENDENT.</a:t>
            </a:r>
            <a:endParaRPr lang="en-US"/>
          </a:p>
        </p:txBody>
      </p:sp>
      <p:grpSp>
        <p:nvGrpSpPr>
          <p:cNvPr id="369" name="Google Shape;369;p40"/>
          <p:cNvGrpSpPr/>
          <p:nvPr/>
        </p:nvGrpSpPr>
        <p:grpSpPr>
          <a:xfrm>
            <a:off x="4949794" y="1326234"/>
            <a:ext cx="4194206" cy="4744572"/>
            <a:chOff x="1916088" y="1357536"/>
            <a:chExt cx="4386759" cy="4890864"/>
          </a:xfrm>
        </p:grpSpPr>
        <p:sp>
          <p:nvSpPr>
            <p:cNvPr id="370" name="Google Shape;370;p40"/>
            <p:cNvSpPr/>
            <p:nvPr/>
          </p:nvSpPr>
          <p:spPr>
            <a:xfrm>
              <a:off x="1916088" y="1359932"/>
              <a:ext cx="914400" cy="533400"/>
            </a:xfrm>
            <a:prstGeom prst="ellipse">
              <a:avLst/>
            </a:prstGeom>
            <a:noFill/>
            <a:ln w="12700" cap="flat" cmpd="sng">
              <a:solidFill>
                <a:srgbClr val="A9371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71" name="Google Shape;371;p40"/>
            <p:cNvSpPr/>
            <p:nvPr/>
          </p:nvSpPr>
          <p:spPr>
            <a:xfrm>
              <a:off x="3021360" y="1357536"/>
              <a:ext cx="1025946" cy="533400"/>
            </a:xfrm>
            <a:prstGeom prst="ellipse">
              <a:avLst/>
            </a:prstGeom>
            <a:noFill/>
            <a:ln w="12700" cap="flat" cmpd="sng">
              <a:solidFill>
                <a:srgbClr val="A9371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72" name="Google Shape;372;p40"/>
            <p:cNvSpPr/>
            <p:nvPr/>
          </p:nvSpPr>
          <p:spPr>
            <a:xfrm>
              <a:off x="3563913" y="5715000"/>
              <a:ext cx="914400" cy="533400"/>
            </a:xfrm>
            <a:prstGeom prst="ellipse">
              <a:avLst/>
            </a:prstGeom>
            <a:noFill/>
            <a:ln w="12700" cap="flat" cmpd="sng">
              <a:solidFill>
                <a:srgbClr val="F49C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73" name="Google Shape;373;p40"/>
            <p:cNvSpPr/>
            <p:nvPr/>
          </p:nvSpPr>
          <p:spPr>
            <a:xfrm>
              <a:off x="4137869" y="1371497"/>
              <a:ext cx="1025947" cy="533400"/>
            </a:xfrm>
            <a:prstGeom prst="ellipse">
              <a:avLst/>
            </a:prstGeom>
            <a:noFill/>
            <a:ln w="12700" cap="flat" cmpd="sng">
              <a:solidFill>
                <a:srgbClr val="A9371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74" name="Google Shape;374;p40"/>
            <p:cNvSpPr/>
            <p:nvPr/>
          </p:nvSpPr>
          <p:spPr>
            <a:xfrm>
              <a:off x="4822667" y="2092430"/>
              <a:ext cx="894540" cy="524400"/>
            </a:xfrm>
            <a:prstGeom prst="ellipse">
              <a:avLst/>
            </a:prstGeom>
            <a:noFill/>
            <a:ln w="12700" cap="flat" cmpd="sng">
              <a:solidFill>
                <a:srgbClr val="A9371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75" name="Google Shape;375;p40"/>
            <p:cNvSpPr/>
            <p:nvPr/>
          </p:nvSpPr>
          <p:spPr>
            <a:xfrm>
              <a:off x="2247453" y="5574486"/>
              <a:ext cx="914400" cy="533400"/>
            </a:xfrm>
            <a:prstGeom prst="ellipse">
              <a:avLst/>
            </a:prstGeom>
            <a:noFill/>
            <a:ln w="12700" cap="flat" cmpd="sng">
              <a:solidFill>
                <a:srgbClr val="F49C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76" name="Google Shape;376;p40"/>
            <p:cNvSpPr/>
            <p:nvPr/>
          </p:nvSpPr>
          <p:spPr>
            <a:xfrm>
              <a:off x="4849788" y="5629275"/>
              <a:ext cx="914400" cy="533400"/>
            </a:xfrm>
            <a:prstGeom prst="ellipse">
              <a:avLst/>
            </a:prstGeom>
            <a:noFill/>
            <a:ln w="12700" cap="flat" cmpd="sng">
              <a:solidFill>
                <a:srgbClr val="F49C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77" name="Google Shape;377;p40"/>
            <p:cNvSpPr/>
            <p:nvPr/>
          </p:nvSpPr>
          <p:spPr>
            <a:xfrm>
              <a:off x="3149575" y="2476500"/>
              <a:ext cx="1228725" cy="533400"/>
            </a:xfrm>
            <a:prstGeom prst="rect">
              <a:avLst/>
            </a:prstGeom>
            <a:noFill/>
            <a:ln w="12700" cap="flat" cmpd="sng">
              <a:solidFill>
                <a:srgbClr val="A9371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SSN</a:t>
              </a:r>
              <a:endParaRPr lang="en-US" sz="180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78" name="Google Shape;378;p40"/>
            <p:cNvSpPr/>
            <p:nvPr/>
          </p:nvSpPr>
          <p:spPr>
            <a:xfrm>
              <a:off x="3140049" y="4859298"/>
              <a:ext cx="1228725" cy="533400"/>
            </a:xfrm>
            <a:prstGeom prst="rect">
              <a:avLst/>
            </a:prstGeom>
            <a:noFill/>
            <a:ln w="12700" cap="flat" cmpd="sng">
              <a:solidFill>
                <a:srgbClr val="F49C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79" name="Google Shape;379;p40"/>
            <p:cNvSpPr/>
            <p:nvPr/>
          </p:nvSpPr>
          <p:spPr>
            <a:xfrm>
              <a:off x="3006699" y="4783098"/>
              <a:ext cx="1528763" cy="685800"/>
            </a:xfrm>
            <a:prstGeom prst="rect">
              <a:avLst/>
            </a:prstGeom>
            <a:noFill/>
            <a:ln w="12700" cap="flat" cmpd="sng">
              <a:solidFill>
                <a:srgbClr val="F49C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80" name="Google Shape;380;p40"/>
            <p:cNvSpPr/>
            <p:nvPr/>
          </p:nvSpPr>
          <p:spPr>
            <a:xfrm>
              <a:off x="3011461" y="3472934"/>
              <a:ext cx="1504951" cy="914400"/>
            </a:xfrm>
            <a:prstGeom prst="flowChartDecision">
              <a:avLst/>
            </a:prstGeom>
            <a:noFill/>
            <a:ln w="12700" cap="flat" cmpd="sng">
              <a:solidFill>
                <a:srgbClr val="F49C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81" name="Google Shape;381;p40"/>
            <p:cNvSpPr/>
            <p:nvPr/>
          </p:nvSpPr>
          <p:spPr>
            <a:xfrm>
              <a:off x="3192436" y="3587234"/>
              <a:ext cx="1143000" cy="685800"/>
            </a:xfrm>
            <a:prstGeom prst="flowChartDecision">
              <a:avLst/>
            </a:prstGeom>
            <a:noFill/>
            <a:ln w="12700" cap="flat" cmpd="sng">
              <a:solidFill>
                <a:srgbClr val="F49C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82" name="Google Shape;382;p40"/>
            <p:cNvSpPr txBox="1"/>
            <p:nvPr/>
          </p:nvSpPr>
          <p:spPr>
            <a:xfrm>
              <a:off x="2066478" y="1447697"/>
              <a:ext cx="63817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u="sng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SSN</a:t>
              </a:r>
              <a:endParaRPr lang="en-US" sz="1800" u="sng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83" name="Google Shape;383;p40"/>
            <p:cNvSpPr txBox="1"/>
            <p:nvPr/>
          </p:nvSpPr>
          <p:spPr>
            <a:xfrm>
              <a:off x="3073747" y="1451670"/>
              <a:ext cx="9667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Birdate</a:t>
              </a:r>
              <a:endPara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84" name="Google Shape;384;p40"/>
            <p:cNvSpPr txBox="1"/>
            <p:nvPr/>
          </p:nvSpPr>
          <p:spPr>
            <a:xfrm>
              <a:off x="4237881" y="1447697"/>
              <a:ext cx="926434" cy="380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first_n</a:t>
              </a:r>
              <a:endPara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85" name="Google Shape;385;p40"/>
            <p:cNvSpPr txBox="1"/>
            <p:nvPr/>
          </p:nvSpPr>
          <p:spPr>
            <a:xfrm>
              <a:off x="4920726" y="2130266"/>
              <a:ext cx="1382121" cy="380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last_n</a:t>
              </a:r>
              <a:endPara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86" name="Google Shape;386;p40"/>
            <p:cNvSpPr txBox="1"/>
            <p:nvPr/>
          </p:nvSpPr>
          <p:spPr>
            <a:xfrm>
              <a:off x="3211488" y="2533650"/>
              <a:ext cx="11715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Employee</a:t>
              </a:r>
              <a:endParaRPr lang="en-US"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87" name="Google Shape;387;p40"/>
            <p:cNvSpPr txBox="1"/>
            <p:nvPr/>
          </p:nvSpPr>
          <p:spPr>
            <a:xfrm>
              <a:off x="3390080" y="3745468"/>
              <a:ext cx="9667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Family</a:t>
              </a:r>
              <a:endParaRPr lang="en-US"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88" name="Google Shape;388;p40"/>
            <p:cNvSpPr txBox="1"/>
            <p:nvPr/>
          </p:nvSpPr>
          <p:spPr>
            <a:xfrm>
              <a:off x="3116237" y="4924425"/>
              <a:ext cx="1240633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Dependent</a:t>
              </a:r>
              <a:endParaRPr lang="en-US"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89" name="Google Shape;389;p40"/>
            <p:cNvSpPr txBox="1"/>
            <p:nvPr/>
          </p:nvSpPr>
          <p:spPr>
            <a:xfrm>
              <a:off x="2334394" y="5643696"/>
              <a:ext cx="890588" cy="4458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Fname</a:t>
              </a:r>
              <a:endParaRPr lang="en-US"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lvl="0" indent="0" algn="l" rtl="0">
                <a:lnSpc>
                  <a:spcPct val="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- - - - - -</a:t>
              </a:r>
              <a:endParaRPr lang="en-US"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90" name="Google Shape;390;p40"/>
            <p:cNvSpPr txBox="1"/>
            <p:nvPr/>
          </p:nvSpPr>
          <p:spPr>
            <a:xfrm>
              <a:off x="3632226" y="5809734"/>
              <a:ext cx="9667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Birdate</a:t>
              </a:r>
              <a:endParaRPr lang="en-US"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91" name="Google Shape;391;p40"/>
            <p:cNvSpPr txBox="1"/>
            <p:nvPr/>
          </p:nvSpPr>
          <p:spPr>
            <a:xfrm>
              <a:off x="4842644" y="5711309"/>
              <a:ext cx="1187894" cy="380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Relation</a:t>
              </a:r>
              <a:endParaRPr lang="en-US"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392" name="Google Shape;392;p40"/>
            <p:cNvCxnSpPr>
              <a:stCxn id="370" idx="4"/>
            </p:cNvCxnSpPr>
            <p:nvPr/>
          </p:nvCxnSpPr>
          <p:spPr>
            <a:xfrm>
              <a:off x="2373288" y="1893332"/>
              <a:ext cx="1028700" cy="5832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3" name="Google Shape;393;p40"/>
            <p:cNvCxnSpPr>
              <a:stCxn id="373" idx="4"/>
            </p:cNvCxnSpPr>
            <p:nvPr/>
          </p:nvCxnSpPr>
          <p:spPr>
            <a:xfrm flipH="1">
              <a:off x="3935643" y="1904897"/>
              <a:ext cx="715200" cy="5715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4" name="Google Shape;394;p40"/>
            <p:cNvCxnSpPr>
              <a:stCxn id="374" idx="2"/>
              <a:endCxn id="386" idx="3"/>
            </p:cNvCxnSpPr>
            <p:nvPr/>
          </p:nvCxnSpPr>
          <p:spPr>
            <a:xfrm flipH="1">
              <a:off x="4383167" y="2354630"/>
              <a:ext cx="439500" cy="3636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5" name="Google Shape;395;p40"/>
            <p:cNvCxnSpPr>
              <a:stCxn id="377" idx="2"/>
              <a:endCxn id="380" idx="0"/>
            </p:cNvCxnSpPr>
            <p:nvPr/>
          </p:nvCxnSpPr>
          <p:spPr>
            <a:xfrm>
              <a:off x="3763938" y="3009900"/>
              <a:ext cx="0" cy="4629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6" name="Google Shape;396;p40"/>
            <p:cNvCxnSpPr/>
            <p:nvPr/>
          </p:nvCxnSpPr>
          <p:spPr>
            <a:xfrm flipH="1">
              <a:off x="3873474" y="4343399"/>
              <a:ext cx="1" cy="439699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7" name="Google Shape;397;p40"/>
            <p:cNvCxnSpPr/>
            <p:nvPr/>
          </p:nvCxnSpPr>
          <p:spPr>
            <a:xfrm flipH="1">
              <a:off x="2830488" y="5499055"/>
              <a:ext cx="428625" cy="101645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8" name="Google Shape;398;p40"/>
            <p:cNvCxnSpPr>
              <a:stCxn id="379" idx="2"/>
              <a:endCxn id="372" idx="0"/>
            </p:cNvCxnSpPr>
            <p:nvPr/>
          </p:nvCxnSpPr>
          <p:spPr>
            <a:xfrm>
              <a:off x="3771081" y="5468898"/>
              <a:ext cx="249900" cy="2460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9" name="Google Shape;399;p40"/>
            <p:cNvCxnSpPr/>
            <p:nvPr/>
          </p:nvCxnSpPr>
          <p:spPr>
            <a:xfrm>
              <a:off x="4047306" y="5486400"/>
              <a:ext cx="1235865" cy="142875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00" name="Google Shape;400;p40"/>
            <p:cNvCxnSpPr/>
            <p:nvPr/>
          </p:nvCxnSpPr>
          <p:spPr>
            <a:xfrm flipH="1">
              <a:off x="3716312" y="4354472"/>
              <a:ext cx="1" cy="400051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01" name="Google Shape;401;p40"/>
            <p:cNvSpPr txBox="1"/>
            <p:nvPr/>
          </p:nvSpPr>
          <p:spPr>
            <a:xfrm>
              <a:off x="3401988" y="4339232"/>
              <a:ext cx="1904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</a:t>
              </a:r>
              <a:endParaRPr lang="en-US"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402" name="Google Shape;402;p40"/>
            <p:cNvCxnSpPr>
              <a:stCxn id="371" idx="4"/>
              <a:endCxn id="377" idx="0"/>
            </p:cNvCxnSpPr>
            <p:nvPr/>
          </p:nvCxnSpPr>
          <p:spPr>
            <a:xfrm>
              <a:off x="3534333" y="1890936"/>
              <a:ext cx="229500" cy="5856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03" name="Google Shape;403;p4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1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Visualizing an ER Data Model</a:t>
            </a:r>
            <a:endParaRPr lang="en-US"/>
          </a:p>
        </p:txBody>
      </p:sp>
      <p:sp>
        <p:nvSpPr>
          <p:cNvPr id="410" name="Google Shape;410;p41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Notations:</a:t>
            </a:r>
            <a:endParaRPr lang="en-US"/>
          </a:p>
        </p:txBody>
      </p:sp>
      <p:grpSp>
        <p:nvGrpSpPr>
          <p:cNvPr id="411" name="Google Shape;411;p41"/>
          <p:cNvGrpSpPr/>
          <p:nvPr/>
        </p:nvGrpSpPr>
        <p:grpSpPr>
          <a:xfrm>
            <a:off x="724288" y="1981200"/>
            <a:ext cx="7741143" cy="3810000"/>
            <a:chOff x="1969173" y="2999858"/>
            <a:chExt cx="4267570" cy="2100393"/>
          </a:xfrm>
        </p:grpSpPr>
        <p:pic>
          <p:nvPicPr>
            <p:cNvPr id="412" name="Google Shape;412;p41"/>
            <p:cNvPicPr preferRelativeResize="0"/>
            <p:nvPr/>
          </p:nvPicPr>
          <p:blipFill rotWithShape="1">
            <a:blip r:embed="rId1"/>
            <a:srcRect t="31965" b="31261"/>
            <a:stretch>
              <a:fillRect/>
            </a:stretch>
          </p:blipFill>
          <p:spPr>
            <a:xfrm>
              <a:off x="1969173" y="3582429"/>
              <a:ext cx="4267570" cy="151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3" name="Google Shape;413;p41"/>
            <p:cNvPicPr preferRelativeResize="0"/>
            <p:nvPr/>
          </p:nvPicPr>
          <p:blipFill rotWithShape="1">
            <a:blip r:embed="rId1"/>
            <a:srcRect l="-360" t="190" r="360" b="85398"/>
            <a:stretch>
              <a:fillRect/>
            </a:stretch>
          </p:blipFill>
          <p:spPr>
            <a:xfrm>
              <a:off x="1969173" y="2999858"/>
              <a:ext cx="4267570" cy="5948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4" name="Google Shape;414;p4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2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Visualizing an ER Data Model</a:t>
            </a:r>
            <a:endParaRPr lang="en-US"/>
          </a:p>
        </p:txBody>
      </p:sp>
      <p:sp>
        <p:nvSpPr>
          <p:cNvPr id="421" name="Google Shape;421;p42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The data model can be effectively described using the Entity-Relationship Diagrams (ERDs). </a:t>
            </a:r>
            <a:endParaRPr lang="en-US"/>
          </a:p>
        </p:txBody>
      </p:sp>
      <p:grpSp>
        <p:nvGrpSpPr>
          <p:cNvPr id="422" name="Google Shape;422;p42"/>
          <p:cNvGrpSpPr/>
          <p:nvPr/>
        </p:nvGrpSpPr>
        <p:grpSpPr>
          <a:xfrm>
            <a:off x="2209800" y="2590800"/>
            <a:ext cx="4362015" cy="2753551"/>
            <a:chOff x="2364259" y="3046892"/>
            <a:chExt cx="5394628" cy="3405395"/>
          </a:xfrm>
        </p:grpSpPr>
        <p:sp>
          <p:nvSpPr>
            <p:cNvPr id="423" name="Google Shape;423;p42"/>
            <p:cNvSpPr/>
            <p:nvPr/>
          </p:nvSpPr>
          <p:spPr>
            <a:xfrm>
              <a:off x="3010104" y="3175058"/>
              <a:ext cx="2123357" cy="664339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Reg. Num</a:t>
              </a:r>
              <a:endPara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24" name="Google Shape;424;p42"/>
            <p:cNvSpPr/>
            <p:nvPr/>
          </p:nvSpPr>
          <p:spPr>
            <a:xfrm>
              <a:off x="3672276" y="3990335"/>
              <a:ext cx="2639970" cy="685801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u="sng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Registration</a:t>
              </a:r>
              <a:endPara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25" name="Google Shape;425;p42"/>
            <p:cNvSpPr/>
            <p:nvPr/>
          </p:nvSpPr>
          <p:spPr>
            <a:xfrm>
              <a:off x="5849277" y="3046892"/>
              <a:ext cx="1752600" cy="685801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State</a:t>
              </a:r>
              <a:endPara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26" name="Google Shape;426;p42"/>
            <p:cNvSpPr/>
            <p:nvPr/>
          </p:nvSpPr>
          <p:spPr>
            <a:xfrm>
              <a:off x="2364259" y="5766486"/>
              <a:ext cx="1426188" cy="685801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Make</a:t>
              </a:r>
              <a:endPara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27" name="Google Shape;427;p42"/>
            <p:cNvSpPr/>
            <p:nvPr/>
          </p:nvSpPr>
          <p:spPr>
            <a:xfrm>
              <a:off x="4005654" y="5757192"/>
              <a:ext cx="1532509" cy="685801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Model</a:t>
              </a:r>
              <a:endPara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28" name="Google Shape;428;p42"/>
            <p:cNvSpPr/>
            <p:nvPr/>
          </p:nvSpPr>
          <p:spPr>
            <a:xfrm>
              <a:off x="5695795" y="5739023"/>
              <a:ext cx="1163081" cy="685801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Year</a:t>
              </a:r>
              <a:endPara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grpSp>
          <p:nvGrpSpPr>
            <p:cNvPr id="429" name="Google Shape;429;p42"/>
            <p:cNvGrpSpPr/>
            <p:nvPr/>
          </p:nvGrpSpPr>
          <p:grpSpPr>
            <a:xfrm>
              <a:off x="6400800" y="4800599"/>
              <a:ext cx="1358087" cy="609600"/>
              <a:chOff x="7086600" y="4525661"/>
              <a:chExt cx="1358087" cy="609600"/>
            </a:xfrm>
          </p:grpSpPr>
          <p:sp>
            <p:nvSpPr>
              <p:cNvPr id="430" name="Google Shape;430;p42"/>
              <p:cNvSpPr/>
              <p:nvPr/>
            </p:nvSpPr>
            <p:spPr>
              <a:xfrm>
                <a:off x="7086600" y="4525661"/>
                <a:ext cx="1358087" cy="609600"/>
              </a:xfrm>
              <a:prstGeom prst="donut">
                <a:avLst>
                  <a:gd name="adj" fmla="val 7015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431" name="Google Shape;431;p42"/>
              <p:cNvSpPr txBox="1"/>
              <p:nvPr/>
            </p:nvSpPr>
            <p:spPr>
              <a:xfrm>
                <a:off x="7296271" y="4585573"/>
                <a:ext cx="1148416" cy="4567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rPr>
                  <a:t>Color</a:t>
                </a:r>
                <a:endParaRPr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  <p:sp>
          <p:nvSpPr>
            <p:cNvPr id="432" name="Google Shape;432;p42"/>
            <p:cNvSpPr/>
            <p:nvPr/>
          </p:nvSpPr>
          <p:spPr>
            <a:xfrm>
              <a:off x="4267200" y="4953000"/>
              <a:ext cx="1219200" cy="457200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CAR</a:t>
              </a:r>
              <a:endPara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433" name="Google Shape;433;p42"/>
            <p:cNvCxnSpPr>
              <a:stCxn id="425" idx="3"/>
              <a:endCxn id="424" idx="0"/>
            </p:cNvCxnSpPr>
            <p:nvPr/>
          </p:nvCxnSpPr>
          <p:spPr>
            <a:xfrm flipH="1">
              <a:off x="4992339" y="3632260"/>
              <a:ext cx="1113600" cy="358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4" name="Google Shape;434;p42"/>
            <p:cNvCxnSpPr>
              <a:stCxn id="423" idx="5"/>
              <a:endCxn id="424" idx="0"/>
            </p:cNvCxnSpPr>
            <p:nvPr/>
          </p:nvCxnSpPr>
          <p:spPr>
            <a:xfrm>
              <a:off x="4822503" y="3742107"/>
              <a:ext cx="169800" cy="248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5" name="Google Shape;435;p42"/>
            <p:cNvCxnSpPr>
              <a:stCxn id="424" idx="4"/>
              <a:endCxn id="432" idx="0"/>
            </p:cNvCxnSpPr>
            <p:nvPr/>
          </p:nvCxnSpPr>
          <p:spPr>
            <a:xfrm flipH="1">
              <a:off x="4876761" y="4676136"/>
              <a:ext cx="115500" cy="276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6" name="Google Shape;436;p42"/>
            <p:cNvCxnSpPr>
              <a:stCxn id="432" idx="1"/>
              <a:endCxn id="426" idx="0"/>
            </p:cNvCxnSpPr>
            <p:nvPr/>
          </p:nvCxnSpPr>
          <p:spPr>
            <a:xfrm flipH="1">
              <a:off x="3077400" y="5181600"/>
              <a:ext cx="11898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7" name="Google Shape;437;p42"/>
            <p:cNvCxnSpPr>
              <a:stCxn id="432" idx="2"/>
              <a:endCxn id="427" idx="0"/>
            </p:cNvCxnSpPr>
            <p:nvPr/>
          </p:nvCxnSpPr>
          <p:spPr>
            <a:xfrm flipH="1">
              <a:off x="4771800" y="5410200"/>
              <a:ext cx="105000" cy="34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8" name="Google Shape;438;p42"/>
            <p:cNvCxnSpPr>
              <a:stCxn id="432" idx="2"/>
              <a:endCxn id="428" idx="0"/>
            </p:cNvCxnSpPr>
            <p:nvPr/>
          </p:nvCxnSpPr>
          <p:spPr>
            <a:xfrm>
              <a:off x="4876800" y="5410200"/>
              <a:ext cx="1400400" cy="32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9" name="Google Shape;439;p42"/>
            <p:cNvCxnSpPr>
              <a:stCxn id="432" idx="3"/>
              <a:endCxn id="430" idx="2"/>
            </p:cNvCxnSpPr>
            <p:nvPr/>
          </p:nvCxnSpPr>
          <p:spPr>
            <a:xfrm rot="10800000" flipH="1">
              <a:off x="5486400" y="5105400"/>
              <a:ext cx="914400" cy="76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40" name="Google Shape;440;p4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4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Relationship</a:t>
            </a:r>
            <a:endParaRPr lang="en-US"/>
          </a:p>
        </p:txBody>
      </p:sp>
      <p:sp>
        <p:nvSpPr>
          <p:cNvPr id="454" name="Google Shape;454;p44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Second Big Component of ER: They represent logical links between two or more entities.</a:t>
            </a:r>
            <a:br>
              <a:rPr lang="en-US"/>
            </a:br>
            <a:endParaRPr lang="en-US"/>
          </a:p>
          <a:p>
            <a:pPr marL="91440" lvl="0" indent="0" algn="l" rtl="0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  <a:p>
            <a:pPr marL="91440" lvl="0" indent="0" algn="l" rtl="0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  <a:p>
            <a:pPr marL="91440" lvl="0" indent="-114300" algn="l" rtl="0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br>
              <a:rPr lang="en-US"/>
            </a:b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55" name="Google Shape;455;p44" descr="Diagram&#10;&#10;Description automatically generated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280160" y="2365440"/>
            <a:ext cx="6629399" cy="356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5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Relationships</a:t>
            </a:r>
            <a:endParaRPr lang="en-US"/>
          </a:p>
        </p:txBody>
      </p:sp>
      <p:sp>
        <p:nvSpPr>
          <p:cNvPr id="463" name="Google Shape;463;p45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Relationships relates one entity type to another entity type. </a:t>
            </a:r>
            <a:endParaRPr sz="2200"/>
          </a:p>
          <a:p>
            <a:pPr marL="457200" lvl="0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An entity type can be related to more than one other entities, and will have a different role to play for each </a:t>
            </a:r>
            <a:r>
              <a:rPr lang="en-US" sz="2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relationship (</a:t>
            </a:r>
            <a:r>
              <a:rPr lang="en-US" sz="2200"/>
              <a:t>n</a:t>
            </a:r>
            <a:r>
              <a:rPr lang="en-US" sz="2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ame each relationship to distinguish them).</a:t>
            </a:r>
            <a:endParaRPr sz="2200"/>
          </a:p>
          <a:p>
            <a:pPr marL="457200" lvl="0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An entity can also have different relationships with another entity.</a:t>
            </a:r>
            <a:endParaRPr sz="2200"/>
          </a:p>
          <a:p>
            <a:pPr marL="457200" lvl="0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Relationships can be illustrated using </a:t>
            </a:r>
            <a:r>
              <a:rPr lang="en-US" sz="2200" i="1"/>
              <a:t>occurrence diagrams</a:t>
            </a:r>
            <a:endParaRPr sz="2200" i="1"/>
          </a:p>
        </p:txBody>
      </p:sp>
      <p:sp>
        <p:nvSpPr>
          <p:cNvPr id="464" name="Google Shape;464;p4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91440" lvl="0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 panose="020F0502020204030204"/>
              <a:buChar char=" "/>
            </a:pPr>
            <a:r>
              <a:rPr lang="en-US"/>
              <a:t>Practice</a:t>
            </a:r>
            <a:endParaRPr lang="en-US"/>
          </a:p>
        </p:txBody>
      </p:sp>
      <p:sp>
        <p:nvSpPr>
          <p:cNvPr id="471" name="Google Shape;471;p46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Coaches is a relationship. It’s instances describes the relation between a coach and a club.</a:t>
            </a:r>
            <a:endParaRPr lang="en-US"/>
          </a:p>
        </p:txBody>
      </p:sp>
      <p:pic>
        <p:nvPicPr>
          <p:cNvPr id="472" name="Google Shape;472;p4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43000" y="2362200"/>
            <a:ext cx="6282344" cy="3442762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473" name="Google Shape;473;p4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7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Practice</a:t>
            </a:r>
            <a:endParaRPr lang="en-US"/>
          </a:p>
        </p:txBody>
      </p:sp>
      <p:sp>
        <p:nvSpPr>
          <p:cNvPr id="480" name="Google Shape;480;p47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Supports is a relationship. It’s instances describe the how grants are given to projects.</a:t>
            </a: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</p:txBody>
      </p:sp>
      <p:pic>
        <p:nvPicPr>
          <p:cNvPr id="481" name="Google Shape;481;p4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234325" y="2216918"/>
            <a:ext cx="6206144" cy="3711442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482" name="Google Shape;482;p4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8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Practice</a:t>
            </a:r>
            <a:endParaRPr lang="en-US"/>
          </a:p>
        </p:txBody>
      </p:sp>
      <p:sp>
        <p:nvSpPr>
          <p:cNvPr id="488" name="Google Shape;488;p48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Author-of is a relationship. It’s instances describe who wrote what publication.</a:t>
            </a:r>
            <a:endParaRPr lang="en-US"/>
          </a:p>
        </p:txBody>
      </p:sp>
      <p:pic>
        <p:nvPicPr>
          <p:cNvPr id="489" name="Google Shape;489;p4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43000" y="1983224"/>
            <a:ext cx="6618850" cy="3807976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490" name="Google Shape;490;p4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9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Modelling relationships</a:t>
            </a:r>
            <a:endParaRPr lang="en-US"/>
          </a:p>
        </p:txBody>
      </p:sp>
      <p:sp>
        <p:nvSpPr>
          <p:cNvPr id="497" name="Google Shape;497;p49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Relationship types usually have certain properties that limit the possible combinations of entities participating in relationship instances.</a:t>
            </a:r>
            <a:endParaRPr sz="2000"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By default, entities can be related to other entities freely.</a:t>
            </a:r>
            <a:endParaRPr sz="2000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 sz="2000" b="1" i="1"/>
              <a:t>Are all relationships like that? </a:t>
            </a:r>
            <a:endParaRPr sz="2000"/>
          </a:p>
          <a:p>
            <a:pPr marL="342900" lvl="0" indent="-355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Times New Roman" panose="02020603050405020304"/>
              <a:buAutoNum type="arabicPeriod"/>
            </a:pPr>
            <a:r>
              <a:rPr lang="en-US" sz="2000"/>
              <a:t>Relationship between employee and club?</a:t>
            </a:r>
            <a:endParaRPr sz="2000"/>
          </a:p>
          <a:p>
            <a:pPr marL="342900" lvl="0" indent="-355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Times New Roman" panose="02020603050405020304"/>
              <a:buAutoNum type="arabicPeriod"/>
            </a:pPr>
            <a:r>
              <a:rPr lang="en-US" sz="2000"/>
              <a:t>Relationship between moon and planet?</a:t>
            </a:r>
            <a:endParaRPr sz="2000"/>
          </a:p>
        </p:txBody>
      </p:sp>
      <p:sp>
        <p:nvSpPr>
          <p:cNvPr id="498" name="Google Shape;498;p4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0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Modelling relationships</a:t>
            </a:r>
            <a:endParaRPr lang="en-US"/>
          </a:p>
        </p:txBody>
      </p:sp>
      <p:sp>
        <p:nvSpPr>
          <p:cNvPr id="505" name="Google Shape;505;p50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 b="1" i="1"/>
              <a:t>Cardinality ratio</a:t>
            </a:r>
            <a:r>
              <a:rPr lang="en-US" sz="2400"/>
              <a:t>: the number of relationship instances an entity can participate in.</a:t>
            </a:r>
            <a:endParaRPr sz="2400"/>
          </a:p>
          <a:p>
            <a:pPr marL="91440" lvl="0" indent="-1143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There are three types of cardinality in relationship: is M:N (many to many), 1:N (one to many) is stricter, and 1:1 (one to one) is the strictest.</a:t>
            </a:r>
            <a:endParaRPr lang="en-US"/>
          </a:p>
          <a:p>
            <a:pPr marL="91440" lvl="0" indent="-114300" algn="l" rtl="0">
              <a:lnSpc>
                <a:spcPct val="17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1440" lvl="0" indent="-114300" algn="l" rtl="0">
              <a:lnSpc>
                <a:spcPct val="17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 sz="2000" i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Example</a:t>
            </a: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A research grant supports only one research project, but a research project may be supported by many grants. PROJECT:GRANT is a 1 : N relationship.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06" name="Google Shape;506;p5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1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Constraints on relationship types(cont)</a:t>
            </a:r>
            <a:endParaRPr lang="en-US"/>
          </a:p>
        </p:txBody>
      </p:sp>
      <p:sp>
        <p:nvSpPr>
          <p:cNvPr id="513" name="Google Shape;513;p51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We can also show this in an ERD:</a:t>
            </a:r>
            <a:endParaRPr lang="en-US"/>
          </a:p>
        </p:txBody>
      </p:sp>
      <p:sp>
        <p:nvSpPr>
          <p:cNvPr id="514" name="Google Shape;514;p51"/>
          <p:cNvSpPr/>
          <p:nvPr/>
        </p:nvSpPr>
        <p:spPr>
          <a:xfrm>
            <a:off x="3124200" y="1981200"/>
            <a:ext cx="2895600" cy="1066800"/>
          </a:xfrm>
          <a:prstGeom prst="flowChartDecision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SUPPORTS</a:t>
            </a:r>
            <a:endParaRPr lang="en-US"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15" name="Google Shape;515;p51"/>
          <p:cNvSpPr/>
          <p:nvPr/>
        </p:nvSpPr>
        <p:spPr>
          <a:xfrm>
            <a:off x="1189890" y="2226275"/>
            <a:ext cx="1248509" cy="5334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GRANT</a:t>
            </a:r>
            <a:endParaRPr lang="en-US"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16" name="Google Shape;516;p51"/>
          <p:cNvSpPr/>
          <p:nvPr/>
        </p:nvSpPr>
        <p:spPr>
          <a:xfrm>
            <a:off x="6489636" y="2254620"/>
            <a:ext cx="1464474" cy="5334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</a:t>
            </a:r>
            <a:endParaRPr lang="en-US"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517" name="Google Shape;517;p51"/>
          <p:cNvCxnSpPr>
            <a:stCxn id="515" idx="3"/>
            <a:endCxn id="514" idx="1"/>
          </p:cNvCxnSpPr>
          <p:nvPr/>
        </p:nvCxnSpPr>
        <p:spPr>
          <a:xfrm>
            <a:off x="2438399" y="2492975"/>
            <a:ext cx="685800" cy="2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18" name="Google Shape;518;p51"/>
          <p:cNvCxnSpPr>
            <a:stCxn id="516" idx="1"/>
            <a:endCxn id="514" idx="3"/>
          </p:cNvCxnSpPr>
          <p:nvPr/>
        </p:nvCxnSpPr>
        <p:spPr>
          <a:xfrm rot="10800000">
            <a:off x="6019836" y="2514720"/>
            <a:ext cx="469800" cy="6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19" name="Google Shape;519;p51"/>
          <p:cNvSpPr txBox="1"/>
          <p:nvPr/>
        </p:nvSpPr>
        <p:spPr>
          <a:xfrm>
            <a:off x="2590800" y="2172729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20" name="Google Shape;520;p51"/>
          <p:cNvSpPr txBox="1"/>
          <p:nvPr/>
        </p:nvSpPr>
        <p:spPr>
          <a:xfrm>
            <a:off x="6066692" y="2134455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521" name="Google Shape;521;p51"/>
          <p:cNvGrpSpPr/>
          <p:nvPr/>
        </p:nvGrpSpPr>
        <p:grpSpPr>
          <a:xfrm>
            <a:off x="838200" y="3085072"/>
            <a:ext cx="6743700" cy="1066800"/>
            <a:chOff x="609600" y="2743200"/>
            <a:chExt cx="9103995" cy="1066800"/>
          </a:xfrm>
        </p:grpSpPr>
        <p:sp>
          <p:nvSpPr>
            <p:cNvPr id="522" name="Google Shape;522;p51"/>
            <p:cNvSpPr/>
            <p:nvPr/>
          </p:nvSpPr>
          <p:spPr>
            <a:xfrm>
              <a:off x="3276601" y="2743200"/>
              <a:ext cx="3478532" cy="1066800"/>
            </a:xfrm>
            <a:prstGeom prst="flowChartDecision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COACHES</a:t>
              </a:r>
              <a:endPara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23" name="Google Shape;523;p51"/>
            <p:cNvSpPr/>
            <p:nvPr/>
          </p:nvSpPr>
          <p:spPr>
            <a:xfrm>
              <a:off x="609600" y="2988275"/>
              <a:ext cx="1981200" cy="533400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EMPLOYEE</a:t>
              </a:r>
              <a:endPara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24" name="Google Shape;524;p51"/>
            <p:cNvSpPr/>
            <p:nvPr/>
          </p:nvSpPr>
          <p:spPr>
            <a:xfrm>
              <a:off x="7732394" y="3008113"/>
              <a:ext cx="1981201" cy="533400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CLUB</a:t>
              </a:r>
              <a:endPara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525" name="Google Shape;525;p51"/>
            <p:cNvCxnSpPr>
              <a:stCxn id="523" idx="3"/>
              <a:endCxn id="522" idx="1"/>
            </p:cNvCxnSpPr>
            <p:nvPr/>
          </p:nvCxnSpPr>
          <p:spPr>
            <a:xfrm>
              <a:off x="2590800" y="3254975"/>
              <a:ext cx="685800" cy="2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26" name="Google Shape;526;p51"/>
            <p:cNvCxnSpPr>
              <a:stCxn id="524" idx="1"/>
              <a:endCxn id="522" idx="3"/>
            </p:cNvCxnSpPr>
            <p:nvPr/>
          </p:nvCxnSpPr>
          <p:spPr>
            <a:xfrm flipH="1">
              <a:off x="6754994" y="3274813"/>
              <a:ext cx="977400" cy="1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27" name="Google Shape;527;p51"/>
            <p:cNvSpPr txBox="1"/>
            <p:nvPr/>
          </p:nvSpPr>
          <p:spPr>
            <a:xfrm>
              <a:off x="2812238" y="2803609"/>
              <a:ext cx="381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1</a:t>
              </a:r>
              <a:endPara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28" name="Google Shape;528;p51"/>
            <p:cNvSpPr txBox="1"/>
            <p:nvPr/>
          </p:nvSpPr>
          <p:spPr>
            <a:xfrm>
              <a:off x="6921857" y="2867328"/>
              <a:ext cx="381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1</a:t>
              </a:r>
              <a:endPara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sp>
        <p:nvSpPr>
          <p:cNvPr id="529" name="Google Shape;529;p51"/>
          <p:cNvSpPr/>
          <p:nvPr/>
        </p:nvSpPr>
        <p:spPr>
          <a:xfrm>
            <a:off x="3481921" y="4217002"/>
            <a:ext cx="2331131" cy="1066800"/>
          </a:xfrm>
          <a:prstGeom prst="flowChartDecision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WROTE</a:t>
            </a:r>
            <a:endParaRPr lang="en-US"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30" name="Google Shape;530;p51"/>
          <p:cNvSpPr/>
          <p:nvPr/>
        </p:nvSpPr>
        <p:spPr>
          <a:xfrm>
            <a:off x="1248279" y="4455937"/>
            <a:ext cx="1467557" cy="5334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PERSON</a:t>
            </a:r>
            <a:endParaRPr lang="en-US"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31" name="Google Shape;531;p51"/>
          <p:cNvSpPr/>
          <p:nvPr/>
        </p:nvSpPr>
        <p:spPr>
          <a:xfrm>
            <a:off x="6620985" y="4553757"/>
            <a:ext cx="1981200" cy="5334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PUBLICATION</a:t>
            </a:r>
            <a:endParaRPr lang="en-US"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532" name="Google Shape;532;p51"/>
          <p:cNvCxnSpPr>
            <a:stCxn id="530" idx="3"/>
            <a:endCxn id="529" idx="1"/>
          </p:cNvCxnSpPr>
          <p:nvPr/>
        </p:nvCxnSpPr>
        <p:spPr>
          <a:xfrm>
            <a:off x="2715836" y="4722637"/>
            <a:ext cx="766200" cy="27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33" name="Google Shape;533;p51"/>
          <p:cNvCxnSpPr>
            <a:stCxn id="531" idx="1"/>
            <a:endCxn id="529" idx="3"/>
          </p:cNvCxnSpPr>
          <p:nvPr/>
        </p:nvCxnSpPr>
        <p:spPr>
          <a:xfrm rot="10800000">
            <a:off x="5813085" y="4750257"/>
            <a:ext cx="807900" cy="7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34" name="Google Shape;534;p51"/>
          <p:cNvSpPr txBox="1"/>
          <p:nvPr/>
        </p:nvSpPr>
        <p:spPr>
          <a:xfrm>
            <a:off x="2806691" y="4381070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35" name="Google Shape;535;p51"/>
          <p:cNvSpPr txBox="1"/>
          <p:nvPr/>
        </p:nvSpPr>
        <p:spPr>
          <a:xfrm>
            <a:off x="6080554" y="4392906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36" name="Google Shape;536;p5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2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 panose="02020603050405020304"/>
              <a:buNone/>
            </a:pPr>
            <a:r>
              <a:rPr lang="en-US"/>
              <a:t>Participation Constraint on Relationships</a:t>
            </a:r>
            <a:endParaRPr lang="en-US"/>
          </a:p>
        </p:txBody>
      </p:sp>
      <p:sp>
        <p:nvSpPr>
          <p:cNvPr id="543" name="Google Shape;543;p52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Question: Will each instance participate in this relationship?</a:t>
            </a:r>
            <a:endParaRPr sz="2000"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For example, all university students must be enrolled to university/universities.</a:t>
            </a:r>
            <a:endParaRPr sz="2000"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So far, entities don’t have to participate in the relationships they are in. </a:t>
            </a:r>
            <a:endParaRPr sz="2000" b="1" i="1"/>
          </a:p>
        </p:txBody>
      </p:sp>
      <p:sp>
        <p:nvSpPr>
          <p:cNvPr id="544" name="Google Shape;544;p5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3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 panose="02020603050405020304"/>
              <a:buNone/>
            </a:pPr>
            <a:r>
              <a:rPr lang="en-US"/>
              <a:t>Participation Constraint on Relationships</a:t>
            </a:r>
            <a:endParaRPr lang="en-US"/>
          </a:p>
        </p:txBody>
      </p:sp>
      <p:sp>
        <p:nvSpPr>
          <p:cNvPr id="550" name="Google Shape;550;p53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0" cy="47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Total Participation:</a:t>
            </a:r>
            <a:r>
              <a:rPr lang="en-US" sz="2000"/>
              <a:t> each entity instance must patriciate in at least one relationship instance. </a:t>
            </a:r>
            <a:endParaRPr sz="200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Example: We want this relationship to express all publications must be written by a person. </a:t>
            </a:r>
            <a:endParaRPr sz="20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Partial Participation: </a:t>
            </a:r>
            <a:r>
              <a:rPr lang="en-US" sz="2000"/>
              <a:t>not necessarily total.</a:t>
            </a:r>
            <a:endParaRPr sz="200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Example: Not every person has publication</a:t>
            </a:r>
            <a:endParaRPr sz="2000"/>
          </a:p>
        </p:txBody>
      </p:sp>
      <p:grpSp>
        <p:nvGrpSpPr>
          <p:cNvPr id="551" name="Google Shape;551;p53"/>
          <p:cNvGrpSpPr/>
          <p:nvPr/>
        </p:nvGrpSpPr>
        <p:grpSpPr>
          <a:xfrm>
            <a:off x="908076" y="3048096"/>
            <a:ext cx="7569293" cy="974842"/>
            <a:chOff x="381000" y="3108409"/>
            <a:chExt cx="8790260" cy="1066800"/>
          </a:xfrm>
        </p:grpSpPr>
        <p:sp>
          <p:nvSpPr>
            <p:cNvPr id="552" name="Google Shape;552;p53"/>
            <p:cNvSpPr/>
            <p:nvPr/>
          </p:nvSpPr>
          <p:spPr>
            <a:xfrm>
              <a:off x="3048000" y="3108409"/>
              <a:ext cx="3146854" cy="1066800"/>
            </a:xfrm>
            <a:prstGeom prst="flowChartDecision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AUTHOR</a:t>
              </a:r>
              <a:endPara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53" name="Google Shape;553;p53"/>
            <p:cNvSpPr/>
            <p:nvPr/>
          </p:nvSpPr>
          <p:spPr>
            <a:xfrm>
              <a:off x="381000" y="3353484"/>
              <a:ext cx="1981200" cy="533400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PERSON</a:t>
              </a:r>
              <a:endPara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54" name="Google Shape;554;p53"/>
            <p:cNvSpPr/>
            <p:nvPr/>
          </p:nvSpPr>
          <p:spPr>
            <a:xfrm>
              <a:off x="7082660" y="3402570"/>
              <a:ext cx="2088600" cy="533400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PUBLICATION</a:t>
              </a:r>
              <a:endPara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555" name="Google Shape;555;p53"/>
            <p:cNvCxnSpPr>
              <a:stCxn id="553" idx="3"/>
              <a:endCxn id="552" idx="1"/>
            </p:cNvCxnSpPr>
            <p:nvPr/>
          </p:nvCxnSpPr>
          <p:spPr>
            <a:xfrm>
              <a:off x="2362200" y="3620184"/>
              <a:ext cx="685800" cy="2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56" name="Google Shape;556;p53"/>
            <p:cNvCxnSpPr>
              <a:stCxn id="554" idx="1"/>
              <a:endCxn id="552" idx="3"/>
            </p:cNvCxnSpPr>
            <p:nvPr/>
          </p:nvCxnSpPr>
          <p:spPr>
            <a:xfrm rot="10800000">
              <a:off x="6194960" y="3641670"/>
              <a:ext cx="887700" cy="27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57" name="Google Shape;557;p53"/>
            <p:cNvSpPr txBox="1"/>
            <p:nvPr/>
          </p:nvSpPr>
          <p:spPr>
            <a:xfrm>
              <a:off x="2523467" y="3168818"/>
              <a:ext cx="3810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N</a:t>
              </a:r>
              <a:endPara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58" name="Google Shape;558;p53"/>
            <p:cNvSpPr txBox="1"/>
            <p:nvPr/>
          </p:nvSpPr>
          <p:spPr>
            <a:xfrm>
              <a:off x="6194854" y="3168818"/>
              <a:ext cx="3810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</a:t>
              </a:r>
              <a:endPara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cxnSp>
        <p:nvCxnSpPr>
          <p:cNvPr id="559" name="Google Shape;559;p53"/>
          <p:cNvCxnSpPr/>
          <p:nvPr/>
        </p:nvCxnSpPr>
        <p:spPr>
          <a:xfrm flipH="1">
            <a:off x="5751046" y="3440684"/>
            <a:ext cx="927900" cy="30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60" name="Google Shape;560;p5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4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Attributes (Relationship)</a:t>
            </a:r>
            <a:endParaRPr lang="en-US"/>
          </a:p>
        </p:txBody>
      </p:sp>
      <p:sp>
        <p:nvSpPr>
          <p:cNvPr id="567" name="Google Shape;567;p54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A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researcher may work on several projects. 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" lvl="0" indent="-1143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fraction of her time devoted to a particular project could be an attribute of the WORKS ON relationship type.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" lvl="0" indent="-1143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Q: Why not put the attribute on either researcher or project?</a:t>
            </a: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568" name="Google Shape;568;p5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66800" y="3535630"/>
            <a:ext cx="6019800" cy="2392730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569" name="Google Shape;569;p5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5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More on Relationships</a:t>
            </a:r>
            <a:endParaRPr lang="en-US"/>
          </a:p>
        </p:txBody>
      </p:sp>
      <p:sp>
        <p:nvSpPr>
          <p:cNvPr id="576" name="Google Shape;576;p55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 b="1" i="1"/>
              <a:t>Binary relationship</a:t>
            </a:r>
            <a:r>
              <a:rPr lang="en-US" sz="2000"/>
              <a:t>: relationship of degree 2</a:t>
            </a:r>
            <a:endParaRPr sz="2000"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 b="1" i="1"/>
              <a:t>Degree</a:t>
            </a:r>
            <a:r>
              <a:rPr lang="en-US" sz="2000"/>
              <a:t> (of a relationship): number of participating entity types. </a:t>
            </a:r>
            <a:endParaRPr sz="2000"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Lectured cover binary relationships.</a:t>
            </a:r>
            <a:endParaRPr sz="2000"/>
          </a:p>
        </p:txBody>
      </p:sp>
      <p:sp>
        <p:nvSpPr>
          <p:cNvPr id="577" name="Google Shape;577;p5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6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More on Relationships</a:t>
            </a:r>
            <a:endParaRPr lang="en-US"/>
          </a:p>
        </p:txBody>
      </p:sp>
      <p:sp>
        <p:nvSpPr>
          <p:cNvPr id="584" name="Google Shape;584;p56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/>
              <a:t>Consider the setting: relationship between RESEARCHER, STUDENT and COURSE.</a:t>
            </a:r>
            <a:endParaRPr lang="en-US" sz="1800"/>
          </a:p>
          <a:p>
            <a:pPr marL="91440" lvl="0" indent="-1143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 sz="1800"/>
              <a:t>ENROLMENT could be a ternary relationship (degree 3)</a:t>
            </a:r>
            <a:endParaRPr lang="en-US" sz="1800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sz="1800"/>
          </a:p>
        </p:txBody>
      </p:sp>
      <p:grpSp>
        <p:nvGrpSpPr>
          <p:cNvPr id="585" name="Google Shape;585;p56"/>
          <p:cNvGrpSpPr/>
          <p:nvPr/>
        </p:nvGrpSpPr>
        <p:grpSpPr>
          <a:xfrm>
            <a:off x="1295400" y="3035874"/>
            <a:ext cx="6129944" cy="2602925"/>
            <a:chOff x="1295400" y="2726724"/>
            <a:chExt cx="6858000" cy="2912076"/>
          </a:xfrm>
        </p:grpSpPr>
        <p:sp>
          <p:nvSpPr>
            <p:cNvPr id="586" name="Google Shape;586;p56"/>
            <p:cNvSpPr/>
            <p:nvPr/>
          </p:nvSpPr>
          <p:spPr>
            <a:xfrm>
              <a:off x="3000406" y="3467100"/>
              <a:ext cx="3712470" cy="1066800"/>
            </a:xfrm>
            <a:prstGeom prst="flowChartDecision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ENROLMENT</a:t>
              </a:r>
              <a:endPara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87" name="Google Shape;587;p56"/>
            <p:cNvSpPr/>
            <p:nvPr/>
          </p:nvSpPr>
          <p:spPr>
            <a:xfrm>
              <a:off x="1295400" y="2743200"/>
              <a:ext cx="1981200" cy="533400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RESEARCHER</a:t>
              </a:r>
              <a:endPara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88" name="Google Shape;588;p56"/>
            <p:cNvSpPr/>
            <p:nvPr/>
          </p:nvSpPr>
          <p:spPr>
            <a:xfrm>
              <a:off x="3733800" y="5105400"/>
              <a:ext cx="1981200" cy="533400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COURSE</a:t>
              </a:r>
              <a:endPara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89" name="Google Shape;589;p56"/>
            <p:cNvSpPr/>
            <p:nvPr/>
          </p:nvSpPr>
          <p:spPr>
            <a:xfrm>
              <a:off x="6172200" y="2726724"/>
              <a:ext cx="1981200" cy="533400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STUDENT</a:t>
              </a:r>
              <a:endPara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590" name="Google Shape;590;p56"/>
            <p:cNvCxnSpPr>
              <a:stCxn id="587" idx="3"/>
            </p:cNvCxnSpPr>
            <p:nvPr/>
          </p:nvCxnSpPr>
          <p:spPr>
            <a:xfrm>
              <a:off x="3276600" y="3009900"/>
              <a:ext cx="838200" cy="647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1" name="Google Shape;591;p56"/>
            <p:cNvCxnSpPr>
              <a:stCxn id="589" idx="1"/>
            </p:cNvCxnSpPr>
            <p:nvPr/>
          </p:nvCxnSpPr>
          <p:spPr>
            <a:xfrm flipH="1">
              <a:off x="5486400" y="2993424"/>
              <a:ext cx="685800" cy="664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2" name="Google Shape;592;p56"/>
            <p:cNvCxnSpPr>
              <a:stCxn id="586" idx="2"/>
              <a:endCxn id="588" idx="0"/>
            </p:cNvCxnSpPr>
            <p:nvPr/>
          </p:nvCxnSpPr>
          <p:spPr>
            <a:xfrm flipH="1">
              <a:off x="4724341" y="4533900"/>
              <a:ext cx="132300" cy="571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93" name="Google Shape;593;p5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7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More on Relationships</a:t>
            </a:r>
            <a:endParaRPr lang="en-US"/>
          </a:p>
        </p:txBody>
      </p:sp>
      <p:sp>
        <p:nvSpPr>
          <p:cNvPr id="600" name="Google Shape;600;p5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601" name="Google Shape;601;p5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66800" y="1219200"/>
            <a:ext cx="7067550" cy="4695825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50"/>
              </a:srgbClr>
            </a:outerShdw>
          </a:effec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8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On the Degree of a Relationship: </a:t>
            </a:r>
            <a:endParaRPr lang="en-US"/>
          </a:p>
        </p:txBody>
      </p:sp>
      <p:sp>
        <p:nvSpPr>
          <p:cNvPr id="608" name="Google Shape;608;p58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The more entities in a relationship, the more careful you must be when describing it. What you think your expressing may not be what the diagram means exactly. </a:t>
            </a:r>
            <a:br>
              <a:rPr lang="en-US" sz="2000"/>
            </a:br>
            <a:br>
              <a:rPr lang="en-US" sz="2000"/>
            </a:br>
            <a:r>
              <a:rPr lang="en-US" sz="2000"/>
              <a:t>Rule of Thumb as you are starting out: If you think you have a ternary (or higher) relationship, try decompose it to binary relationships. </a:t>
            </a:r>
            <a:endParaRPr sz="2000"/>
          </a:p>
        </p:txBody>
      </p:sp>
      <p:sp>
        <p:nvSpPr>
          <p:cNvPr id="609" name="Google Shape;609;p5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9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Backtrack: ENROLMENT</a:t>
            </a:r>
            <a:endParaRPr lang="en-US"/>
          </a:p>
        </p:txBody>
      </p:sp>
      <p:sp>
        <p:nvSpPr>
          <p:cNvPr id="616" name="Google Shape;616;p59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To make things interesting, this is another way of modelled the former.</a:t>
            </a: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  <a:p>
            <a:pPr marL="91440" lvl="0" indent="-1143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endParaRPr lang="en-US"/>
          </a:p>
        </p:txBody>
      </p:sp>
      <p:pic>
        <p:nvPicPr>
          <p:cNvPr id="617" name="Google Shape;617;p5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371600" y="2053724"/>
            <a:ext cx="6272212" cy="2750552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618" name="Google Shape;618;p5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0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Conceptual Data Modelling</a:t>
            </a:r>
            <a:endParaRPr lang="en-US"/>
          </a:p>
        </p:txBody>
      </p:sp>
      <p:sp>
        <p:nvSpPr>
          <p:cNvPr id="625" name="Google Shape;625;p60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342900" lvl="0" indent="-3759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 panose="02020603050405020304"/>
              <a:buAutoNum type="arabicPeriod"/>
            </a:pPr>
            <a:r>
              <a:rPr lang="en-US" sz="2300"/>
              <a:t>Picking the right kind of </a:t>
            </a:r>
            <a:r>
              <a:rPr lang="en-US" sz="2300" b="1"/>
              <a:t>entity</a:t>
            </a:r>
            <a:r>
              <a:rPr lang="en-US" sz="2300"/>
              <a:t>: does it have significant properties and describe objects with independent instances?</a:t>
            </a:r>
            <a:endParaRPr lang="en-US" sz="2300"/>
          </a:p>
          <a:p>
            <a:pPr marL="342900" lvl="0" indent="-37592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300"/>
              <a:buFont typeface="Times New Roman" panose="02020603050405020304"/>
              <a:buAutoNum type="arabicPeriod"/>
            </a:pPr>
            <a:r>
              <a:rPr lang="en-US" sz="2300"/>
              <a:t>Picking the relevant </a:t>
            </a:r>
            <a:r>
              <a:rPr lang="en-US" sz="2300" b="1"/>
              <a:t>relationships</a:t>
            </a:r>
            <a:r>
              <a:rPr lang="en-US" sz="2300"/>
              <a:t>: does it provide a logical link between two (or more) entities? </a:t>
            </a:r>
            <a:endParaRPr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" lvl="0" indent="-254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6" name="Google Shape;626;p6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1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91440" lvl="0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 panose="020F0502020204030204"/>
              <a:buChar char=" 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Best Data Mode?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3" name="Google Shape;633;p61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0" cy="47091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 fontScale="85000" lnSpcReduction="20000"/>
          </a:bodyPr>
          <a:lstStyle/>
          <a:p>
            <a:pPr marL="91440" lvl="0" indent="-107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Char char=" "/>
            </a:pPr>
            <a:r>
              <a:rPr lang="en-US"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There is no single "best" design for a given application.</a:t>
            </a:r>
            <a:endParaRPr sz="16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144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endParaRPr sz="20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1440" lvl="0" indent="-10795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Char char=" "/>
            </a:pPr>
            <a:r>
              <a:rPr lang="en-US"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Most important aspects of a design (data model):</a:t>
            </a:r>
            <a:endParaRPr sz="16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33070" lvl="2" indent="-2667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Char char="•"/>
            </a:pPr>
            <a:r>
              <a:rPr lang="en-US" sz="2000">
                <a:solidFill>
                  <a:schemeClr val="dk1"/>
                </a:solidFill>
              </a:rPr>
              <a:t>correctness   (satisfies requirements accurately)</a:t>
            </a:r>
            <a:endParaRPr sz="1600">
              <a:solidFill>
                <a:schemeClr val="dk1"/>
              </a:solidFill>
            </a:endParaRPr>
          </a:p>
          <a:p>
            <a:pPr marL="433070" lvl="2" indent="-2667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Char char="•"/>
            </a:pPr>
            <a:r>
              <a:rPr lang="en-US" sz="2000">
                <a:solidFill>
                  <a:schemeClr val="dk1"/>
                </a:solidFill>
              </a:rPr>
              <a:t>completeness   (all reqs covered, all assumptions explicit)</a:t>
            </a:r>
            <a:endParaRPr sz="1600">
              <a:solidFill>
                <a:schemeClr val="dk1"/>
              </a:solidFill>
            </a:endParaRPr>
          </a:p>
          <a:p>
            <a:pPr marL="433070" lvl="2" indent="-2667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Char char="•"/>
            </a:pPr>
            <a:r>
              <a:rPr lang="en-US" sz="2000">
                <a:solidFill>
                  <a:schemeClr val="dk1"/>
                </a:solidFill>
              </a:rPr>
              <a:t>consistency   (no contradictory statements)</a:t>
            </a:r>
            <a:endParaRPr sz="2000">
              <a:solidFill>
                <a:schemeClr val="dk1"/>
              </a:solidFill>
            </a:endParaRPr>
          </a:p>
          <a:p>
            <a:pPr marL="433070" lvl="2" indent="-2667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Char char="•"/>
            </a:pPr>
            <a:r>
              <a:rPr lang="en-US" sz="2000">
                <a:solidFill>
                  <a:schemeClr val="dk1"/>
                </a:solidFill>
              </a:rPr>
              <a:t>readability (easy to understand)</a:t>
            </a:r>
            <a:endParaRPr sz="2000">
              <a:solidFill>
                <a:schemeClr val="dk1"/>
              </a:solidFill>
            </a:endParaRPr>
          </a:p>
          <a:p>
            <a:pPr marL="9144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endParaRPr sz="20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1440" lvl="0" indent="-10795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Char char=" "/>
            </a:pPr>
            <a:r>
              <a:rPr lang="en-US"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Potential inadequacies in a design:</a:t>
            </a:r>
            <a:endParaRPr sz="16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31140" lvl="1" indent="-21209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Char char="•"/>
            </a:pPr>
            <a:r>
              <a:rPr lang="en-US" sz="2000">
                <a:solidFill>
                  <a:schemeClr val="dk1"/>
                </a:solidFill>
              </a:rPr>
              <a:t>omits information that needs to be included</a:t>
            </a:r>
            <a:endParaRPr sz="1600">
              <a:solidFill>
                <a:schemeClr val="dk1"/>
              </a:solidFill>
            </a:endParaRPr>
          </a:p>
          <a:p>
            <a:pPr marL="231140" lvl="1" indent="-21209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Char char="•"/>
            </a:pPr>
            <a:r>
              <a:rPr lang="en-US" sz="2000">
                <a:solidFill>
                  <a:schemeClr val="dk1"/>
                </a:solidFill>
              </a:rPr>
              <a:t>contains redundant information (</a:t>
            </a:r>
            <a:r>
              <a:rPr lang="en-US" sz="2000" i="1">
                <a:solidFill>
                  <a:schemeClr val="dk1"/>
                </a:solidFill>
              </a:rPr>
              <a:t>⇒</a:t>
            </a:r>
            <a:r>
              <a:rPr lang="en-US" sz="2000">
                <a:solidFill>
                  <a:schemeClr val="dk1"/>
                </a:solidFill>
              </a:rPr>
              <a:t>  inconsistency)</a:t>
            </a:r>
            <a:endParaRPr sz="1600">
              <a:solidFill>
                <a:schemeClr val="dk1"/>
              </a:solidFill>
            </a:endParaRPr>
          </a:p>
          <a:p>
            <a:pPr marL="231140" lvl="1" indent="-21209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Char char="•"/>
            </a:pPr>
            <a:r>
              <a:rPr lang="en-US" sz="2000">
                <a:solidFill>
                  <a:schemeClr val="dk1"/>
                </a:solidFill>
              </a:rPr>
              <a:t>leads to an inefficient implementation</a:t>
            </a:r>
            <a:endParaRPr sz="1600">
              <a:solidFill>
                <a:schemeClr val="dk1"/>
              </a:solidFill>
            </a:endParaRPr>
          </a:p>
          <a:p>
            <a:pPr marL="231140" lvl="1" indent="-21209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Char char="•"/>
            </a:pPr>
            <a:r>
              <a:rPr lang="en-US" sz="2000">
                <a:solidFill>
                  <a:schemeClr val="dk1"/>
                </a:solidFill>
              </a:rPr>
              <a:t>violates syntactic or semantic rules of data model</a:t>
            </a:r>
            <a:endParaRPr lang="en-US" sz="2000">
              <a:solidFill>
                <a:schemeClr val="dk1"/>
              </a:solidFill>
            </a:endParaRPr>
          </a:p>
        </p:txBody>
      </p:sp>
      <p:sp>
        <p:nvSpPr>
          <p:cNvPr id="634" name="Google Shape;634;p6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62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That’s the Entity Relation Model</a:t>
            </a:r>
            <a:endParaRPr lang="en-US"/>
          </a:p>
        </p:txBody>
      </p:sp>
      <p:sp>
        <p:nvSpPr>
          <p:cNvPr id="641" name="Google Shape;641;p62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3429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 panose="02020603050405020304"/>
              <a:buAutoNum type="arabicPeriod"/>
            </a:pPr>
            <a:r>
              <a:rPr lang="en-US" sz="2000"/>
              <a:t>ER models gave us the first rules to capture the semantics </a:t>
            </a:r>
            <a:endParaRPr sz="2000"/>
          </a:p>
          <a:p>
            <a:pPr marL="342900" lvl="0" indent="-355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Times New Roman" panose="02020603050405020304"/>
              <a:buAutoNum type="arabicPeriod"/>
            </a:pPr>
            <a:r>
              <a:rPr lang="en-US" sz="2000"/>
              <a:t>Systematically change it to Relational logical models (spoilers)</a:t>
            </a:r>
            <a:endParaRPr sz="2000"/>
          </a:p>
          <a:p>
            <a:pPr marL="342900" lvl="0" indent="-355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Times New Roman" panose="02020603050405020304"/>
              <a:buAutoNum type="arabicPeriod"/>
            </a:pPr>
            <a:r>
              <a:rPr lang="en-US" sz="2000"/>
              <a:t>Allowed a lot of people to take a step from ‘requirements from applications’ to ‘implementing the database’</a:t>
            </a:r>
            <a:endParaRPr sz="2000"/>
          </a:p>
        </p:txBody>
      </p:sp>
      <p:sp>
        <p:nvSpPr>
          <p:cNvPr id="642" name="Google Shape;642;p6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3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8016300" cy="8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 panose="02020603050405020304"/>
              <a:buNone/>
            </a:pPr>
            <a:r>
              <a:rPr lang="en-US"/>
              <a:t>ERD Notations</a:t>
            </a:r>
            <a:endParaRPr lang="en-US"/>
          </a:p>
        </p:txBody>
      </p:sp>
      <p:sp>
        <p:nvSpPr>
          <p:cNvPr id="648" name="Google Shape;648;p63"/>
          <p:cNvSpPr txBox="1">
            <a:spLocks noGrp="1"/>
          </p:cNvSpPr>
          <p:nvPr>
            <p:ph type="sldNum" idx="12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grpSp>
        <p:nvGrpSpPr>
          <p:cNvPr id="649" name="Google Shape;649;p63"/>
          <p:cNvGrpSpPr/>
          <p:nvPr/>
        </p:nvGrpSpPr>
        <p:grpSpPr>
          <a:xfrm>
            <a:off x="1705330" y="1149008"/>
            <a:ext cx="5733357" cy="5066145"/>
            <a:chOff x="457200" y="1981200"/>
            <a:chExt cx="4800600" cy="4946924"/>
          </a:xfrm>
        </p:grpSpPr>
        <p:pic>
          <p:nvPicPr>
            <p:cNvPr id="650" name="Google Shape;650;p63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457200" y="1981200"/>
              <a:ext cx="4800600" cy="335542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pic>
        <p:pic>
          <p:nvPicPr>
            <p:cNvPr id="651" name="Google Shape;651;p6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457200" y="5334000"/>
              <a:ext cx="4800600" cy="159412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pic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4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Final Exercise: A Library Database</a:t>
            </a:r>
            <a:endParaRPr lang="en-US"/>
          </a:p>
        </p:txBody>
      </p:sp>
      <p:sp>
        <p:nvSpPr>
          <p:cNvPr id="658" name="Google Shape;658;p64"/>
          <p:cNvSpPr/>
          <p:nvPr/>
        </p:nvSpPr>
        <p:spPr>
          <a:xfrm>
            <a:off x="914400" y="1066801"/>
            <a:ext cx="7772400" cy="55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●"/>
            </a:pP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book is uniquely identified by its book-id. For each book, we also record its title, price, and availability. 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●"/>
            </a:pP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reader is uniquely identified by his/her reader-id and we also record his/her name, phone number and address. The address is composed of street and suburb.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●"/>
            </a:pP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publisher is uniquely identified by its publisher-id. For each publisher, the name is also recorded. 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●"/>
            </a:pP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 author is uniquely identified by his/her author-id. For each author, the name, phone number and birth date are also recorded.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●"/>
            </a:pP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reader can borrow zero or more books and a book can be borrowed by zero or more readers. Thus, we need to record the starting date and ending date for the borrowing relationship.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●"/>
            </a:pP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publisher can publish zero or more books and a book is published by exactly one publisher. We also need to record the date of publication.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●"/>
            </a:pP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 author can write zero or more books and a book is written by one or more authors.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9" name="Google Shape;659;p6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5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Final Exercise: A Library Database </a:t>
            </a:r>
            <a:endParaRPr lang="en-US"/>
          </a:p>
        </p:txBody>
      </p:sp>
      <p:sp>
        <p:nvSpPr>
          <p:cNvPr id="666" name="Google Shape;666;p65"/>
          <p:cNvSpPr/>
          <p:nvPr/>
        </p:nvSpPr>
        <p:spPr>
          <a:xfrm>
            <a:off x="914400" y="1066801"/>
            <a:ext cx="7772400" cy="559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●"/>
            </a:pP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</a:t>
            </a:r>
            <a:r>
              <a:rPr lang="en-US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book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is uniquely identified by its </a:t>
            </a:r>
            <a:r>
              <a:rPr lang="en-US" sz="16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book-id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 For each book, we also record its </a:t>
            </a:r>
            <a:r>
              <a:rPr lang="en-US" sz="16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title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</a:t>
            </a:r>
            <a:r>
              <a:rPr lang="en-US" sz="16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price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and </a:t>
            </a:r>
            <a:r>
              <a:rPr lang="en-US" sz="16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availability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 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●"/>
            </a:pP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</a:t>
            </a:r>
            <a:r>
              <a:rPr lang="en-US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reader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is uniquely identified by his/her </a:t>
            </a:r>
            <a:r>
              <a:rPr lang="en-US" sz="16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reader-id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and we also record his/her </a:t>
            </a:r>
            <a:r>
              <a:rPr lang="en-US" sz="16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name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</a:t>
            </a:r>
            <a:r>
              <a:rPr lang="en-US" sz="16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phone-number 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and </a:t>
            </a:r>
            <a:r>
              <a:rPr lang="en-US" sz="16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address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 The address is composed of </a:t>
            </a:r>
            <a:r>
              <a:rPr lang="en-US" sz="16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street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and </a:t>
            </a:r>
            <a:r>
              <a:rPr lang="en-US" sz="16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suburb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●"/>
            </a:pP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</a:t>
            </a:r>
            <a:r>
              <a:rPr lang="en-US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publisher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is uniquely identified by its </a:t>
            </a:r>
            <a:r>
              <a:rPr lang="en-US" sz="16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publisher-id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 For each publisher, the </a:t>
            </a:r>
            <a:r>
              <a:rPr lang="en-US" sz="16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name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is also recorded. 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●"/>
            </a:pP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 </a:t>
            </a:r>
            <a:r>
              <a:rPr lang="en-US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author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is uniquely identified by his/her </a:t>
            </a:r>
            <a:r>
              <a:rPr lang="en-US" sz="16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author-id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 For each author, the </a:t>
            </a:r>
            <a:r>
              <a:rPr lang="en-US" sz="16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name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</a:t>
            </a:r>
            <a:r>
              <a:rPr lang="en-US" sz="16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phone-number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and </a:t>
            </a:r>
            <a:r>
              <a:rPr lang="en-US" sz="16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birth-date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are also recorded.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●"/>
            </a:pP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</a:t>
            </a:r>
            <a:r>
              <a:rPr lang="en-US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reader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can borrow zero or more books and a book can be borrowed by zero or more readers. Thus, we need to record the </a:t>
            </a:r>
            <a:r>
              <a:rPr lang="en-US" sz="16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starting-date 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and </a:t>
            </a:r>
            <a:r>
              <a:rPr lang="en-US" sz="16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ending-date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for the borrowing relationship.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●"/>
            </a:pP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</a:t>
            </a:r>
            <a:r>
              <a:rPr lang="en-US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publisher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can publish zero or more books and a book is published by exactly one publisher. We also need to record the </a:t>
            </a:r>
            <a:r>
              <a:rPr lang="en-US" sz="16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date-of-publication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●"/>
            </a:pP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 </a:t>
            </a:r>
            <a:r>
              <a:rPr lang="en-US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author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can write zero or more books and a book is written by one or more authors.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7" name="Google Shape;667;p6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6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Exercise </a:t>
            </a:r>
            <a:endParaRPr lang="en-US"/>
          </a:p>
        </p:txBody>
      </p:sp>
      <p:sp>
        <p:nvSpPr>
          <p:cNvPr id="674" name="Google Shape;674;p66"/>
          <p:cNvSpPr/>
          <p:nvPr/>
        </p:nvSpPr>
        <p:spPr>
          <a:xfrm>
            <a:off x="914400" y="1066801"/>
            <a:ext cx="7772400" cy="559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Char char="●"/>
            </a:pP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</a:t>
            </a:r>
            <a:r>
              <a:rPr lang="en-US" sz="1600" b="1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book</a:t>
            </a: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is uniquely identified by its </a:t>
            </a:r>
            <a:r>
              <a:rPr lang="en-US" sz="1600" i="1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book-id</a:t>
            </a: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 For each book, we also record its </a:t>
            </a:r>
            <a:r>
              <a:rPr lang="en-US" sz="1600" i="1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title</a:t>
            </a: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</a:t>
            </a:r>
            <a:r>
              <a:rPr lang="en-US" sz="1600" i="1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price</a:t>
            </a: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and </a:t>
            </a:r>
            <a:r>
              <a:rPr lang="en-US" sz="1600" i="1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availability</a:t>
            </a: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 </a:t>
            </a:r>
            <a:endParaRPr sz="1600">
              <a:solidFill>
                <a:srgbClr val="00B0F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Char char="●"/>
            </a:pP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</a:t>
            </a:r>
            <a:r>
              <a:rPr lang="en-US" sz="1600" b="1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reader</a:t>
            </a: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is uniquely identified by his/her </a:t>
            </a:r>
            <a:r>
              <a:rPr lang="en-US" sz="1600" i="1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reader-id</a:t>
            </a: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and we also record his/her </a:t>
            </a:r>
            <a:r>
              <a:rPr lang="en-US" sz="1600" i="1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name</a:t>
            </a: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</a:t>
            </a:r>
            <a:r>
              <a:rPr lang="en-US" sz="1600" i="1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phone-number</a:t>
            </a: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and </a:t>
            </a:r>
            <a:r>
              <a:rPr lang="en-US" sz="1600" i="1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address</a:t>
            </a: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 The address is composed of </a:t>
            </a:r>
            <a:r>
              <a:rPr lang="en-US" sz="1600" i="1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street</a:t>
            </a: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and </a:t>
            </a:r>
            <a:r>
              <a:rPr lang="en-US" sz="1600" i="1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suburb</a:t>
            </a: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sz="1600">
              <a:solidFill>
                <a:srgbClr val="00B0F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Char char="●"/>
            </a:pP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</a:t>
            </a:r>
            <a:r>
              <a:rPr lang="en-US" sz="1600" b="1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publisher</a:t>
            </a: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is uniquely identified by its </a:t>
            </a:r>
            <a:r>
              <a:rPr lang="en-US" sz="1600" i="1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publisher-id</a:t>
            </a: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 For each publisher, the </a:t>
            </a:r>
            <a:r>
              <a:rPr lang="en-US" sz="1600" i="1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name</a:t>
            </a: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is also recorded. </a:t>
            </a:r>
            <a:endParaRPr sz="1600">
              <a:solidFill>
                <a:srgbClr val="00B0F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Char char="●"/>
            </a:pP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 </a:t>
            </a:r>
            <a:r>
              <a:rPr lang="en-US" sz="1600" b="1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author</a:t>
            </a: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is uniquely identified by his/her </a:t>
            </a:r>
            <a:r>
              <a:rPr lang="en-US" sz="1600" i="1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author-id</a:t>
            </a: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 For each author, the </a:t>
            </a:r>
            <a:r>
              <a:rPr lang="en-US" sz="1600" i="1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name</a:t>
            </a: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</a:t>
            </a:r>
            <a:r>
              <a:rPr lang="en-US" sz="1600" i="1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phone-number</a:t>
            </a: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and </a:t>
            </a:r>
            <a:r>
              <a:rPr lang="en-US" sz="1600" i="1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birth-date</a:t>
            </a:r>
            <a:r>
              <a:rPr lang="en-US" sz="16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are also recorded.</a:t>
            </a:r>
            <a:endParaRPr sz="1600">
              <a:solidFill>
                <a:srgbClr val="00B0F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Noto Sans Symbols"/>
              <a:buChar char="●"/>
            </a:pPr>
            <a:r>
              <a:rPr lang="en-US" sz="1600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</a:t>
            </a:r>
            <a:r>
              <a:rPr lang="en-US" sz="1600" b="1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reader</a:t>
            </a:r>
            <a:r>
              <a:rPr lang="en-US" sz="1600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can borrow zero or more books and a book can be borrowed by zero or more readers. Thus, we need to record the </a:t>
            </a:r>
            <a:r>
              <a:rPr lang="en-US" sz="1600" i="1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starting-date </a:t>
            </a:r>
            <a:r>
              <a:rPr lang="en-US" sz="1600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and </a:t>
            </a:r>
            <a:r>
              <a:rPr lang="en-US" sz="1600" i="1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ending-date</a:t>
            </a:r>
            <a:r>
              <a:rPr lang="en-US" sz="1600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for the borrowing relationship.</a:t>
            </a:r>
            <a:endParaRPr sz="1600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Noto Sans Symbols"/>
              <a:buChar char="●"/>
            </a:pPr>
            <a:r>
              <a:rPr lang="en-US" sz="1600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</a:t>
            </a:r>
            <a:r>
              <a:rPr lang="en-US" sz="1600" b="1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publisher</a:t>
            </a:r>
            <a:r>
              <a:rPr lang="en-US" sz="1600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can publish zero or more books and a book is published by exactly one publisher. We also need to record the </a:t>
            </a:r>
            <a:r>
              <a:rPr lang="en-US" sz="1600" i="1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date-of-publication</a:t>
            </a:r>
            <a:r>
              <a:rPr lang="en-US" sz="1600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sz="1600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Noto Sans Symbols"/>
              <a:buChar char="●"/>
            </a:pPr>
            <a:r>
              <a:rPr lang="en-US" sz="1600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 </a:t>
            </a:r>
            <a:r>
              <a:rPr lang="en-US" sz="1600" b="1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author</a:t>
            </a:r>
            <a:r>
              <a:rPr lang="en-US" sz="1600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can write zero or more books and a book is written by one or more authors.</a:t>
            </a:r>
            <a:endParaRPr sz="1600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75" name="Google Shape;675;p66"/>
          <p:cNvSpPr txBox="1"/>
          <p:nvPr/>
        </p:nvSpPr>
        <p:spPr>
          <a:xfrm rot="-5400000">
            <a:off x="-367353" y="2177533"/>
            <a:ext cx="182880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Entity focused</a:t>
            </a:r>
            <a:endParaRPr sz="1800">
              <a:solidFill>
                <a:srgbClr val="00B0F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76" name="Google Shape;676;p66"/>
          <p:cNvSpPr txBox="1"/>
          <p:nvPr/>
        </p:nvSpPr>
        <p:spPr>
          <a:xfrm rot="-5400000">
            <a:off x="-538515" y="4768334"/>
            <a:ext cx="213360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Relation focused</a:t>
            </a:r>
            <a:endParaRPr sz="1800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77" name="Google Shape;677;p6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67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Exercise (1/7)</a:t>
            </a:r>
            <a:endParaRPr lang="en-US"/>
          </a:p>
        </p:txBody>
      </p:sp>
      <p:sp>
        <p:nvSpPr>
          <p:cNvPr id="683" name="Google Shape;683;p67"/>
          <p:cNvSpPr/>
          <p:nvPr/>
        </p:nvSpPr>
        <p:spPr>
          <a:xfrm>
            <a:off x="838200" y="1219200"/>
            <a:ext cx="7772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book is uniquely identified by its book id. For each book, we also record its title, price, and availability. 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84" name="Google Shape;684;p67"/>
          <p:cNvSpPr/>
          <p:nvPr/>
        </p:nvSpPr>
        <p:spPr>
          <a:xfrm>
            <a:off x="3352800" y="4006352"/>
            <a:ext cx="1152128" cy="36004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85" name="Google Shape;685;p67"/>
          <p:cNvSpPr/>
          <p:nvPr/>
        </p:nvSpPr>
        <p:spPr>
          <a:xfrm>
            <a:off x="2911286" y="3075861"/>
            <a:ext cx="785631" cy="472698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86" name="Google Shape;686;p67"/>
          <p:cNvSpPr txBox="1"/>
          <p:nvPr/>
        </p:nvSpPr>
        <p:spPr>
          <a:xfrm>
            <a:off x="3550354" y="4010334"/>
            <a:ext cx="7920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book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87" name="Google Shape;687;p67"/>
          <p:cNvSpPr txBox="1"/>
          <p:nvPr/>
        </p:nvSpPr>
        <p:spPr>
          <a:xfrm>
            <a:off x="3048000" y="3103620"/>
            <a:ext cx="648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title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88" name="Google Shape;688;p67"/>
          <p:cNvCxnSpPr>
            <a:stCxn id="685" idx="4"/>
            <a:endCxn id="686" idx="0"/>
          </p:cNvCxnSpPr>
          <p:nvPr/>
        </p:nvCxnSpPr>
        <p:spPr>
          <a:xfrm>
            <a:off x="3304102" y="3548559"/>
            <a:ext cx="642300" cy="46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89" name="Google Shape;689;p67"/>
          <p:cNvCxnSpPr>
            <a:stCxn id="686" idx="0"/>
            <a:endCxn id="690" idx="4"/>
          </p:cNvCxnSpPr>
          <p:nvPr/>
        </p:nvCxnSpPr>
        <p:spPr>
          <a:xfrm rot="10800000" flipH="1">
            <a:off x="3946398" y="3457434"/>
            <a:ext cx="1333200" cy="55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1" name="Google Shape;691;p67"/>
          <p:cNvCxnSpPr>
            <a:stCxn id="692" idx="4"/>
            <a:endCxn id="686" idx="0"/>
          </p:cNvCxnSpPr>
          <p:nvPr/>
        </p:nvCxnSpPr>
        <p:spPr>
          <a:xfrm flipH="1">
            <a:off x="3946544" y="3457407"/>
            <a:ext cx="259500" cy="55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3" name="Google Shape;693;p67"/>
          <p:cNvCxnSpPr>
            <a:stCxn id="686" idx="0"/>
            <a:endCxn id="694" idx="4"/>
          </p:cNvCxnSpPr>
          <p:nvPr/>
        </p:nvCxnSpPr>
        <p:spPr>
          <a:xfrm rot="10800000" flipH="1">
            <a:off x="3946398" y="3945534"/>
            <a:ext cx="1704300" cy="6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695" name="Google Shape;695;p67"/>
          <p:cNvGrpSpPr/>
          <p:nvPr/>
        </p:nvGrpSpPr>
        <p:grpSpPr>
          <a:xfrm>
            <a:off x="3810000" y="3015752"/>
            <a:ext cx="2324472" cy="929898"/>
            <a:chOff x="1766765" y="1916668"/>
            <a:chExt cx="2324472" cy="929898"/>
          </a:xfrm>
        </p:grpSpPr>
        <p:sp>
          <p:nvSpPr>
            <p:cNvPr id="692" name="Google Shape;692;p67"/>
            <p:cNvSpPr/>
            <p:nvPr/>
          </p:nvSpPr>
          <p:spPr>
            <a:xfrm>
              <a:off x="1766765" y="1926275"/>
              <a:ext cx="792088" cy="432048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0" name="Google Shape;690;p67"/>
            <p:cNvSpPr/>
            <p:nvPr/>
          </p:nvSpPr>
          <p:spPr>
            <a:xfrm>
              <a:off x="2604965" y="1926275"/>
              <a:ext cx="1262821" cy="432048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6" name="Google Shape;696;p67"/>
            <p:cNvSpPr txBox="1"/>
            <p:nvPr/>
          </p:nvSpPr>
          <p:spPr>
            <a:xfrm>
              <a:off x="2641736" y="1928336"/>
              <a:ext cx="13348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availability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7" name="Google Shape;697;p67"/>
            <p:cNvSpPr txBox="1"/>
            <p:nvPr/>
          </p:nvSpPr>
          <p:spPr>
            <a:xfrm>
              <a:off x="1828800" y="1916668"/>
              <a:ext cx="8282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price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4" name="Google Shape;694;p67"/>
            <p:cNvSpPr/>
            <p:nvPr/>
          </p:nvSpPr>
          <p:spPr>
            <a:xfrm>
              <a:off x="3214565" y="2373868"/>
              <a:ext cx="785631" cy="472698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8" name="Google Shape;698;p67"/>
            <p:cNvSpPr txBox="1"/>
            <p:nvPr/>
          </p:nvSpPr>
          <p:spPr>
            <a:xfrm>
              <a:off x="3443165" y="2450068"/>
              <a:ext cx="6480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id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cxnSp>
          <p:nvCxnSpPr>
            <p:cNvPr id="699" name="Google Shape;699;p67"/>
            <p:cNvCxnSpPr/>
            <p:nvPr/>
          </p:nvCxnSpPr>
          <p:spPr>
            <a:xfrm>
              <a:off x="3366965" y="2754868"/>
              <a:ext cx="482657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00" name="Google Shape;700;p6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68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Exercise (2/7)</a:t>
            </a:r>
            <a:endParaRPr lang="en-US"/>
          </a:p>
        </p:txBody>
      </p:sp>
      <p:sp>
        <p:nvSpPr>
          <p:cNvPr id="706" name="Google Shape;706;p68"/>
          <p:cNvSpPr/>
          <p:nvPr/>
        </p:nvSpPr>
        <p:spPr>
          <a:xfrm>
            <a:off x="838200" y="1143000"/>
            <a:ext cx="7772400" cy="1289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reader is uniquely identified by his/her reader id and we also record his/her name, phone number, dob and address. The address is composed of street and suburb.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7" name="Google Shape;707;p68"/>
          <p:cNvSpPr/>
          <p:nvPr/>
        </p:nvSpPr>
        <p:spPr>
          <a:xfrm>
            <a:off x="3268675" y="4011042"/>
            <a:ext cx="1152128" cy="36004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08" name="Google Shape;708;p68"/>
          <p:cNvSpPr/>
          <p:nvPr/>
        </p:nvSpPr>
        <p:spPr>
          <a:xfrm>
            <a:off x="6339454" y="4241273"/>
            <a:ext cx="968303" cy="495674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09" name="Google Shape;709;p68"/>
          <p:cNvSpPr/>
          <p:nvPr/>
        </p:nvSpPr>
        <p:spPr>
          <a:xfrm>
            <a:off x="6339455" y="3549792"/>
            <a:ext cx="785631" cy="472698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10" name="Google Shape;710;p68"/>
          <p:cNvSpPr/>
          <p:nvPr/>
        </p:nvSpPr>
        <p:spPr>
          <a:xfrm>
            <a:off x="4900880" y="2788690"/>
            <a:ext cx="1008112" cy="472698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11" name="Google Shape;711;p68"/>
          <p:cNvSpPr/>
          <p:nvPr/>
        </p:nvSpPr>
        <p:spPr>
          <a:xfrm>
            <a:off x="4980663" y="3786904"/>
            <a:ext cx="1150543" cy="529027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12" name="Google Shape;712;p68"/>
          <p:cNvSpPr/>
          <p:nvPr/>
        </p:nvSpPr>
        <p:spPr>
          <a:xfrm>
            <a:off x="3891382" y="2784693"/>
            <a:ext cx="901293" cy="472698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13" name="Google Shape;713;p68"/>
          <p:cNvSpPr txBox="1"/>
          <p:nvPr/>
        </p:nvSpPr>
        <p:spPr>
          <a:xfrm>
            <a:off x="2953435" y="2853222"/>
            <a:ext cx="648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id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14" name="Google Shape;714;p68"/>
          <p:cNvSpPr txBox="1"/>
          <p:nvPr/>
        </p:nvSpPr>
        <p:spPr>
          <a:xfrm>
            <a:off x="3964775" y="2840373"/>
            <a:ext cx="8279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name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15" name="Google Shape;715;p68"/>
          <p:cNvSpPr txBox="1"/>
          <p:nvPr/>
        </p:nvSpPr>
        <p:spPr>
          <a:xfrm>
            <a:off x="4974273" y="2836376"/>
            <a:ext cx="10376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number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16" name="Google Shape;716;p68"/>
          <p:cNvSpPr txBox="1"/>
          <p:nvPr/>
        </p:nvSpPr>
        <p:spPr>
          <a:xfrm>
            <a:off x="4974274" y="3837824"/>
            <a:ext cx="10817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address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17" name="Google Shape;717;p68"/>
          <p:cNvSpPr txBox="1"/>
          <p:nvPr/>
        </p:nvSpPr>
        <p:spPr>
          <a:xfrm>
            <a:off x="6374060" y="3620892"/>
            <a:ext cx="10817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street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18" name="Google Shape;718;p68"/>
          <p:cNvSpPr txBox="1"/>
          <p:nvPr/>
        </p:nvSpPr>
        <p:spPr>
          <a:xfrm>
            <a:off x="6315773" y="4328686"/>
            <a:ext cx="10817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suburb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19" name="Google Shape;719;p68"/>
          <p:cNvSpPr txBox="1"/>
          <p:nvPr/>
        </p:nvSpPr>
        <p:spPr>
          <a:xfrm>
            <a:off x="3350500" y="3990224"/>
            <a:ext cx="10817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reader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720" name="Google Shape;720;p68"/>
          <p:cNvCxnSpPr>
            <a:endCxn id="710" idx="4"/>
          </p:cNvCxnSpPr>
          <p:nvPr/>
        </p:nvCxnSpPr>
        <p:spPr>
          <a:xfrm rot="10800000" flipH="1">
            <a:off x="3844636" y="3261388"/>
            <a:ext cx="1560300" cy="709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21" name="Google Shape;721;p68"/>
          <p:cNvCxnSpPr>
            <a:endCxn id="707" idx="0"/>
          </p:cNvCxnSpPr>
          <p:nvPr/>
        </p:nvCxnSpPr>
        <p:spPr>
          <a:xfrm flipH="1">
            <a:off x="3844739" y="3255342"/>
            <a:ext cx="442800" cy="755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22" name="Google Shape;722;p68"/>
          <p:cNvCxnSpPr>
            <a:endCxn id="719" idx="0"/>
          </p:cNvCxnSpPr>
          <p:nvPr/>
        </p:nvCxnSpPr>
        <p:spPr>
          <a:xfrm>
            <a:off x="3198682" y="3351824"/>
            <a:ext cx="692700" cy="638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23" name="Google Shape;723;p68"/>
          <p:cNvCxnSpPr>
            <a:stCxn id="707" idx="3"/>
            <a:endCxn id="711" idx="2"/>
          </p:cNvCxnSpPr>
          <p:nvPr/>
        </p:nvCxnSpPr>
        <p:spPr>
          <a:xfrm rot="10800000" flipH="1">
            <a:off x="4420803" y="4051562"/>
            <a:ext cx="559800" cy="139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24" name="Google Shape;724;p68"/>
          <p:cNvCxnSpPr>
            <a:stCxn id="718" idx="1"/>
            <a:endCxn id="711" idx="6"/>
          </p:cNvCxnSpPr>
          <p:nvPr/>
        </p:nvCxnSpPr>
        <p:spPr>
          <a:xfrm rot="10800000">
            <a:off x="6131273" y="4051352"/>
            <a:ext cx="184500" cy="462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25" name="Google Shape;725;p68"/>
          <p:cNvCxnSpPr>
            <a:stCxn id="711" idx="6"/>
            <a:endCxn id="709" idx="2"/>
          </p:cNvCxnSpPr>
          <p:nvPr/>
        </p:nvCxnSpPr>
        <p:spPr>
          <a:xfrm rot="10800000" flipH="1">
            <a:off x="6131206" y="3786218"/>
            <a:ext cx="208200" cy="265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26" name="Google Shape;726;p68"/>
          <p:cNvCxnSpPr/>
          <p:nvPr/>
        </p:nvCxnSpPr>
        <p:spPr>
          <a:xfrm>
            <a:off x="2957341" y="3255456"/>
            <a:ext cx="482657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27" name="Google Shape;727;p68"/>
          <p:cNvSpPr/>
          <p:nvPr/>
        </p:nvSpPr>
        <p:spPr>
          <a:xfrm>
            <a:off x="2735275" y="2860893"/>
            <a:ext cx="901293" cy="472698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28" name="Google Shape;728;p6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9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Exercise (3/7)</a:t>
            </a:r>
            <a:endParaRPr lang="en-US"/>
          </a:p>
        </p:txBody>
      </p:sp>
      <p:sp>
        <p:nvSpPr>
          <p:cNvPr id="734" name="Google Shape;734;p69"/>
          <p:cNvSpPr/>
          <p:nvPr/>
        </p:nvSpPr>
        <p:spPr>
          <a:xfrm>
            <a:off x="838200" y="1143000"/>
            <a:ext cx="7772400" cy="873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publisher is uniquely identified by its publisher id. For each publisher, the name is also recorded. 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5" name="Google Shape;735;p69"/>
          <p:cNvSpPr/>
          <p:nvPr/>
        </p:nvSpPr>
        <p:spPr>
          <a:xfrm>
            <a:off x="3866482" y="3289419"/>
            <a:ext cx="1152128" cy="36004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36" name="Google Shape;736;p69"/>
          <p:cNvSpPr txBox="1"/>
          <p:nvPr/>
        </p:nvSpPr>
        <p:spPr>
          <a:xfrm>
            <a:off x="3962400" y="3304381"/>
            <a:ext cx="1219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publisher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37" name="Google Shape;737;p69"/>
          <p:cNvSpPr txBox="1"/>
          <p:nvPr/>
        </p:nvSpPr>
        <p:spPr>
          <a:xfrm>
            <a:off x="3771528" y="4130088"/>
            <a:ext cx="648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id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38" name="Google Shape;738;p69"/>
          <p:cNvSpPr/>
          <p:nvPr/>
        </p:nvSpPr>
        <p:spPr>
          <a:xfrm>
            <a:off x="4599978" y="4010218"/>
            <a:ext cx="785631" cy="472698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39" name="Google Shape;739;p69"/>
          <p:cNvSpPr txBox="1"/>
          <p:nvPr/>
        </p:nvSpPr>
        <p:spPr>
          <a:xfrm>
            <a:off x="4613031" y="4061901"/>
            <a:ext cx="7971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name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740" name="Google Shape;740;p69"/>
          <p:cNvCxnSpPr>
            <a:stCxn id="735" idx="2"/>
            <a:endCxn id="738" idx="0"/>
          </p:cNvCxnSpPr>
          <p:nvPr/>
        </p:nvCxnSpPr>
        <p:spPr>
          <a:xfrm>
            <a:off x="4442546" y="3649459"/>
            <a:ext cx="550200" cy="36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41" name="Google Shape;741;p69"/>
          <p:cNvCxnSpPr>
            <a:stCxn id="735" idx="2"/>
            <a:endCxn id="742" idx="0"/>
          </p:cNvCxnSpPr>
          <p:nvPr/>
        </p:nvCxnSpPr>
        <p:spPr>
          <a:xfrm flipH="1">
            <a:off x="4003646" y="3649459"/>
            <a:ext cx="438900" cy="438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42" name="Google Shape;742;p69"/>
          <p:cNvSpPr/>
          <p:nvPr/>
        </p:nvSpPr>
        <p:spPr>
          <a:xfrm>
            <a:off x="3610744" y="4087744"/>
            <a:ext cx="785631" cy="472698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743" name="Google Shape;743;p69"/>
          <p:cNvCxnSpPr/>
          <p:nvPr/>
        </p:nvCxnSpPr>
        <p:spPr>
          <a:xfrm>
            <a:off x="3742144" y="4431233"/>
            <a:ext cx="482657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44" name="Google Shape;744;p6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70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Exercise (4/7)</a:t>
            </a:r>
            <a:endParaRPr lang="en-US"/>
          </a:p>
        </p:txBody>
      </p:sp>
      <p:sp>
        <p:nvSpPr>
          <p:cNvPr id="750" name="Google Shape;750;p70"/>
          <p:cNvSpPr/>
          <p:nvPr/>
        </p:nvSpPr>
        <p:spPr>
          <a:xfrm>
            <a:off x="838200" y="1143000"/>
            <a:ext cx="7772400" cy="873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 author is uniquely identified by his/her author id. For each author, the name, phone number and birth date are also recorded.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1" name="Google Shape;751;p70"/>
          <p:cNvSpPr/>
          <p:nvPr/>
        </p:nvSpPr>
        <p:spPr>
          <a:xfrm>
            <a:off x="3657600" y="2992579"/>
            <a:ext cx="1152128" cy="36004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52" name="Google Shape;752;p70"/>
          <p:cNvSpPr/>
          <p:nvPr/>
        </p:nvSpPr>
        <p:spPr>
          <a:xfrm>
            <a:off x="2971316" y="3933662"/>
            <a:ext cx="785631" cy="472698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53" name="Google Shape;753;p70"/>
          <p:cNvSpPr txBox="1"/>
          <p:nvPr/>
        </p:nvSpPr>
        <p:spPr>
          <a:xfrm>
            <a:off x="3657600" y="3010893"/>
            <a:ext cx="11172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author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54" name="Google Shape;754;p70"/>
          <p:cNvSpPr/>
          <p:nvPr/>
        </p:nvSpPr>
        <p:spPr>
          <a:xfrm>
            <a:off x="3847056" y="3985345"/>
            <a:ext cx="785631" cy="472698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55" name="Google Shape;755;p70"/>
          <p:cNvSpPr txBox="1"/>
          <p:nvPr/>
        </p:nvSpPr>
        <p:spPr>
          <a:xfrm>
            <a:off x="3860109" y="4037028"/>
            <a:ext cx="8638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name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56" name="Google Shape;756;p70"/>
          <p:cNvSpPr/>
          <p:nvPr/>
        </p:nvSpPr>
        <p:spPr>
          <a:xfrm>
            <a:off x="4668742" y="3993619"/>
            <a:ext cx="1008112" cy="472698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57" name="Google Shape;757;p70"/>
          <p:cNvSpPr txBox="1"/>
          <p:nvPr/>
        </p:nvSpPr>
        <p:spPr>
          <a:xfrm>
            <a:off x="4742136" y="4041305"/>
            <a:ext cx="10485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number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58" name="Google Shape;758;p70"/>
          <p:cNvSpPr/>
          <p:nvPr/>
        </p:nvSpPr>
        <p:spPr>
          <a:xfrm>
            <a:off x="5777672" y="3978922"/>
            <a:ext cx="1213021" cy="472698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59" name="Google Shape;759;p70"/>
          <p:cNvSpPr txBox="1"/>
          <p:nvPr/>
        </p:nvSpPr>
        <p:spPr>
          <a:xfrm>
            <a:off x="5777672" y="4030605"/>
            <a:ext cx="10482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birthday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760" name="Google Shape;760;p70"/>
          <p:cNvCxnSpPr>
            <a:stCxn id="752" idx="0"/>
            <a:endCxn id="751" idx="2"/>
          </p:cNvCxnSpPr>
          <p:nvPr/>
        </p:nvCxnSpPr>
        <p:spPr>
          <a:xfrm rot="10800000" flipH="1">
            <a:off x="3364132" y="3352562"/>
            <a:ext cx="869400" cy="581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61" name="Google Shape;761;p70"/>
          <p:cNvCxnSpPr>
            <a:stCxn id="754" idx="0"/>
            <a:endCxn id="753" idx="2"/>
          </p:cNvCxnSpPr>
          <p:nvPr/>
        </p:nvCxnSpPr>
        <p:spPr>
          <a:xfrm rot="10800000">
            <a:off x="4216172" y="3380245"/>
            <a:ext cx="23700" cy="605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62" name="Google Shape;762;p70"/>
          <p:cNvCxnSpPr>
            <a:stCxn id="756" idx="0"/>
            <a:endCxn id="751" idx="2"/>
          </p:cNvCxnSpPr>
          <p:nvPr/>
        </p:nvCxnSpPr>
        <p:spPr>
          <a:xfrm rot="10800000">
            <a:off x="4233798" y="3352519"/>
            <a:ext cx="939000" cy="641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63" name="Google Shape;763;p70"/>
          <p:cNvCxnSpPr>
            <a:stCxn id="758" idx="0"/>
            <a:endCxn id="751" idx="2"/>
          </p:cNvCxnSpPr>
          <p:nvPr/>
        </p:nvCxnSpPr>
        <p:spPr>
          <a:xfrm rot="10800000">
            <a:off x="4233783" y="3352522"/>
            <a:ext cx="2150400" cy="626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4" name="Google Shape;764;p70"/>
          <p:cNvSpPr txBox="1"/>
          <p:nvPr/>
        </p:nvSpPr>
        <p:spPr>
          <a:xfrm>
            <a:off x="3161444" y="3945330"/>
            <a:ext cx="648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id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765" name="Google Shape;765;p70"/>
          <p:cNvCxnSpPr/>
          <p:nvPr/>
        </p:nvCxnSpPr>
        <p:spPr>
          <a:xfrm>
            <a:off x="3105033" y="4238462"/>
            <a:ext cx="482657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6" name="Google Shape;766;p7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71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Exercise (5/7)</a:t>
            </a:r>
            <a:endParaRPr lang="en-US"/>
          </a:p>
        </p:txBody>
      </p:sp>
      <p:sp>
        <p:nvSpPr>
          <p:cNvPr id="773" name="Google Shape;773;p71"/>
          <p:cNvSpPr/>
          <p:nvPr/>
        </p:nvSpPr>
        <p:spPr>
          <a:xfrm>
            <a:off x="838200" y="1143000"/>
            <a:ext cx="7772400" cy="1289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reader can borrow zero or more books and a book can be borrowed by zero or more readers. Thus, we need to record the starting date and ending date for the borrowing relationship.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4" name="Google Shape;774;p71"/>
          <p:cNvSpPr/>
          <p:nvPr/>
        </p:nvSpPr>
        <p:spPr>
          <a:xfrm>
            <a:off x="2585175" y="2990852"/>
            <a:ext cx="1152128" cy="36004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75" name="Google Shape;775;p71"/>
          <p:cNvSpPr txBox="1"/>
          <p:nvPr/>
        </p:nvSpPr>
        <p:spPr>
          <a:xfrm>
            <a:off x="2782729" y="2994834"/>
            <a:ext cx="7920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book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76" name="Google Shape;776;p71"/>
          <p:cNvSpPr/>
          <p:nvPr/>
        </p:nvSpPr>
        <p:spPr>
          <a:xfrm>
            <a:off x="6090375" y="2998001"/>
            <a:ext cx="1152128" cy="36004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77" name="Google Shape;777;p71"/>
          <p:cNvSpPr txBox="1"/>
          <p:nvPr/>
        </p:nvSpPr>
        <p:spPr>
          <a:xfrm>
            <a:off x="6172200" y="2977183"/>
            <a:ext cx="10817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reader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778" name="Google Shape;778;p71"/>
          <p:cNvCxnSpPr>
            <a:stCxn id="774" idx="3"/>
            <a:endCxn id="779" idx="1"/>
          </p:cNvCxnSpPr>
          <p:nvPr/>
        </p:nvCxnSpPr>
        <p:spPr>
          <a:xfrm>
            <a:off x="3737303" y="3170872"/>
            <a:ext cx="753000" cy="83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80" name="Google Shape;780;p71"/>
          <p:cNvCxnSpPr>
            <a:stCxn id="779" idx="3"/>
            <a:endCxn id="776" idx="1"/>
          </p:cNvCxnSpPr>
          <p:nvPr/>
        </p:nvCxnSpPr>
        <p:spPr>
          <a:xfrm rot="10800000" flipH="1">
            <a:off x="5563501" y="3177944"/>
            <a:ext cx="526800" cy="7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81" name="Google Shape;781;p71"/>
          <p:cNvSpPr txBox="1"/>
          <p:nvPr/>
        </p:nvSpPr>
        <p:spPr>
          <a:xfrm>
            <a:off x="3909785" y="3073521"/>
            <a:ext cx="1321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82" name="Google Shape;782;p71"/>
          <p:cNvSpPr txBox="1"/>
          <p:nvPr/>
        </p:nvSpPr>
        <p:spPr>
          <a:xfrm>
            <a:off x="5633175" y="2914652"/>
            <a:ext cx="2866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83" name="Google Shape;783;p71"/>
          <p:cNvSpPr/>
          <p:nvPr/>
        </p:nvSpPr>
        <p:spPr>
          <a:xfrm>
            <a:off x="3804375" y="3853569"/>
            <a:ext cx="1478846" cy="472698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84" name="Google Shape;784;p71"/>
          <p:cNvSpPr txBox="1"/>
          <p:nvPr/>
        </p:nvSpPr>
        <p:spPr>
          <a:xfrm>
            <a:off x="3804375" y="3905252"/>
            <a:ext cx="21269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starting date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85" name="Google Shape;785;p71"/>
          <p:cNvSpPr/>
          <p:nvPr/>
        </p:nvSpPr>
        <p:spPr>
          <a:xfrm>
            <a:off x="5510469" y="3853569"/>
            <a:ext cx="1478846" cy="472698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786" name="Google Shape;786;p71"/>
          <p:cNvCxnSpPr>
            <a:stCxn id="779" idx="2"/>
            <a:endCxn id="783" idx="0"/>
          </p:cNvCxnSpPr>
          <p:nvPr/>
        </p:nvCxnSpPr>
        <p:spPr>
          <a:xfrm flipH="1">
            <a:off x="4543838" y="3593036"/>
            <a:ext cx="483000" cy="26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87" name="Google Shape;787;p71"/>
          <p:cNvCxnSpPr>
            <a:stCxn id="779" idx="2"/>
            <a:endCxn id="785" idx="0"/>
          </p:cNvCxnSpPr>
          <p:nvPr/>
        </p:nvCxnSpPr>
        <p:spPr>
          <a:xfrm>
            <a:off x="5026838" y="3593036"/>
            <a:ext cx="1223100" cy="26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88" name="Google Shape;788;p71"/>
          <p:cNvSpPr txBox="1"/>
          <p:nvPr/>
        </p:nvSpPr>
        <p:spPr>
          <a:xfrm>
            <a:off x="4566375" y="3067052"/>
            <a:ext cx="9653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borrow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79" name="Google Shape;779;p71"/>
          <p:cNvSpPr/>
          <p:nvPr/>
        </p:nvSpPr>
        <p:spPr>
          <a:xfrm>
            <a:off x="4490175" y="2914652"/>
            <a:ext cx="1073326" cy="678384"/>
          </a:xfrm>
          <a:prstGeom prst="diamond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89" name="Google Shape;789;p71"/>
          <p:cNvSpPr txBox="1"/>
          <p:nvPr/>
        </p:nvSpPr>
        <p:spPr>
          <a:xfrm>
            <a:off x="5556975" y="3905252"/>
            <a:ext cx="152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ending date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90" name="Google Shape;790;p7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5" name="Google Shape;795;p72"/>
          <p:cNvCxnSpPr/>
          <p:nvPr/>
        </p:nvCxnSpPr>
        <p:spPr>
          <a:xfrm rot="10800000">
            <a:off x="4511802" y="2995078"/>
            <a:ext cx="0" cy="45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96" name="Google Shape;796;p72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Exercise (6/7)</a:t>
            </a:r>
            <a:endParaRPr lang="en-US"/>
          </a:p>
        </p:txBody>
      </p:sp>
      <p:sp>
        <p:nvSpPr>
          <p:cNvPr id="797" name="Google Shape;797;p72"/>
          <p:cNvSpPr/>
          <p:nvPr/>
        </p:nvSpPr>
        <p:spPr>
          <a:xfrm>
            <a:off x="838200" y="1143000"/>
            <a:ext cx="7772400" cy="88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publisher can publish zero or more books and a book is published by exactly one publisher. We also need to record the date of publication.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8" name="Google Shape;798;p72"/>
          <p:cNvSpPr/>
          <p:nvPr/>
        </p:nvSpPr>
        <p:spPr>
          <a:xfrm>
            <a:off x="3978402" y="2614078"/>
            <a:ext cx="1152128" cy="36004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99" name="Google Shape;799;p72"/>
          <p:cNvSpPr txBox="1"/>
          <p:nvPr/>
        </p:nvSpPr>
        <p:spPr>
          <a:xfrm>
            <a:off x="4175956" y="2618060"/>
            <a:ext cx="7920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book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0" name="Google Shape;800;p72"/>
          <p:cNvSpPr/>
          <p:nvPr/>
        </p:nvSpPr>
        <p:spPr>
          <a:xfrm>
            <a:off x="3882484" y="4504116"/>
            <a:ext cx="1152128" cy="36004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1" name="Google Shape;801;p72"/>
          <p:cNvSpPr txBox="1"/>
          <p:nvPr/>
        </p:nvSpPr>
        <p:spPr>
          <a:xfrm>
            <a:off x="3978402" y="4519078"/>
            <a:ext cx="1219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publisher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2" name="Google Shape;802;p72"/>
          <p:cNvSpPr txBox="1"/>
          <p:nvPr/>
        </p:nvSpPr>
        <p:spPr>
          <a:xfrm>
            <a:off x="3978402" y="3604678"/>
            <a:ext cx="9653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publish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803" name="Google Shape;803;p72"/>
          <p:cNvCxnSpPr/>
          <p:nvPr/>
        </p:nvCxnSpPr>
        <p:spPr>
          <a:xfrm rot="10800000">
            <a:off x="4435602" y="2995078"/>
            <a:ext cx="0" cy="45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04" name="Google Shape;804;p72"/>
          <p:cNvCxnSpPr>
            <a:stCxn id="805" idx="2"/>
            <a:endCxn id="800" idx="0"/>
          </p:cNvCxnSpPr>
          <p:nvPr/>
        </p:nvCxnSpPr>
        <p:spPr>
          <a:xfrm>
            <a:off x="4458548" y="4130662"/>
            <a:ext cx="0" cy="37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06" name="Google Shape;806;p72"/>
          <p:cNvSpPr/>
          <p:nvPr/>
        </p:nvSpPr>
        <p:spPr>
          <a:xfrm>
            <a:off x="2759202" y="3147478"/>
            <a:ext cx="1478846" cy="472698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7" name="Google Shape;807;p72"/>
          <p:cNvSpPr txBox="1"/>
          <p:nvPr/>
        </p:nvSpPr>
        <p:spPr>
          <a:xfrm>
            <a:off x="2834741" y="3147478"/>
            <a:ext cx="14484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publish date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808" name="Google Shape;808;p72"/>
          <p:cNvCxnSpPr>
            <a:stCxn id="806" idx="4"/>
            <a:endCxn id="805" idx="1"/>
          </p:cNvCxnSpPr>
          <p:nvPr/>
        </p:nvCxnSpPr>
        <p:spPr>
          <a:xfrm>
            <a:off x="3498625" y="3620176"/>
            <a:ext cx="423300" cy="171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09" name="Google Shape;809;p72"/>
          <p:cNvSpPr txBox="1"/>
          <p:nvPr/>
        </p:nvSpPr>
        <p:spPr>
          <a:xfrm>
            <a:off x="4207002" y="2995078"/>
            <a:ext cx="304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0" name="Google Shape;810;p72"/>
          <p:cNvSpPr txBox="1"/>
          <p:nvPr/>
        </p:nvSpPr>
        <p:spPr>
          <a:xfrm>
            <a:off x="4207002" y="4138078"/>
            <a:ext cx="304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5" name="Google Shape;805;p72"/>
          <p:cNvSpPr/>
          <p:nvPr/>
        </p:nvSpPr>
        <p:spPr>
          <a:xfrm>
            <a:off x="3921885" y="3452278"/>
            <a:ext cx="1073326" cy="678384"/>
          </a:xfrm>
          <a:prstGeom prst="diamond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1" name="Google Shape;811;p7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73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Exercise (7/7)</a:t>
            </a:r>
            <a:endParaRPr lang="en-US"/>
          </a:p>
        </p:txBody>
      </p:sp>
      <p:sp>
        <p:nvSpPr>
          <p:cNvPr id="817" name="Google Shape;817;p73"/>
          <p:cNvSpPr/>
          <p:nvPr/>
        </p:nvSpPr>
        <p:spPr>
          <a:xfrm>
            <a:off x="838200" y="1143000"/>
            <a:ext cx="7772400" cy="88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 author can write zero or more books and a book is written by one or more authors.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8" name="Google Shape;818;p73"/>
          <p:cNvSpPr/>
          <p:nvPr/>
        </p:nvSpPr>
        <p:spPr>
          <a:xfrm>
            <a:off x="2393246" y="2501726"/>
            <a:ext cx="1152128" cy="36004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9" name="Google Shape;819;p73"/>
          <p:cNvSpPr txBox="1"/>
          <p:nvPr/>
        </p:nvSpPr>
        <p:spPr>
          <a:xfrm>
            <a:off x="2590800" y="2505708"/>
            <a:ext cx="7920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book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20" name="Google Shape;820;p73"/>
          <p:cNvSpPr/>
          <p:nvPr/>
        </p:nvSpPr>
        <p:spPr>
          <a:xfrm>
            <a:off x="6673974" y="4206900"/>
            <a:ext cx="1152128" cy="36004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21" name="Google Shape;821;p73"/>
          <p:cNvSpPr txBox="1"/>
          <p:nvPr/>
        </p:nvSpPr>
        <p:spPr>
          <a:xfrm>
            <a:off x="6673974" y="4225214"/>
            <a:ext cx="11172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author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22" name="Google Shape;822;p73"/>
          <p:cNvSpPr txBox="1"/>
          <p:nvPr/>
        </p:nvSpPr>
        <p:spPr>
          <a:xfrm>
            <a:off x="4450646" y="4559126"/>
            <a:ext cx="9653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write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23" name="Google Shape;823;p73"/>
          <p:cNvSpPr/>
          <p:nvPr/>
        </p:nvSpPr>
        <p:spPr>
          <a:xfrm>
            <a:off x="4298246" y="4409880"/>
            <a:ext cx="1073326" cy="678384"/>
          </a:xfrm>
          <a:prstGeom prst="diamond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24" name="Google Shape;824;p73"/>
          <p:cNvSpPr txBox="1"/>
          <p:nvPr/>
        </p:nvSpPr>
        <p:spPr>
          <a:xfrm>
            <a:off x="5746046" y="4254326"/>
            <a:ext cx="298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25" name="Google Shape;825;p73"/>
          <p:cNvSpPr txBox="1"/>
          <p:nvPr/>
        </p:nvSpPr>
        <p:spPr>
          <a:xfrm>
            <a:off x="3460046" y="3873326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</a:t>
            </a: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826" name="Google Shape;826;p73"/>
          <p:cNvCxnSpPr>
            <a:stCxn id="823" idx="3"/>
            <a:endCxn id="821" idx="1"/>
          </p:cNvCxnSpPr>
          <p:nvPr/>
        </p:nvCxnSpPr>
        <p:spPr>
          <a:xfrm rot="10800000" flipH="1">
            <a:off x="5371572" y="4409772"/>
            <a:ext cx="1302300" cy="33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7" name="Google Shape;827;p73"/>
          <p:cNvCxnSpPr>
            <a:stCxn id="819" idx="2"/>
          </p:cNvCxnSpPr>
          <p:nvPr/>
        </p:nvCxnSpPr>
        <p:spPr>
          <a:xfrm>
            <a:off x="2986844" y="2875040"/>
            <a:ext cx="1311300" cy="1870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8" name="Google Shape;828;p73"/>
          <p:cNvCxnSpPr/>
          <p:nvPr/>
        </p:nvCxnSpPr>
        <p:spPr>
          <a:xfrm>
            <a:off x="3079046" y="2882726"/>
            <a:ext cx="1295400" cy="1828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29" name="Google Shape;829;p7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74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 panose="02020603050405020304"/>
              <a:buNone/>
            </a:pPr>
            <a:br>
              <a:rPr lang="en-US"/>
            </a:br>
            <a:r>
              <a:rPr lang="en-US"/>
              <a:t>Full Sample Solution</a:t>
            </a:r>
            <a:endParaRPr lang="en-US"/>
          </a:p>
        </p:txBody>
      </p:sp>
      <p:grpSp>
        <p:nvGrpSpPr>
          <p:cNvPr id="836" name="Google Shape;836;p74"/>
          <p:cNvGrpSpPr/>
          <p:nvPr/>
        </p:nvGrpSpPr>
        <p:grpSpPr>
          <a:xfrm>
            <a:off x="152400" y="1447800"/>
            <a:ext cx="8479434" cy="4398112"/>
            <a:chOff x="-114980" y="1214177"/>
            <a:chExt cx="9240409" cy="4398112"/>
          </a:xfrm>
        </p:grpSpPr>
        <p:cxnSp>
          <p:nvCxnSpPr>
            <p:cNvPr id="837" name="Google Shape;837;p74"/>
            <p:cNvCxnSpPr/>
            <p:nvPr/>
          </p:nvCxnSpPr>
          <p:spPr>
            <a:xfrm rot="10800000">
              <a:off x="1810229" y="2814377"/>
              <a:ext cx="0" cy="457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38" name="Google Shape;838;p74"/>
            <p:cNvSpPr/>
            <p:nvPr/>
          </p:nvSpPr>
          <p:spPr>
            <a:xfrm>
              <a:off x="1276829" y="2433377"/>
              <a:ext cx="1152128" cy="360040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9" name="Google Shape;839;p74"/>
            <p:cNvSpPr/>
            <p:nvPr/>
          </p:nvSpPr>
          <p:spPr>
            <a:xfrm>
              <a:off x="835315" y="1502886"/>
              <a:ext cx="785631" cy="472698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40" name="Google Shape;840;p74"/>
            <p:cNvSpPr txBox="1"/>
            <p:nvPr/>
          </p:nvSpPr>
          <p:spPr>
            <a:xfrm>
              <a:off x="1474383" y="2437359"/>
              <a:ext cx="7920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book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41" name="Google Shape;841;p74"/>
            <p:cNvSpPr txBox="1"/>
            <p:nvPr/>
          </p:nvSpPr>
          <p:spPr>
            <a:xfrm>
              <a:off x="972029" y="1530645"/>
              <a:ext cx="6480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title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cxnSp>
          <p:nvCxnSpPr>
            <p:cNvPr id="842" name="Google Shape;842;p74"/>
            <p:cNvCxnSpPr>
              <a:stCxn id="839" idx="4"/>
              <a:endCxn id="840" idx="0"/>
            </p:cNvCxnSpPr>
            <p:nvPr/>
          </p:nvCxnSpPr>
          <p:spPr>
            <a:xfrm>
              <a:off x="1228131" y="1975584"/>
              <a:ext cx="642300" cy="461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43" name="Google Shape;843;p74"/>
            <p:cNvCxnSpPr>
              <a:stCxn id="840" idx="0"/>
              <a:endCxn id="844" idx="4"/>
            </p:cNvCxnSpPr>
            <p:nvPr/>
          </p:nvCxnSpPr>
          <p:spPr>
            <a:xfrm rot="10800000" flipH="1">
              <a:off x="1870427" y="1884459"/>
              <a:ext cx="1412700" cy="552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45" name="Google Shape;845;p74"/>
            <p:cNvCxnSpPr>
              <a:stCxn id="846" idx="4"/>
              <a:endCxn id="840" idx="0"/>
            </p:cNvCxnSpPr>
            <p:nvPr/>
          </p:nvCxnSpPr>
          <p:spPr>
            <a:xfrm flipH="1">
              <a:off x="1870573" y="1884432"/>
              <a:ext cx="259500" cy="552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47" name="Google Shape;847;p74"/>
            <p:cNvCxnSpPr>
              <a:stCxn id="840" idx="0"/>
              <a:endCxn id="848" idx="4"/>
            </p:cNvCxnSpPr>
            <p:nvPr/>
          </p:nvCxnSpPr>
          <p:spPr>
            <a:xfrm rot="10800000" flipH="1">
              <a:off x="1870427" y="2372559"/>
              <a:ext cx="1704300" cy="64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849" name="Google Shape;849;p74"/>
            <p:cNvGrpSpPr/>
            <p:nvPr/>
          </p:nvGrpSpPr>
          <p:grpSpPr>
            <a:xfrm>
              <a:off x="1734029" y="1442777"/>
              <a:ext cx="2324472" cy="929898"/>
              <a:chOff x="1766765" y="1916668"/>
              <a:chExt cx="2324472" cy="929898"/>
            </a:xfrm>
          </p:grpSpPr>
          <p:sp>
            <p:nvSpPr>
              <p:cNvPr id="846" name="Google Shape;846;p74"/>
              <p:cNvSpPr/>
              <p:nvPr/>
            </p:nvSpPr>
            <p:spPr>
              <a:xfrm>
                <a:off x="1766765" y="1926275"/>
                <a:ext cx="792088" cy="432048"/>
              </a:xfrm>
              <a:prstGeom prst="ellipse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844" name="Google Shape;844;p74"/>
              <p:cNvSpPr/>
              <p:nvPr/>
            </p:nvSpPr>
            <p:spPr>
              <a:xfrm>
                <a:off x="2604965" y="1926275"/>
                <a:ext cx="1421586" cy="432048"/>
              </a:xfrm>
              <a:prstGeom prst="ellipse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850" name="Google Shape;850;p74"/>
              <p:cNvSpPr txBox="1"/>
              <p:nvPr/>
            </p:nvSpPr>
            <p:spPr>
              <a:xfrm>
                <a:off x="2641736" y="1928336"/>
                <a:ext cx="144305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availability</a:t>
                </a:r>
                <a:endParaRPr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851" name="Google Shape;851;p74"/>
              <p:cNvSpPr txBox="1"/>
              <p:nvPr/>
            </p:nvSpPr>
            <p:spPr>
              <a:xfrm>
                <a:off x="1828800" y="1916668"/>
                <a:ext cx="82822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price</a:t>
                </a:r>
                <a:endParaRPr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848" name="Google Shape;848;p74"/>
              <p:cNvSpPr/>
              <p:nvPr/>
            </p:nvSpPr>
            <p:spPr>
              <a:xfrm>
                <a:off x="3214565" y="2373868"/>
                <a:ext cx="785631" cy="472698"/>
              </a:xfrm>
              <a:prstGeom prst="ellipse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852" name="Google Shape;852;p74"/>
              <p:cNvSpPr txBox="1"/>
              <p:nvPr/>
            </p:nvSpPr>
            <p:spPr>
              <a:xfrm>
                <a:off x="3443165" y="2450068"/>
                <a:ext cx="64807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id</a:t>
                </a:r>
                <a:endParaRPr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cxnSp>
            <p:nvCxnSpPr>
              <p:cNvPr id="853" name="Google Shape;853;p74"/>
              <p:cNvCxnSpPr/>
              <p:nvPr/>
            </p:nvCxnSpPr>
            <p:spPr>
              <a:xfrm>
                <a:off x="3366965" y="2754868"/>
                <a:ext cx="482657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854" name="Google Shape;854;p74"/>
            <p:cNvSpPr/>
            <p:nvPr/>
          </p:nvSpPr>
          <p:spPr>
            <a:xfrm>
              <a:off x="4782029" y="2440526"/>
              <a:ext cx="1152128" cy="360040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5" name="Google Shape;855;p74"/>
            <p:cNvSpPr/>
            <p:nvPr/>
          </p:nvSpPr>
          <p:spPr>
            <a:xfrm>
              <a:off x="7852808" y="2670757"/>
              <a:ext cx="968303" cy="495674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6" name="Google Shape;856;p74"/>
            <p:cNvSpPr/>
            <p:nvPr/>
          </p:nvSpPr>
          <p:spPr>
            <a:xfrm>
              <a:off x="7852809" y="1979276"/>
              <a:ext cx="785631" cy="472698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7" name="Google Shape;857;p74"/>
            <p:cNvSpPr/>
            <p:nvPr/>
          </p:nvSpPr>
          <p:spPr>
            <a:xfrm>
              <a:off x="6414234" y="1218174"/>
              <a:ext cx="1162577" cy="472698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8" name="Google Shape;858;p74"/>
            <p:cNvSpPr/>
            <p:nvPr/>
          </p:nvSpPr>
          <p:spPr>
            <a:xfrm>
              <a:off x="6494017" y="2216388"/>
              <a:ext cx="1150543" cy="529027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9" name="Google Shape;859;p74"/>
            <p:cNvSpPr/>
            <p:nvPr/>
          </p:nvSpPr>
          <p:spPr>
            <a:xfrm>
              <a:off x="5404736" y="1214177"/>
              <a:ext cx="901293" cy="472698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0" name="Google Shape;860;p74"/>
            <p:cNvSpPr txBox="1"/>
            <p:nvPr/>
          </p:nvSpPr>
          <p:spPr>
            <a:xfrm>
              <a:off x="4466789" y="1282706"/>
              <a:ext cx="6480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id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1" name="Google Shape;861;p74"/>
            <p:cNvSpPr txBox="1"/>
            <p:nvPr/>
          </p:nvSpPr>
          <p:spPr>
            <a:xfrm>
              <a:off x="5478129" y="1269857"/>
              <a:ext cx="8279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name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2" name="Google Shape;862;p74"/>
            <p:cNvSpPr txBox="1"/>
            <p:nvPr/>
          </p:nvSpPr>
          <p:spPr>
            <a:xfrm>
              <a:off x="6487627" y="1265860"/>
              <a:ext cx="1089183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number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3" name="Google Shape;863;p74"/>
            <p:cNvSpPr txBox="1"/>
            <p:nvPr/>
          </p:nvSpPr>
          <p:spPr>
            <a:xfrm>
              <a:off x="6487628" y="2267308"/>
              <a:ext cx="12030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address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4" name="Google Shape;864;p74"/>
            <p:cNvSpPr txBox="1"/>
            <p:nvPr/>
          </p:nvSpPr>
          <p:spPr>
            <a:xfrm>
              <a:off x="7887414" y="2050376"/>
              <a:ext cx="10817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street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5" name="Google Shape;865;p74"/>
            <p:cNvSpPr txBox="1"/>
            <p:nvPr/>
          </p:nvSpPr>
          <p:spPr>
            <a:xfrm>
              <a:off x="7829127" y="2758170"/>
              <a:ext cx="10817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suburb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6" name="Google Shape;866;p74"/>
            <p:cNvSpPr txBox="1"/>
            <p:nvPr/>
          </p:nvSpPr>
          <p:spPr>
            <a:xfrm>
              <a:off x="4863854" y="2419708"/>
              <a:ext cx="10817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reader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cxnSp>
          <p:nvCxnSpPr>
            <p:cNvPr id="867" name="Google Shape;867;p74"/>
            <p:cNvCxnSpPr>
              <a:endCxn id="857" idx="4"/>
            </p:cNvCxnSpPr>
            <p:nvPr/>
          </p:nvCxnSpPr>
          <p:spPr>
            <a:xfrm rot="10800000" flipH="1">
              <a:off x="5358123" y="1690872"/>
              <a:ext cx="1637400" cy="709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68" name="Google Shape;868;p74"/>
            <p:cNvCxnSpPr>
              <a:endCxn id="854" idx="0"/>
            </p:cNvCxnSpPr>
            <p:nvPr/>
          </p:nvCxnSpPr>
          <p:spPr>
            <a:xfrm flipH="1">
              <a:off x="5358093" y="1684826"/>
              <a:ext cx="442800" cy="755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69" name="Google Shape;869;p74"/>
            <p:cNvCxnSpPr>
              <a:endCxn id="866" idx="0"/>
            </p:cNvCxnSpPr>
            <p:nvPr/>
          </p:nvCxnSpPr>
          <p:spPr>
            <a:xfrm>
              <a:off x="4712036" y="1781308"/>
              <a:ext cx="692700" cy="638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70" name="Google Shape;870;p74"/>
            <p:cNvCxnSpPr>
              <a:stCxn id="854" idx="3"/>
              <a:endCxn id="858" idx="2"/>
            </p:cNvCxnSpPr>
            <p:nvPr/>
          </p:nvCxnSpPr>
          <p:spPr>
            <a:xfrm rot="10800000" flipH="1">
              <a:off x="5934157" y="2481046"/>
              <a:ext cx="559800" cy="139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71" name="Google Shape;871;p74"/>
            <p:cNvCxnSpPr>
              <a:stCxn id="865" idx="1"/>
              <a:endCxn id="858" idx="6"/>
            </p:cNvCxnSpPr>
            <p:nvPr/>
          </p:nvCxnSpPr>
          <p:spPr>
            <a:xfrm rot="10800000">
              <a:off x="7644627" y="2480836"/>
              <a:ext cx="184500" cy="462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72" name="Google Shape;872;p74"/>
            <p:cNvCxnSpPr>
              <a:stCxn id="858" idx="6"/>
              <a:endCxn id="856" idx="2"/>
            </p:cNvCxnSpPr>
            <p:nvPr/>
          </p:nvCxnSpPr>
          <p:spPr>
            <a:xfrm rot="10800000" flipH="1">
              <a:off x="7644560" y="2215702"/>
              <a:ext cx="208200" cy="265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73" name="Google Shape;873;p74"/>
            <p:cNvCxnSpPr/>
            <p:nvPr/>
          </p:nvCxnSpPr>
          <p:spPr>
            <a:xfrm>
              <a:off x="4470695" y="1684940"/>
              <a:ext cx="482657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74" name="Google Shape;874;p74"/>
            <p:cNvSpPr/>
            <p:nvPr/>
          </p:nvSpPr>
          <p:spPr>
            <a:xfrm>
              <a:off x="4248629" y="1290377"/>
              <a:ext cx="901293" cy="472698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5" name="Google Shape;875;p74"/>
            <p:cNvSpPr/>
            <p:nvPr/>
          </p:nvSpPr>
          <p:spPr>
            <a:xfrm>
              <a:off x="1180911" y="4323415"/>
              <a:ext cx="1284071" cy="360040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6" name="Google Shape;876;p74"/>
            <p:cNvSpPr txBox="1"/>
            <p:nvPr/>
          </p:nvSpPr>
          <p:spPr>
            <a:xfrm>
              <a:off x="1276829" y="4338377"/>
              <a:ext cx="13700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publisher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7" name="Google Shape;877;p74"/>
            <p:cNvSpPr txBox="1"/>
            <p:nvPr/>
          </p:nvSpPr>
          <p:spPr>
            <a:xfrm>
              <a:off x="1085957" y="5164084"/>
              <a:ext cx="6480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id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8" name="Google Shape;878;p74"/>
            <p:cNvSpPr/>
            <p:nvPr/>
          </p:nvSpPr>
          <p:spPr>
            <a:xfrm>
              <a:off x="1914407" y="5044214"/>
              <a:ext cx="785631" cy="472698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9" name="Google Shape;879;p74"/>
            <p:cNvSpPr txBox="1"/>
            <p:nvPr/>
          </p:nvSpPr>
          <p:spPr>
            <a:xfrm>
              <a:off x="1927459" y="5095897"/>
              <a:ext cx="9154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name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cxnSp>
          <p:nvCxnSpPr>
            <p:cNvPr id="880" name="Google Shape;880;p74"/>
            <p:cNvCxnSpPr>
              <a:stCxn id="875" idx="2"/>
              <a:endCxn id="878" idx="0"/>
            </p:cNvCxnSpPr>
            <p:nvPr/>
          </p:nvCxnSpPr>
          <p:spPr>
            <a:xfrm>
              <a:off x="1822947" y="4683455"/>
              <a:ext cx="484200" cy="360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81" name="Google Shape;881;p74"/>
            <p:cNvCxnSpPr>
              <a:stCxn id="875" idx="2"/>
              <a:endCxn id="882" idx="0"/>
            </p:cNvCxnSpPr>
            <p:nvPr/>
          </p:nvCxnSpPr>
          <p:spPr>
            <a:xfrm flipH="1">
              <a:off x="1318047" y="4683455"/>
              <a:ext cx="504900" cy="438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82" name="Google Shape;882;p74"/>
            <p:cNvSpPr/>
            <p:nvPr/>
          </p:nvSpPr>
          <p:spPr>
            <a:xfrm>
              <a:off x="925173" y="5121740"/>
              <a:ext cx="785631" cy="472698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cxnSp>
          <p:nvCxnSpPr>
            <p:cNvPr id="883" name="Google Shape;883;p74"/>
            <p:cNvCxnSpPr/>
            <p:nvPr/>
          </p:nvCxnSpPr>
          <p:spPr>
            <a:xfrm>
              <a:off x="1056573" y="5465229"/>
              <a:ext cx="482657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84" name="Google Shape;884;p74"/>
            <p:cNvSpPr/>
            <p:nvPr/>
          </p:nvSpPr>
          <p:spPr>
            <a:xfrm>
              <a:off x="5557557" y="4138551"/>
              <a:ext cx="1152128" cy="360040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5" name="Google Shape;885;p74"/>
            <p:cNvSpPr/>
            <p:nvPr/>
          </p:nvSpPr>
          <p:spPr>
            <a:xfrm>
              <a:off x="4871273" y="5079634"/>
              <a:ext cx="785631" cy="472698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6" name="Google Shape;886;p74"/>
            <p:cNvSpPr txBox="1"/>
            <p:nvPr/>
          </p:nvSpPr>
          <p:spPr>
            <a:xfrm>
              <a:off x="5557557" y="4156865"/>
              <a:ext cx="11172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author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7" name="Google Shape;887;p74"/>
            <p:cNvSpPr/>
            <p:nvPr/>
          </p:nvSpPr>
          <p:spPr>
            <a:xfrm>
              <a:off x="5747013" y="5131317"/>
              <a:ext cx="785631" cy="472698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8" name="Google Shape;888;p74"/>
            <p:cNvSpPr txBox="1"/>
            <p:nvPr/>
          </p:nvSpPr>
          <p:spPr>
            <a:xfrm>
              <a:off x="5760066" y="5183000"/>
              <a:ext cx="8638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name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9" name="Google Shape;889;p74"/>
            <p:cNvSpPr/>
            <p:nvPr/>
          </p:nvSpPr>
          <p:spPr>
            <a:xfrm>
              <a:off x="6568699" y="5139591"/>
              <a:ext cx="1108931" cy="472698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90" name="Google Shape;890;p74"/>
            <p:cNvSpPr txBox="1"/>
            <p:nvPr/>
          </p:nvSpPr>
          <p:spPr>
            <a:xfrm>
              <a:off x="6642093" y="5187277"/>
              <a:ext cx="10485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number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91" name="Google Shape;891;p74"/>
            <p:cNvSpPr/>
            <p:nvPr/>
          </p:nvSpPr>
          <p:spPr>
            <a:xfrm>
              <a:off x="7677629" y="5124894"/>
              <a:ext cx="1139743" cy="472698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92" name="Google Shape;892;p74"/>
            <p:cNvSpPr txBox="1"/>
            <p:nvPr/>
          </p:nvSpPr>
          <p:spPr>
            <a:xfrm>
              <a:off x="7677629" y="5176577"/>
              <a:ext cx="11397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birthday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cxnSp>
          <p:nvCxnSpPr>
            <p:cNvPr id="893" name="Google Shape;893;p74"/>
            <p:cNvCxnSpPr>
              <a:stCxn id="885" idx="0"/>
              <a:endCxn id="884" idx="2"/>
            </p:cNvCxnSpPr>
            <p:nvPr/>
          </p:nvCxnSpPr>
          <p:spPr>
            <a:xfrm rot="10800000" flipH="1">
              <a:off x="5264089" y="4498534"/>
              <a:ext cx="869400" cy="581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94" name="Google Shape;894;p74"/>
            <p:cNvCxnSpPr>
              <a:stCxn id="887" idx="0"/>
              <a:endCxn id="886" idx="2"/>
            </p:cNvCxnSpPr>
            <p:nvPr/>
          </p:nvCxnSpPr>
          <p:spPr>
            <a:xfrm rot="10800000">
              <a:off x="6116129" y="4526217"/>
              <a:ext cx="23700" cy="605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95" name="Google Shape;895;p74"/>
            <p:cNvCxnSpPr>
              <a:stCxn id="889" idx="0"/>
              <a:endCxn id="884" idx="2"/>
            </p:cNvCxnSpPr>
            <p:nvPr/>
          </p:nvCxnSpPr>
          <p:spPr>
            <a:xfrm rot="10800000">
              <a:off x="6133765" y="4498491"/>
              <a:ext cx="989400" cy="641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96" name="Google Shape;896;p74"/>
            <p:cNvCxnSpPr>
              <a:stCxn id="891" idx="0"/>
              <a:endCxn id="884" idx="2"/>
            </p:cNvCxnSpPr>
            <p:nvPr/>
          </p:nvCxnSpPr>
          <p:spPr>
            <a:xfrm rot="10800000">
              <a:off x="6133701" y="4498494"/>
              <a:ext cx="2113800" cy="626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97" name="Google Shape;897;p74"/>
            <p:cNvSpPr txBox="1"/>
            <p:nvPr/>
          </p:nvSpPr>
          <p:spPr>
            <a:xfrm>
              <a:off x="5061401" y="5091302"/>
              <a:ext cx="6480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id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cxnSp>
          <p:nvCxnSpPr>
            <p:cNvPr id="898" name="Google Shape;898;p74"/>
            <p:cNvCxnSpPr/>
            <p:nvPr/>
          </p:nvCxnSpPr>
          <p:spPr>
            <a:xfrm>
              <a:off x="5004990" y="5384434"/>
              <a:ext cx="482657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99" name="Google Shape;899;p74"/>
            <p:cNvCxnSpPr>
              <a:stCxn id="838" idx="3"/>
              <a:endCxn id="900" idx="1"/>
            </p:cNvCxnSpPr>
            <p:nvPr/>
          </p:nvCxnSpPr>
          <p:spPr>
            <a:xfrm>
              <a:off x="2428957" y="2613397"/>
              <a:ext cx="753000" cy="83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01" name="Google Shape;901;p74"/>
            <p:cNvCxnSpPr>
              <a:stCxn id="900" idx="3"/>
              <a:endCxn id="854" idx="1"/>
            </p:cNvCxnSpPr>
            <p:nvPr/>
          </p:nvCxnSpPr>
          <p:spPr>
            <a:xfrm rot="10800000" flipH="1">
              <a:off x="4255155" y="2620469"/>
              <a:ext cx="526800" cy="75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902" name="Google Shape;902;p74"/>
            <p:cNvSpPr txBox="1"/>
            <p:nvPr/>
          </p:nvSpPr>
          <p:spPr>
            <a:xfrm>
              <a:off x="2601439" y="2614000"/>
              <a:ext cx="3151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3" name="Google Shape;903;p74"/>
            <p:cNvSpPr txBox="1"/>
            <p:nvPr/>
          </p:nvSpPr>
          <p:spPr>
            <a:xfrm>
              <a:off x="4367394" y="2230640"/>
              <a:ext cx="28666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m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4" name="Google Shape;904;p74"/>
            <p:cNvSpPr/>
            <p:nvPr/>
          </p:nvSpPr>
          <p:spPr>
            <a:xfrm>
              <a:off x="2496029" y="3296094"/>
              <a:ext cx="1478846" cy="472698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5" name="Google Shape;905;p74"/>
            <p:cNvSpPr txBox="1"/>
            <p:nvPr/>
          </p:nvSpPr>
          <p:spPr>
            <a:xfrm>
              <a:off x="2496029" y="3347777"/>
              <a:ext cx="212691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starting date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6" name="Google Shape;906;p74"/>
            <p:cNvSpPr/>
            <p:nvPr/>
          </p:nvSpPr>
          <p:spPr>
            <a:xfrm>
              <a:off x="4202123" y="3296094"/>
              <a:ext cx="1478846" cy="472698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cxnSp>
          <p:nvCxnSpPr>
            <p:cNvPr id="907" name="Google Shape;907;p74"/>
            <p:cNvCxnSpPr>
              <a:stCxn id="900" idx="2"/>
              <a:endCxn id="904" idx="0"/>
            </p:cNvCxnSpPr>
            <p:nvPr/>
          </p:nvCxnSpPr>
          <p:spPr>
            <a:xfrm flipH="1">
              <a:off x="3235492" y="3035561"/>
              <a:ext cx="483000" cy="260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08" name="Google Shape;908;p74"/>
            <p:cNvCxnSpPr>
              <a:stCxn id="900" idx="2"/>
              <a:endCxn id="906" idx="0"/>
            </p:cNvCxnSpPr>
            <p:nvPr/>
          </p:nvCxnSpPr>
          <p:spPr>
            <a:xfrm>
              <a:off x="3718492" y="3035561"/>
              <a:ext cx="1223100" cy="260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909" name="Google Shape;909;p74"/>
            <p:cNvSpPr txBox="1"/>
            <p:nvPr/>
          </p:nvSpPr>
          <p:spPr>
            <a:xfrm>
              <a:off x="3258029" y="2509577"/>
              <a:ext cx="9653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borrow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0" name="Google Shape;900;p74"/>
            <p:cNvSpPr/>
            <p:nvPr/>
          </p:nvSpPr>
          <p:spPr>
            <a:xfrm>
              <a:off x="3181829" y="2357177"/>
              <a:ext cx="1073326" cy="678384"/>
            </a:xfrm>
            <a:prstGeom prst="diamond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0" name="Google Shape;910;p74"/>
            <p:cNvSpPr txBox="1"/>
            <p:nvPr/>
          </p:nvSpPr>
          <p:spPr>
            <a:xfrm>
              <a:off x="4248629" y="3347777"/>
              <a:ext cx="15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ending date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1" name="Google Shape;911;p74"/>
            <p:cNvSpPr txBox="1"/>
            <p:nvPr/>
          </p:nvSpPr>
          <p:spPr>
            <a:xfrm>
              <a:off x="1276829" y="3423977"/>
              <a:ext cx="107332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publish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cxnSp>
          <p:nvCxnSpPr>
            <p:cNvPr id="912" name="Google Shape;912;p74"/>
            <p:cNvCxnSpPr/>
            <p:nvPr/>
          </p:nvCxnSpPr>
          <p:spPr>
            <a:xfrm rot="10800000">
              <a:off x="1734029" y="2814377"/>
              <a:ext cx="0" cy="457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13" name="Google Shape;913;p74"/>
            <p:cNvCxnSpPr>
              <a:stCxn id="914" idx="2"/>
              <a:endCxn id="875" idx="0"/>
            </p:cNvCxnSpPr>
            <p:nvPr/>
          </p:nvCxnSpPr>
          <p:spPr>
            <a:xfrm>
              <a:off x="1756975" y="3949961"/>
              <a:ext cx="66000" cy="37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915" name="Google Shape;915;p74"/>
            <p:cNvSpPr/>
            <p:nvPr/>
          </p:nvSpPr>
          <p:spPr>
            <a:xfrm>
              <a:off x="-114980" y="2910057"/>
              <a:ext cx="1651456" cy="529418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6" name="Google Shape;916;p74"/>
            <p:cNvSpPr txBox="1"/>
            <p:nvPr/>
          </p:nvSpPr>
          <p:spPr>
            <a:xfrm>
              <a:off x="-2742" y="2966777"/>
              <a:ext cx="158437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publish date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cxnSp>
          <p:nvCxnSpPr>
            <p:cNvPr id="917" name="Google Shape;917;p74"/>
            <p:cNvCxnSpPr>
              <a:stCxn id="915" idx="4"/>
              <a:endCxn id="914" idx="1"/>
            </p:cNvCxnSpPr>
            <p:nvPr/>
          </p:nvCxnSpPr>
          <p:spPr>
            <a:xfrm>
              <a:off x="710748" y="3439475"/>
              <a:ext cx="509700" cy="171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918" name="Google Shape;918;p74"/>
            <p:cNvSpPr txBox="1"/>
            <p:nvPr/>
          </p:nvSpPr>
          <p:spPr>
            <a:xfrm>
              <a:off x="1505429" y="2814377"/>
              <a:ext cx="304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9" name="Google Shape;919;p74"/>
            <p:cNvSpPr txBox="1"/>
            <p:nvPr/>
          </p:nvSpPr>
          <p:spPr>
            <a:xfrm>
              <a:off x="1505429" y="3957377"/>
              <a:ext cx="304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4" name="Google Shape;914;p74"/>
            <p:cNvSpPr/>
            <p:nvPr/>
          </p:nvSpPr>
          <p:spPr>
            <a:xfrm>
              <a:off x="1220312" y="3271577"/>
              <a:ext cx="1073326" cy="678384"/>
            </a:xfrm>
            <a:prstGeom prst="diamond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0" name="Google Shape;920;p74"/>
            <p:cNvSpPr txBox="1"/>
            <p:nvPr/>
          </p:nvSpPr>
          <p:spPr>
            <a:xfrm>
              <a:off x="3334229" y="4490777"/>
              <a:ext cx="9653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write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1" name="Google Shape;921;p74"/>
            <p:cNvSpPr/>
            <p:nvPr/>
          </p:nvSpPr>
          <p:spPr>
            <a:xfrm>
              <a:off x="3181829" y="4341531"/>
              <a:ext cx="1073326" cy="678384"/>
            </a:xfrm>
            <a:prstGeom prst="diamond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2" name="Google Shape;922;p74"/>
            <p:cNvSpPr txBox="1"/>
            <p:nvPr/>
          </p:nvSpPr>
          <p:spPr>
            <a:xfrm>
              <a:off x="4629629" y="4185977"/>
              <a:ext cx="29887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3" name="Google Shape;923;p74"/>
            <p:cNvSpPr txBox="1"/>
            <p:nvPr/>
          </p:nvSpPr>
          <p:spPr>
            <a:xfrm>
              <a:off x="2343629" y="3804977"/>
              <a:ext cx="381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m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cxnSp>
          <p:nvCxnSpPr>
            <p:cNvPr id="924" name="Google Shape;924;p74"/>
            <p:cNvCxnSpPr>
              <a:stCxn id="921" idx="3"/>
              <a:endCxn id="886" idx="1"/>
            </p:cNvCxnSpPr>
            <p:nvPr/>
          </p:nvCxnSpPr>
          <p:spPr>
            <a:xfrm rot="10800000" flipH="1">
              <a:off x="4255155" y="4341423"/>
              <a:ext cx="1302300" cy="339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925" name="Google Shape;925;p74"/>
            <p:cNvSpPr txBox="1"/>
            <p:nvPr/>
          </p:nvSpPr>
          <p:spPr>
            <a:xfrm>
              <a:off x="7608091" y="1295400"/>
              <a:ext cx="15173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cxnSp>
          <p:nvCxnSpPr>
            <p:cNvPr id="926" name="Google Shape;926;p74"/>
            <p:cNvCxnSpPr>
              <a:stCxn id="840" idx="2"/>
            </p:cNvCxnSpPr>
            <p:nvPr/>
          </p:nvCxnSpPr>
          <p:spPr>
            <a:xfrm>
              <a:off x="1870427" y="2806691"/>
              <a:ext cx="1311300" cy="1870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27" name="Google Shape;927;p74"/>
            <p:cNvCxnSpPr/>
            <p:nvPr/>
          </p:nvCxnSpPr>
          <p:spPr>
            <a:xfrm>
              <a:off x="1962629" y="2814377"/>
              <a:ext cx="1295400" cy="1828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28" name="Google Shape;928;p7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75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Summary</a:t>
            </a:r>
            <a:endParaRPr lang="en-US"/>
          </a:p>
        </p:txBody>
      </p:sp>
      <p:sp>
        <p:nvSpPr>
          <p:cNvPr id="935" name="Google Shape;935;p75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A high level process that converts applications into a data model</a:t>
            </a:r>
            <a:endParaRPr lang="en-US"/>
          </a:p>
          <a:p>
            <a:pPr marL="342900" lvl="0" indent="-3429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Times New Roman" panose="02020603050405020304"/>
              <a:buAutoNum type="arabicPeriod"/>
            </a:pPr>
            <a:r>
              <a:rPr lang="en-US"/>
              <a:t>describe the information in a way that is suitable for database implementation (e.g., entities: students, courses, accounts, branches, patients, ...)</a:t>
            </a:r>
            <a:endParaRPr lang="en-US"/>
          </a:p>
          <a:p>
            <a:pPr marL="342900" lvl="0" indent="-3429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Times New Roman" panose="02020603050405020304"/>
              <a:buAutoNum type="arabicPeriod"/>
            </a:pPr>
            <a:r>
              <a:rPr lang="en-US"/>
              <a:t>describe how information is related (e.g., John is enrolled in COMP3311, Andrew's account is held at Comm Bank)</a:t>
            </a: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lang="en-US"/>
          </a:p>
        </p:txBody>
      </p:sp>
      <p:sp>
        <p:nvSpPr>
          <p:cNvPr id="936" name="Google Shape;936;p7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6"/>
          <p:cNvSpPr txBox="1">
            <a:spLocks noGrp="1"/>
          </p:cNvSpPr>
          <p:nvPr>
            <p:ph type="title"/>
          </p:nvPr>
        </p:nvSpPr>
        <p:spPr>
          <a:xfrm>
            <a:off x="822960" y="210404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 panose="02020603050405020304"/>
              <a:buNone/>
            </a:pPr>
            <a:r>
              <a:rPr lang="en-US"/>
              <a:t>Learning Outcome: </a:t>
            </a:r>
            <a:endParaRPr lang="en-US"/>
          </a:p>
        </p:txBody>
      </p:sp>
      <p:sp>
        <p:nvSpPr>
          <p:cNvPr id="942" name="Google Shape;942;p76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7543801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 panose="02020603050405020304"/>
              <a:buAutoNum type="arabicPeriod"/>
            </a:pPr>
            <a:r>
              <a:rPr lang="en-US"/>
              <a:t>Given application requirements, how to ER-diagram to accurately reflect the application (and all the specific requirements).</a:t>
            </a:r>
            <a:endParaRPr lang="en-US"/>
          </a:p>
          <a:p>
            <a:pPr marL="342900" lvl="0" indent="-3429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Times New Roman" panose="02020603050405020304"/>
              <a:buAutoNum type="arabicPeriod"/>
            </a:pPr>
            <a:r>
              <a:rPr lang="en-US"/>
              <a:t>Understand ER model as a solution for expressing any application requirement.</a:t>
            </a:r>
            <a:endParaRPr lang="en-US"/>
          </a:p>
          <a:p>
            <a:pPr marL="342900" lvl="0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Times New Roman" panose="02020603050405020304"/>
              <a:buNone/>
            </a:pPr>
            <a:endParaRPr lang="en-US"/>
          </a:p>
          <a:p>
            <a:pPr marL="91440" lvl="0" indent="-1143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Arial" panose="020B0604020202020204"/>
              <a:buChar char=" "/>
            </a:pPr>
            <a:r>
              <a:rPr lang="en-US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NOTE: You must use the notation in the lecture for this course.</a:t>
            </a:r>
            <a:endParaRPr b="1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b="1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43" name="Google Shape;943;p7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05854290-c1c6-45f6-9456-bec484ec5889"/>
  <p:tag name="COMMONDATA" val="eyJoZGlkIjoiZTU5MzY2MmExMmNiM2ZkOWRmNDA0YWE2NzkxNzMxY2YifQ=="/>
</p:tagLst>
</file>

<file path=ppt/theme/theme1.xml><?xml version="1.0" encoding="utf-8"?>
<a:theme xmlns:a="http://schemas.openxmlformats.org/drawingml/2006/main" name="回顾">
  <a:themeElements>
    <a:clrScheme name="红橙色">
      <a:dk1>
        <a:srgbClr val="000000"/>
      </a:dk1>
      <a:lt1>
        <a:srgbClr val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19598</Words>
  <Application>WPS 演示</Application>
  <PresentationFormat>全屏显示(4:3)</PresentationFormat>
  <Paragraphs>907</Paragraphs>
  <Slides>70</Slides>
  <Notes>70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87" baseType="lpstr">
      <vt:lpstr>Arial</vt:lpstr>
      <vt:lpstr>宋体</vt:lpstr>
      <vt:lpstr>Wingdings</vt:lpstr>
      <vt:lpstr>Arial</vt:lpstr>
      <vt:lpstr>Times New Roman</vt:lpstr>
      <vt:lpstr>Calibri</vt:lpstr>
      <vt:lpstr>Courier New</vt:lpstr>
      <vt:lpstr>微软雅黑</vt:lpstr>
      <vt:lpstr>Arial Unicode MS</vt:lpstr>
      <vt:lpstr>Noto Sans Symbols</vt:lpstr>
      <vt:lpstr>Segoe Print</vt:lpstr>
      <vt:lpstr>Calibri</vt:lpstr>
      <vt:lpstr>Courier New</vt:lpstr>
      <vt:lpstr>Noto Sans Symbols</vt:lpstr>
      <vt:lpstr>Times New Roman</vt:lpstr>
      <vt:lpstr>Saturday Sans Regular</vt:lpstr>
      <vt:lpstr>回顾</vt:lpstr>
      <vt:lpstr>Conceptual  Database Design</vt:lpstr>
      <vt:lpstr>Data Modelling</vt:lpstr>
      <vt:lpstr>Recall the Following Stages </vt:lpstr>
      <vt:lpstr>Scenario </vt:lpstr>
      <vt:lpstr>The Application</vt:lpstr>
      <vt:lpstr>Simplified Database Workflow</vt:lpstr>
      <vt:lpstr>Simplified Database Workflow</vt:lpstr>
      <vt:lpstr>Solution</vt:lpstr>
      <vt:lpstr>Solution</vt:lpstr>
      <vt:lpstr>Entity-Relationship Model</vt:lpstr>
      <vt:lpstr>ER Diagrams</vt:lpstr>
      <vt:lpstr>Entity</vt:lpstr>
      <vt:lpstr>Entities</vt:lpstr>
      <vt:lpstr>Simple Attributes</vt:lpstr>
      <vt:lpstr>Multi-Valued Attributes</vt:lpstr>
      <vt:lpstr>Problem</vt:lpstr>
      <vt:lpstr>Composite Attributes </vt:lpstr>
      <vt:lpstr>Question:</vt:lpstr>
      <vt:lpstr>Question:</vt:lpstr>
      <vt:lpstr>Question:</vt:lpstr>
      <vt:lpstr>Question:</vt:lpstr>
      <vt:lpstr>Derived Attributes</vt:lpstr>
      <vt:lpstr>Derived Attributes</vt:lpstr>
      <vt:lpstr>Entity Type</vt:lpstr>
      <vt:lpstr>Entity Type Example</vt:lpstr>
      <vt:lpstr>Take away</vt:lpstr>
      <vt:lpstr>Entity Instances/Facts</vt:lpstr>
      <vt:lpstr>NULL Value</vt:lpstr>
      <vt:lpstr>Keys</vt:lpstr>
      <vt:lpstr>Key</vt:lpstr>
      <vt:lpstr>Key</vt:lpstr>
      <vt:lpstr>Key Summary</vt:lpstr>
      <vt:lpstr>Weak Entity</vt:lpstr>
      <vt:lpstr>Weak Entity</vt:lpstr>
      <vt:lpstr>Example</vt:lpstr>
      <vt:lpstr>Visualizing an ER Data Model</vt:lpstr>
      <vt:lpstr>Visualizing an ER Data Model</vt:lpstr>
      <vt:lpstr>Relationship</vt:lpstr>
      <vt:lpstr>Relationships</vt:lpstr>
      <vt:lpstr>Practice</vt:lpstr>
      <vt:lpstr>Practice</vt:lpstr>
      <vt:lpstr>Practice</vt:lpstr>
      <vt:lpstr>Modelling relationships</vt:lpstr>
      <vt:lpstr>Modelling relationships</vt:lpstr>
      <vt:lpstr>Constraints on relationship types(cont)</vt:lpstr>
      <vt:lpstr>Participation Constraint on Relationships</vt:lpstr>
      <vt:lpstr>Participation Constraint on Relationships</vt:lpstr>
      <vt:lpstr>Attributes (Relationship)</vt:lpstr>
      <vt:lpstr>More on Relationships</vt:lpstr>
      <vt:lpstr>More on Relationships</vt:lpstr>
      <vt:lpstr>More on Relationships</vt:lpstr>
      <vt:lpstr>On the Degree of a Relationship: </vt:lpstr>
      <vt:lpstr>Backtrack: ENROLMENT</vt:lpstr>
      <vt:lpstr>Conceptual Data Modelling</vt:lpstr>
      <vt:lpstr>The Best Data Mode?</vt:lpstr>
      <vt:lpstr>That’s the Entity Relation Model</vt:lpstr>
      <vt:lpstr>ERD Notations</vt:lpstr>
      <vt:lpstr>Final Exercise: A Library Database</vt:lpstr>
      <vt:lpstr>Final Exercise: A Library Database </vt:lpstr>
      <vt:lpstr>Exercise </vt:lpstr>
      <vt:lpstr>Exercise (1/7)</vt:lpstr>
      <vt:lpstr>Exercise (2/7)</vt:lpstr>
      <vt:lpstr>Exercise (3/7)</vt:lpstr>
      <vt:lpstr>Exercise (4/7)</vt:lpstr>
      <vt:lpstr>Exercise (5/7)</vt:lpstr>
      <vt:lpstr>Exercise (6/7)</vt:lpstr>
      <vt:lpstr>Exercise (7/7)</vt:lpstr>
      <vt:lpstr> Full Sample Solution</vt:lpstr>
      <vt:lpstr>Summary</vt:lpstr>
      <vt:lpstr>Learning Outcome: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Conceptual  Database Design</dc:title>
  <dc:creator/>
  <cp:lastModifiedBy>林学民</cp:lastModifiedBy>
  <cp:revision>5</cp:revision>
  <dcterms:created xsi:type="dcterms:W3CDTF">2023-09-11T12:05:00Z</dcterms:created>
  <dcterms:modified xsi:type="dcterms:W3CDTF">2026-02-28T14:42:25Z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E35E426A3A0F4E208C2715FCBB764973_13</vt:lpwstr>
  </property>
  <property fmtid="{D5CDD505-2E9C-101B-9397-08002B2CF9AE}" pid="3" name="KSOProductBuildVer">
    <vt:lpwstr>2052-12.1.0.24657</vt:lpwstr>
  </property>
</Properties>
</file>